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76" r:id="rId7"/>
    <p:sldId id="275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6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994297" name="Текст 2">
            <a:extLst>
              <a:ext uri="{FF2B5EF4-FFF2-40B4-BE49-F238E27FC236}">
                <a16:creationId xmlns:a16="http://schemas.microsoft.com/office/drawing/2014/main" id="{F20A4683-D1C4-49DA-8A1E-4D7AF2E57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endParaRPr/>
          </a:p>
        </p:txBody>
      </p:sp>
      <p:sp>
        <p:nvSpPr>
          <p:cNvPr id="1151694861" name="Текст 4">
            <a:extLst>
              <a:ext uri="{FF2B5EF4-FFF2-40B4-BE49-F238E27FC236}">
                <a16:creationId xmlns:a16="http://schemas.microsoft.com/office/drawing/2014/main" id="{1B9A1C9C-B84D-4FE5-9E51-DC74191E3EB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endParaRPr/>
          </a:p>
        </p:txBody>
      </p:sp>
      <p:sp>
        <p:nvSpPr>
          <p:cNvPr id="1367013916" name="Дата 3">
            <a:extLst>
              <a:ext uri="{FF2B5EF4-FFF2-40B4-BE49-F238E27FC236}">
                <a16:creationId xmlns:a16="http://schemas.microsoft.com/office/drawing/2014/main" id="{1238C9ED-B4A1-43AB-A27F-0022F6C48AB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09897880" name="Нижний колонтитул 4">
            <a:extLst>
              <a:ext uri="{FF2B5EF4-FFF2-40B4-BE49-F238E27FC236}">
                <a16:creationId xmlns:a16="http://schemas.microsoft.com/office/drawing/2014/main" id="{1C5CF71B-F811-4B32-B79C-C09A199A745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31381963" name="Номер слайда 5">
            <a:extLst>
              <a:ext uri="{FF2B5EF4-FFF2-40B4-BE49-F238E27FC236}">
                <a16:creationId xmlns:a16="http://schemas.microsoft.com/office/drawing/2014/main" id="{DD6A9D8E-4FBA-47C3-AB40-886C80BB05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89865248" name="Заголовок 1">
            <a:extLst>
              <a:ext uri="{FF2B5EF4-FFF2-40B4-BE49-F238E27FC236}">
                <a16:creationId xmlns:a16="http://schemas.microsoft.com/office/drawing/2014/main" id="{A93F623F-6192-4A48-B587-8B9DBCE3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8919" name="Дата 3">
            <a:extLst>
              <a:ext uri="{FF2B5EF4-FFF2-40B4-BE49-F238E27FC236}">
                <a16:creationId xmlns:a16="http://schemas.microsoft.com/office/drawing/2014/main" id="{E26A31B1-604E-49BC-A4FC-28B77496246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82230054" name="Нижний колонтитул 4">
            <a:extLst>
              <a:ext uri="{FF2B5EF4-FFF2-40B4-BE49-F238E27FC236}">
                <a16:creationId xmlns:a16="http://schemas.microsoft.com/office/drawing/2014/main" id="{D7300256-4C39-49A3-AEFA-48A884F5372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95225579" name="Номер слайда 5">
            <a:extLst>
              <a:ext uri="{FF2B5EF4-FFF2-40B4-BE49-F238E27FC236}">
                <a16:creationId xmlns:a16="http://schemas.microsoft.com/office/drawing/2014/main" id="{B89FE39A-BF20-43E3-954B-1C7ED3D81B4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78929970" name="Заголовок 1">
            <a:extLst>
              <a:ext uri="{FF2B5EF4-FFF2-40B4-BE49-F238E27FC236}">
                <a16:creationId xmlns:a16="http://schemas.microsoft.com/office/drawing/2014/main" id="{4F705EF6-E11D-4949-A01D-08919B354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1320863321" name="Текст 35">
            <a:extLst>
              <a:ext uri="{FF2B5EF4-FFF2-40B4-BE49-F238E27FC236}">
                <a16:creationId xmlns:a16="http://schemas.microsoft.com/office/drawing/2014/main" id="{7A8FB603-544D-41F8-B89A-48D5715916E2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932599985" name="Текст 35">
            <a:extLst>
              <a:ext uri="{FF2B5EF4-FFF2-40B4-BE49-F238E27FC236}">
                <a16:creationId xmlns:a16="http://schemas.microsoft.com/office/drawing/2014/main" id="{5095BDB5-103E-4CD1-A0C1-9BFDAAC4158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757384494" name="Текст 35">
            <a:extLst>
              <a:ext uri="{FF2B5EF4-FFF2-40B4-BE49-F238E27FC236}">
                <a16:creationId xmlns:a16="http://schemas.microsoft.com/office/drawing/2014/main" id="{80A0752B-C4A8-4986-A0F0-3DC49C66AB1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60485198" name="Текст 35">
            <a:extLst>
              <a:ext uri="{FF2B5EF4-FFF2-40B4-BE49-F238E27FC236}">
                <a16:creationId xmlns:a16="http://schemas.microsoft.com/office/drawing/2014/main" id="{6309262E-BCD6-4F63-8C9D-2FD1E2A6352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485150630" name="Текст 35">
            <a:extLst>
              <a:ext uri="{FF2B5EF4-FFF2-40B4-BE49-F238E27FC236}">
                <a16:creationId xmlns:a16="http://schemas.microsoft.com/office/drawing/2014/main" id="{BE17A420-C367-4F58-BCAE-C40BB8A9A079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endParaRPr/>
          </a:p>
        </p:txBody>
      </p:sp>
      <p:sp>
        <p:nvSpPr>
          <p:cNvPr id="269013172" name="Текст 35">
            <a:extLst>
              <a:ext uri="{FF2B5EF4-FFF2-40B4-BE49-F238E27FC236}">
                <a16:creationId xmlns:a16="http://schemas.microsoft.com/office/drawing/2014/main" id="{7479DDB4-BD3B-4099-A74D-A0C8703853BC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015754149" name="Текст 35">
            <a:extLst>
              <a:ext uri="{FF2B5EF4-FFF2-40B4-BE49-F238E27FC236}">
                <a16:creationId xmlns:a16="http://schemas.microsoft.com/office/drawing/2014/main" id="{37A4A52E-4C12-4539-9637-2A53999CF2D3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627972504" name="Текст 35">
            <a:extLst>
              <a:ext uri="{FF2B5EF4-FFF2-40B4-BE49-F238E27FC236}">
                <a16:creationId xmlns:a16="http://schemas.microsoft.com/office/drawing/2014/main" id="{CB114CF4-95A0-4D23-89A7-8DD40712C54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292839" name="Дата 4">
            <a:extLst>
              <a:ext uri="{FF2B5EF4-FFF2-40B4-BE49-F238E27FC236}">
                <a16:creationId xmlns:a16="http://schemas.microsoft.com/office/drawing/2014/main" id="{327C7BB3-7EBE-48D3-AB45-E62CE1710A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524074843" name="Нижний колонтитул 5">
            <a:extLst>
              <a:ext uri="{FF2B5EF4-FFF2-40B4-BE49-F238E27FC236}">
                <a16:creationId xmlns:a16="http://schemas.microsoft.com/office/drawing/2014/main" id="{B5D986F5-6FFF-41EA-AC57-174939BE58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94354912" name="Номер слайда 5">
            <a:extLst>
              <a:ext uri="{FF2B5EF4-FFF2-40B4-BE49-F238E27FC236}">
                <a16:creationId xmlns:a16="http://schemas.microsoft.com/office/drawing/2014/main" id="{F034D095-EA2C-4F34-8A5F-0487CDDAAAE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185193" name="Рисунок 10">
            <a:extLst>
              <a:ext uri="{FF2B5EF4-FFF2-40B4-BE49-F238E27FC236}">
                <a16:creationId xmlns:a16="http://schemas.microsoft.com/office/drawing/2014/main" id="{58517476-9990-4B36-90D3-B749F554E9E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894095" y="1044081"/>
            <a:ext cx="4962943" cy="2221824"/>
          </a:xfrm>
        </p:spPr>
        <p:txBody>
          <a:bodyPr anchor="ctr"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2129858700" name="Заголовок 1">
            <a:extLst>
              <a:ext uri="{FF2B5EF4-FFF2-40B4-BE49-F238E27FC236}">
                <a16:creationId xmlns:a16="http://schemas.microsoft.com/office/drawing/2014/main" id="{23861A9F-BA43-4794-AE4A-64FA7442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итульный слайд">
    <p:bg>
      <p:bgRef idx="1001">
        <a:schemeClr val="phClr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805538" name="Рисунок 10">
            <a:extLst>
              <a:ext uri="{FF2B5EF4-FFF2-40B4-BE49-F238E27FC236}">
                <a16:creationId xmlns:a16="http://schemas.microsoft.com/office/drawing/2014/main" id="{B6B487B1-9830-4B9F-BC5A-E51BE7B79D7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792000" y="395288"/>
            <a:ext cx="5400000" cy="5400000"/>
          </a:xfrm>
        </p:spPr>
        <p:txBody>
          <a:bodyPr anchor="ctr"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762025160" name="Заголовок 1">
            <a:extLst>
              <a:ext uri="{FF2B5EF4-FFF2-40B4-BE49-F238E27FC236}">
                <a16:creationId xmlns:a16="http://schemas.microsoft.com/office/drawing/2014/main" id="{4E80B91D-0D02-479F-AAFA-7796BAEBE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/>
          <a:lstStyle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333452264" name="Рисунок 41">
            <a:extLst>
              <a:ext uri="{FF2B5EF4-FFF2-40B4-BE49-F238E27FC236}">
                <a16:creationId xmlns:a16="http://schemas.microsoft.com/office/drawing/2014/main" id="{9E3D6864-F93D-4851-A59E-746BB2485270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802640" y="2911980"/>
            <a:ext cx="3386773" cy="1082589"/>
          </a:xfrm>
        </p:spPr>
        <p:txBody>
          <a:bodyPr anchor="ctr"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1554466185" name="Текст 4">
            <a:extLst>
              <a:ext uri="{FF2B5EF4-FFF2-40B4-BE49-F238E27FC236}">
                <a16:creationId xmlns:a16="http://schemas.microsoft.com/office/drawing/2014/main" id="{C0743C17-65FE-4FAC-8D0A-8CC6003584C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15531" name="Дата 3">
            <a:extLst>
              <a:ext uri="{FF2B5EF4-FFF2-40B4-BE49-F238E27FC236}">
                <a16:creationId xmlns:a16="http://schemas.microsoft.com/office/drawing/2014/main" id="{D1F03899-0891-4249-9A7D-85B2B64E12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891060693" name="Нижний колонтитул 4">
            <a:extLst>
              <a:ext uri="{FF2B5EF4-FFF2-40B4-BE49-F238E27FC236}">
                <a16:creationId xmlns:a16="http://schemas.microsoft.com/office/drawing/2014/main" id="{4FAA5A08-E534-4B7C-88F6-E8414710E9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62232430" name="Номер слайда 5">
            <a:extLst>
              <a:ext uri="{FF2B5EF4-FFF2-40B4-BE49-F238E27FC236}">
                <a16:creationId xmlns:a16="http://schemas.microsoft.com/office/drawing/2014/main" id="{2AC9D430-876E-4E65-A15F-419B6732DB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688190" name="Picture Placeholder 1">
            <a:extLst>
              <a:ext uri="{FF2B5EF4-FFF2-40B4-BE49-F238E27FC236}">
                <a16:creationId xmlns:a16="http://schemas.microsoft.com/office/drawing/2014/main" id="{FA6CF082-398F-496B-A7C0-AC0F72DB446F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01459" y="1038224"/>
            <a:ext cx="1726214" cy="3657600"/>
          </a:xfrm>
          <a:prstGeom prst="roundRect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855624825" name="Picture Placeholder 1">
            <a:extLst>
              <a:ext uri="{FF2B5EF4-FFF2-40B4-BE49-F238E27FC236}">
                <a16:creationId xmlns:a16="http://schemas.microsoft.com/office/drawing/2014/main" id="{E38D06E5-B136-4BB1-A9EA-BC6D0118C5E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831097" y="1038224"/>
            <a:ext cx="1726214" cy="3657600"/>
          </a:xfrm>
          <a:prstGeom prst="roundRect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1788992263" name="Picture Placeholder 1">
            <a:extLst>
              <a:ext uri="{FF2B5EF4-FFF2-40B4-BE49-F238E27FC236}">
                <a16:creationId xmlns:a16="http://schemas.microsoft.com/office/drawing/2014/main" id="{94EB9F0E-039A-436D-81AD-4486235701BB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60734" y="1038224"/>
            <a:ext cx="1726214" cy="3657600"/>
          </a:xfrm>
          <a:prstGeom prst="roundRect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606617570" name="Picture Placeholder 1">
            <a:extLst>
              <a:ext uri="{FF2B5EF4-FFF2-40B4-BE49-F238E27FC236}">
                <a16:creationId xmlns:a16="http://schemas.microsoft.com/office/drawing/2014/main" id="{2FAD0921-CB7B-4BB0-82A1-DFAE936776C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90368" y="1038224"/>
            <a:ext cx="1726214" cy="3657600"/>
          </a:xfrm>
          <a:prstGeom prst="roundRect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1005153397" name="Дата 3">
            <a:extLst>
              <a:ext uri="{FF2B5EF4-FFF2-40B4-BE49-F238E27FC236}">
                <a16:creationId xmlns:a16="http://schemas.microsoft.com/office/drawing/2014/main" id="{2D848BD2-1FAB-47EA-A518-841C4CB2B5D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44610401" name="Нижний колонтитул 4">
            <a:extLst>
              <a:ext uri="{FF2B5EF4-FFF2-40B4-BE49-F238E27FC236}">
                <a16:creationId xmlns:a16="http://schemas.microsoft.com/office/drawing/2014/main" id="{288492D5-BE59-406B-9A6E-C6CB23615AA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21431567" name="Номер слайда 5">
            <a:extLst>
              <a:ext uri="{FF2B5EF4-FFF2-40B4-BE49-F238E27FC236}">
                <a16:creationId xmlns:a16="http://schemas.microsoft.com/office/drawing/2014/main" id="{D96C44A4-1D6E-47B2-9E01-6C850B023C3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06853527" name="Текст 7">
            <a:extLst>
              <a:ext uri="{FF2B5EF4-FFF2-40B4-BE49-F238E27FC236}">
                <a16:creationId xmlns:a16="http://schemas.microsoft.com/office/drawing/2014/main" id="{468B123D-7080-4AF6-A3A6-A090F16057D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endParaRPr/>
          </a:p>
        </p:txBody>
      </p:sp>
      <p:sp>
        <p:nvSpPr>
          <p:cNvPr id="1635371239" name="Текст 7">
            <a:extLst>
              <a:ext uri="{FF2B5EF4-FFF2-40B4-BE49-F238E27FC236}">
                <a16:creationId xmlns:a16="http://schemas.microsoft.com/office/drawing/2014/main" id="{2D964406-D757-479E-BAF7-52ADB7FF723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endParaRPr/>
          </a:p>
        </p:txBody>
      </p:sp>
      <p:sp>
        <p:nvSpPr>
          <p:cNvPr id="432314106" name="Текст 7">
            <a:extLst>
              <a:ext uri="{FF2B5EF4-FFF2-40B4-BE49-F238E27FC236}">
                <a16:creationId xmlns:a16="http://schemas.microsoft.com/office/drawing/2014/main" id="{E0E6D8C1-D7A5-4CA6-9DAF-8D81416D292D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endParaRPr/>
          </a:p>
        </p:txBody>
      </p:sp>
      <p:sp>
        <p:nvSpPr>
          <p:cNvPr id="1340548290" name="Текст 7">
            <a:extLst>
              <a:ext uri="{FF2B5EF4-FFF2-40B4-BE49-F238E27FC236}">
                <a16:creationId xmlns:a16="http://schemas.microsoft.com/office/drawing/2014/main" id="{79CAD4B2-2061-4F8A-BB18-5AFF4780DB2A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endParaRPr/>
          </a:p>
        </p:txBody>
      </p:sp>
      <p:sp>
        <p:nvSpPr>
          <p:cNvPr id="1833846414" name="Заголовок 1">
            <a:extLst>
              <a:ext uri="{FF2B5EF4-FFF2-40B4-BE49-F238E27FC236}">
                <a16:creationId xmlns:a16="http://schemas.microsoft.com/office/drawing/2014/main" id="{CAE28CC1-8B3E-4594-892A-F3E00C82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026436" name="Дата 3">
            <a:extLst>
              <a:ext uri="{FF2B5EF4-FFF2-40B4-BE49-F238E27FC236}">
                <a16:creationId xmlns:a16="http://schemas.microsoft.com/office/drawing/2014/main" id="{94872DC8-EA84-4F77-B081-981D87FE2B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305500057" name="Нижний колонтитул 4">
            <a:extLst>
              <a:ext uri="{FF2B5EF4-FFF2-40B4-BE49-F238E27FC236}">
                <a16:creationId xmlns:a16="http://schemas.microsoft.com/office/drawing/2014/main" id="{5C23A0EB-99B5-4EBC-A3EF-363A4CA9EB4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326992041" name="Номер слайда 5">
            <a:extLst>
              <a:ext uri="{FF2B5EF4-FFF2-40B4-BE49-F238E27FC236}">
                <a16:creationId xmlns:a16="http://schemas.microsoft.com/office/drawing/2014/main" id="{71FB348A-B570-423B-96A1-92FBD68163F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26543503" name="Заголовок 1">
            <a:extLst>
              <a:ext uri="{FF2B5EF4-FFF2-40B4-BE49-F238E27FC236}">
                <a16:creationId xmlns:a16="http://schemas.microsoft.com/office/drawing/2014/main" id="{2EE751C7-A0AC-4FD7-9B64-5472F7DEA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489435" name="Текст 2">
            <a:extLst>
              <a:ext uri="{FF2B5EF4-FFF2-40B4-BE49-F238E27FC236}">
                <a16:creationId xmlns:a16="http://schemas.microsoft.com/office/drawing/2014/main" id="{BE2A344C-0016-4884-9A0A-AD82B2CD2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endParaRPr/>
          </a:p>
        </p:txBody>
      </p:sp>
      <p:sp>
        <p:nvSpPr>
          <p:cNvPr id="701240327" name="Дата 3">
            <a:extLst>
              <a:ext uri="{FF2B5EF4-FFF2-40B4-BE49-F238E27FC236}">
                <a16:creationId xmlns:a16="http://schemas.microsoft.com/office/drawing/2014/main" id="{865F23A9-2FF9-4CD3-B356-9EAB22DD3EF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906312531" name="Нижний колонтитул 4">
            <a:extLst>
              <a:ext uri="{FF2B5EF4-FFF2-40B4-BE49-F238E27FC236}">
                <a16:creationId xmlns:a16="http://schemas.microsoft.com/office/drawing/2014/main" id="{BE851B12-55BE-424B-A0D0-C1EAF09E235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15528286" name="Номер слайда 5">
            <a:extLst>
              <a:ext uri="{FF2B5EF4-FFF2-40B4-BE49-F238E27FC236}">
                <a16:creationId xmlns:a16="http://schemas.microsoft.com/office/drawing/2014/main" id="{122E5652-4EEB-4256-A2D6-467E476EDD2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7220633" name="Заголовок 1">
            <a:extLst>
              <a:ext uri="{FF2B5EF4-FFF2-40B4-BE49-F238E27FC236}">
                <a16:creationId xmlns:a16="http://schemas.microsoft.com/office/drawing/2014/main" id="{9572DCCC-4AD2-4612-875E-3084AFC9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1382" name="Дата 3">
            <a:extLst>
              <a:ext uri="{FF2B5EF4-FFF2-40B4-BE49-F238E27FC236}">
                <a16:creationId xmlns:a16="http://schemas.microsoft.com/office/drawing/2014/main" id="{53913D36-A3A1-4540-B663-67EE0D3B5DF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92774698" name="Нижний колонтитул 4">
            <a:extLst>
              <a:ext uri="{FF2B5EF4-FFF2-40B4-BE49-F238E27FC236}">
                <a16:creationId xmlns:a16="http://schemas.microsoft.com/office/drawing/2014/main" id="{03911FB4-7DD3-40E2-9C48-222A430E823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22873909" name="Номер слайда 5">
            <a:extLst>
              <a:ext uri="{FF2B5EF4-FFF2-40B4-BE49-F238E27FC236}">
                <a16:creationId xmlns:a16="http://schemas.microsoft.com/office/drawing/2014/main" id="{FBC855CF-CC0E-48A5-A454-45A4E5A0CAE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89163207" name="Заголовок 1">
            <a:extLst>
              <a:ext uri="{FF2B5EF4-FFF2-40B4-BE49-F238E27FC236}">
                <a16:creationId xmlns:a16="http://schemas.microsoft.com/office/drawing/2014/main" id="{2D46B50D-7D1A-4822-8A02-4E5DF4B6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1070410689" name="Текст 35">
            <a:extLst>
              <a:ext uri="{FF2B5EF4-FFF2-40B4-BE49-F238E27FC236}">
                <a16:creationId xmlns:a16="http://schemas.microsoft.com/office/drawing/2014/main" id="{EFC502C1-CF97-4371-BF5A-95D5D5DD1D9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har char="§"/>
              <a:defRPr sz="1400"/>
            </a:lvl1pPr>
          </a:lstStyle>
          <a:p>
            <a:endParaRPr/>
          </a:p>
        </p:txBody>
      </p:sp>
      <p:sp>
        <p:nvSpPr>
          <p:cNvPr id="1834772349" name="Текст 35">
            <a:extLst>
              <a:ext uri="{FF2B5EF4-FFF2-40B4-BE49-F238E27FC236}">
                <a16:creationId xmlns:a16="http://schemas.microsoft.com/office/drawing/2014/main" id="{B2A62E0D-0B50-46B9-84C0-0869F820C711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har char="§"/>
              <a:defRPr sz="1400"/>
            </a:lvl1pPr>
          </a:lstStyle>
          <a:p>
            <a:endParaRPr/>
          </a:p>
        </p:txBody>
      </p:sp>
      <p:sp>
        <p:nvSpPr>
          <p:cNvPr id="647516866" name="Текст 35">
            <a:extLst>
              <a:ext uri="{FF2B5EF4-FFF2-40B4-BE49-F238E27FC236}">
                <a16:creationId xmlns:a16="http://schemas.microsoft.com/office/drawing/2014/main" id="{E479DF5E-E637-4832-96E7-9C4394A6391C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har char="§"/>
              <a:defRPr sz="1400"/>
            </a:lvl1pPr>
          </a:lstStyle>
          <a:p>
            <a:endParaRPr/>
          </a:p>
        </p:txBody>
      </p:sp>
      <p:sp>
        <p:nvSpPr>
          <p:cNvPr id="92766422" name="Текст 35">
            <a:extLst>
              <a:ext uri="{FF2B5EF4-FFF2-40B4-BE49-F238E27FC236}">
                <a16:creationId xmlns:a16="http://schemas.microsoft.com/office/drawing/2014/main" id="{E5E25618-B393-4CB1-91B2-256C2C14C1A7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har char="§"/>
              <a:defRPr sz="1400"/>
            </a:lvl1pPr>
          </a:lstStyle>
          <a:p>
            <a:endParaRPr/>
          </a:p>
        </p:txBody>
      </p:sp>
      <p:sp>
        <p:nvSpPr>
          <p:cNvPr id="1639085180" name="Текст 35">
            <a:extLst>
              <a:ext uri="{FF2B5EF4-FFF2-40B4-BE49-F238E27FC236}">
                <a16:creationId xmlns:a16="http://schemas.microsoft.com/office/drawing/2014/main" id="{04847D81-4245-45AC-A49F-2C9E539521C3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har char="§"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536438" name="Дата 3">
            <a:extLst>
              <a:ext uri="{FF2B5EF4-FFF2-40B4-BE49-F238E27FC236}">
                <a16:creationId xmlns:a16="http://schemas.microsoft.com/office/drawing/2014/main" id="{607719C9-55F0-4194-8271-49224671112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033051265" name="Нижний колонтитул 4">
            <a:extLst>
              <a:ext uri="{FF2B5EF4-FFF2-40B4-BE49-F238E27FC236}">
                <a16:creationId xmlns:a16="http://schemas.microsoft.com/office/drawing/2014/main" id="{4DC1360A-74AA-43C6-BB75-2891D39BA00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972541245" name="Номер слайда 5">
            <a:extLst>
              <a:ext uri="{FF2B5EF4-FFF2-40B4-BE49-F238E27FC236}">
                <a16:creationId xmlns:a16="http://schemas.microsoft.com/office/drawing/2014/main" id="{7F9BE47E-9DB3-4F80-8DDE-A399C59D6DB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5822206" name="Текст 35">
            <a:extLst>
              <a:ext uri="{FF2B5EF4-FFF2-40B4-BE49-F238E27FC236}">
                <a16:creationId xmlns:a16="http://schemas.microsoft.com/office/drawing/2014/main" id="{849B1277-BD67-446B-82D2-5981FF8BCC4D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821003268" name="Текст 35">
            <a:extLst>
              <a:ext uri="{FF2B5EF4-FFF2-40B4-BE49-F238E27FC236}">
                <a16:creationId xmlns:a16="http://schemas.microsoft.com/office/drawing/2014/main" id="{BA58D746-2AC3-467B-A8E4-D1AB9BA03C6D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075834399" name="Текст 35">
            <a:extLst>
              <a:ext uri="{FF2B5EF4-FFF2-40B4-BE49-F238E27FC236}">
                <a16:creationId xmlns:a16="http://schemas.microsoft.com/office/drawing/2014/main" id="{D2A53BBD-5F33-4F33-A0F1-AE068D7A32AD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701188279" name="Текст 35">
            <a:extLst>
              <a:ext uri="{FF2B5EF4-FFF2-40B4-BE49-F238E27FC236}">
                <a16:creationId xmlns:a16="http://schemas.microsoft.com/office/drawing/2014/main" id="{C8D79727-0628-4455-96CF-A30D67469A2E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160295562" name="Текст 35">
            <a:extLst>
              <a:ext uri="{FF2B5EF4-FFF2-40B4-BE49-F238E27FC236}">
                <a16:creationId xmlns:a16="http://schemas.microsoft.com/office/drawing/2014/main" id="{F44D13B9-7BB3-489D-97A6-3A15982B3AAD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454320740" name="Текст 35">
            <a:extLst>
              <a:ext uri="{FF2B5EF4-FFF2-40B4-BE49-F238E27FC236}">
                <a16:creationId xmlns:a16="http://schemas.microsoft.com/office/drawing/2014/main" id="{AC6A30F0-2151-4B65-96E6-1BC952FFB235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162679593" name="Текст 35">
            <a:extLst>
              <a:ext uri="{FF2B5EF4-FFF2-40B4-BE49-F238E27FC236}">
                <a16:creationId xmlns:a16="http://schemas.microsoft.com/office/drawing/2014/main" id="{1FFAE673-F88A-4F58-A24D-95BCA8FA2093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745690326" name="Текст 35">
            <a:extLst>
              <a:ext uri="{FF2B5EF4-FFF2-40B4-BE49-F238E27FC236}">
                <a16:creationId xmlns:a16="http://schemas.microsoft.com/office/drawing/2014/main" id="{1E2E75B9-9975-4B4B-A31E-92F37471C70F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860790834" name="Текст 35">
            <a:extLst>
              <a:ext uri="{FF2B5EF4-FFF2-40B4-BE49-F238E27FC236}">
                <a16:creationId xmlns:a16="http://schemas.microsoft.com/office/drawing/2014/main" id="{D1B504E9-0FD8-486C-8F55-7342AD383F8C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623945856" name="Текст 35">
            <a:extLst>
              <a:ext uri="{FF2B5EF4-FFF2-40B4-BE49-F238E27FC236}">
                <a16:creationId xmlns:a16="http://schemas.microsoft.com/office/drawing/2014/main" id="{FE9F7B32-AF91-4EAA-BC55-EC4168A2B3F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830319870" name="Заголовок 1">
            <a:extLst>
              <a:ext uri="{FF2B5EF4-FFF2-40B4-BE49-F238E27FC236}">
                <a16:creationId xmlns:a16="http://schemas.microsoft.com/office/drawing/2014/main" id="{C509E081-48D8-4C07-A446-9A5A3B18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48452" name="Дата 3">
            <a:extLst>
              <a:ext uri="{FF2B5EF4-FFF2-40B4-BE49-F238E27FC236}">
                <a16:creationId xmlns:a16="http://schemas.microsoft.com/office/drawing/2014/main" id="{20FA2345-541D-4A15-8493-37F8AFEC32D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39948848" name="Нижний колонтитул 4">
            <a:extLst>
              <a:ext uri="{FF2B5EF4-FFF2-40B4-BE49-F238E27FC236}">
                <a16:creationId xmlns:a16="http://schemas.microsoft.com/office/drawing/2014/main" id="{9FDF40B2-96D3-4E9E-9924-A52DB21A7F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289372284" name="Номер слайда 5">
            <a:extLst>
              <a:ext uri="{FF2B5EF4-FFF2-40B4-BE49-F238E27FC236}">
                <a16:creationId xmlns:a16="http://schemas.microsoft.com/office/drawing/2014/main" id="{D00EC7CB-3B56-4441-B14D-4FA6D4EEB64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7043254" name="Заголовок 1">
            <a:extLst>
              <a:ext uri="{FF2B5EF4-FFF2-40B4-BE49-F238E27FC236}">
                <a16:creationId xmlns:a16="http://schemas.microsoft.com/office/drawing/2014/main" id="{2376FC9B-1BB7-4D4B-9240-61F93BE3E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2031378921" name="Рисунок 7">
            <a:extLst>
              <a:ext uri="{FF2B5EF4-FFF2-40B4-BE49-F238E27FC236}">
                <a16:creationId xmlns:a16="http://schemas.microsoft.com/office/drawing/2014/main" id="{08A4130E-3593-4FDA-B417-A377EE97E89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/>
          </a:p>
        </p:txBody>
      </p:sp>
      <p:sp>
        <p:nvSpPr>
          <p:cNvPr id="627296852" name="Рисунок 9">
            <a:extLst>
              <a:ext uri="{FF2B5EF4-FFF2-40B4-BE49-F238E27FC236}">
                <a16:creationId xmlns:a16="http://schemas.microsoft.com/office/drawing/2014/main" id="{15A1D467-8CC6-43BC-A7C7-B11DADC6DCE3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/>
          </a:p>
        </p:txBody>
      </p:sp>
      <p:sp>
        <p:nvSpPr>
          <p:cNvPr id="1562272573" name="Рисунок 11">
            <a:extLst>
              <a:ext uri="{FF2B5EF4-FFF2-40B4-BE49-F238E27FC236}">
                <a16:creationId xmlns:a16="http://schemas.microsoft.com/office/drawing/2014/main" id="{0F18A583-F34C-499F-8FB6-A32E6C4E2CD6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/>
          </a:p>
        </p:txBody>
      </p:sp>
      <p:sp>
        <p:nvSpPr>
          <p:cNvPr id="755837178" name="Текст 15">
            <a:extLst>
              <a:ext uri="{FF2B5EF4-FFF2-40B4-BE49-F238E27FC236}">
                <a16:creationId xmlns:a16="http://schemas.microsoft.com/office/drawing/2014/main" id="{8568ED3E-F182-42FE-B97B-2DA0CB95E45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5981" name="Дата 3">
            <a:extLst>
              <a:ext uri="{FF2B5EF4-FFF2-40B4-BE49-F238E27FC236}">
                <a16:creationId xmlns:a16="http://schemas.microsoft.com/office/drawing/2014/main" id="{6F95B4F3-9116-4C48-BD4A-834059234AC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4269629" name="Нижний колонтитул 4">
            <a:extLst>
              <a:ext uri="{FF2B5EF4-FFF2-40B4-BE49-F238E27FC236}">
                <a16:creationId xmlns:a16="http://schemas.microsoft.com/office/drawing/2014/main" id="{185FB07E-94AE-4701-BCC7-A59FC3F429F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94131367" name="Номер слайда 5">
            <a:extLst>
              <a:ext uri="{FF2B5EF4-FFF2-40B4-BE49-F238E27FC236}">
                <a16:creationId xmlns:a16="http://schemas.microsoft.com/office/drawing/2014/main" id="{122E668C-D3EC-45C2-8C17-176841658C7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188678" name="Заголовок 1">
            <a:extLst>
              <a:ext uri="{FF2B5EF4-FFF2-40B4-BE49-F238E27FC236}">
                <a16:creationId xmlns:a16="http://schemas.microsoft.com/office/drawing/2014/main" id="{5FDC8C92-72CF-4065-A21F-9E8D64D7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endParaRPr/>
          </a:p>
        </p:txBody>
      </p:sp>
      <p:sp>
        <p:nvSpPr>
          <p:cNvPr id="1832118189" name="Текст 3">
            <a:extLst>
              <a:ext uri="{FF2B5EF4-FFF2-40B4-BE49-F238E27FC236}">
                <a16:creationId xmlns:a16="http://schemas.microsoft.com/office/drawing/2014/main" id="{5D1CD659-CF9C-48ED-B31B-A8DC40C6CA2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endParaRPr/>
          </a:p>
        </p:txBody>
      </p:sp>
      <p:sp>
        <p:nvSpPr>
          <p:cNvPr id="1767434035" name="Дата 3">
            <a:extLst>
              <a:ext uri="{FF2B5EF4-FFF2-40B4-BE49-F238E27FC236}">
                <a16:creationId xmlns:a16="http://schemas.microsoft.com/office/drawing/2014/main" id="{7BF83753-5569-4862-935E-240FD37A4B2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7034429" name="Нижний колонтитул 4">
            <a:extLst>
              <a:ext uri="{FF2B5EF4-FFF2-40B4-BE49-F238E27FC236}">
                <a16:creationId xmlns:a16="http://schemas.microsoft.com/office/drawing/2014/main" id="{A36DEA97-2331-4291-BDA4-C5CCA965D20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71722030" name="Номер слайда 5">
            <a:extLst>
              <a:ext uri="{FF2B5EF4-FFF2-40B4-BE49-F238E27FC236}">
                <a16:creationId xmlns:a16="http://schemas.microsoft.com/office/drawing/2014/main" id="{97081815-753F-4763-92FD-3ACFAB0BB6F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282958" name="Picture Placeholder 1">
            <a:extLst>
              <a:ext uri="{FF2B5EF4-FFF2-40B4-BE49-F238E27FC236}">
                <a16:creationId xmlns:a16="http://schemas.microsoft.com/office/drawing/2014/main" id="{0B59D6BE-00CC-4EC9-ADDD-F341BF4E2D3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09872" y="1235915"/>
            <a:ext cx="2172255" cy="4602697"/>
          </a:xfrm>
          <a:prstGeom prst="roundRect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92126847" name="Текст 35">
            <a:extLst>
              <a:ext uri="{FF2B5EF4-FFF2-40B4-BE49-F238E27FC236}">
                <a16:creationId xmlns:a16="http://schemas.microsoft.com/office/drawing/2014/main" id="{3FBD7576-77B9-454D-977C-B81C91B3AC4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492090952" name="Текст 35">
            <a:extLst>
              <a:ext uri="{FF2B5EF4-FFF2-40B4-BE49-F238E27FC236}">
                <a16:creationId xmlns:a16="http://schemas.microsoft.com/office/drawing/2014/main" id="{725BB8A1-9889-4532-9CB8-43C161FB49E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873398002" name="Текст 35">
            <a:extLst>
              <a:ext uri="{FF2B5EF4-FFF2-40B4-BE49-F238E27FC236}">
                <a16:creationId xmlns:a16="http://schemas.microsoft.com/office/drawing/2014/main" id="{1F40B159-085D-4EC9-AF23-CBAC7F328FA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040020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579286542" name="Текст 35">
            <a:extLst>
              <a:ext uri="{FF2B5EF4-FFF2-40B4-BE49-F238E27FC236}">
                <a16:creationId xmlns:a16="http://schemas.microsoft.com/office/drawing/2014/main" id="{9EB5D159-53BE-410B-8F51-2C23FA98305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068883351" name="Текст 35">
            <a:extLst>
              <a:ext uri="{FF2B5EF4-FFF2-40B4-BE49-F238E27FC236}">
                <a16:creationId xmlns:a16="http://schemas.microsoft.com/office/drawing/2014/main" id="{E3A25A16-2B6F-4AE2-8B54-B8A1E596549D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endParaRPr/>
          </a:p>
        </p:txBody>
      </p:sp>
      <p:sp>
        <p:nvSpPr>
          <p:cNvPr id="1090635926" name="Текст 35">
            <a:extLst>
              <a:ext uri="{FF2B5EF4-FFF2-40B4-BE49-F238E27FC236}">
                <a16:creationId xmlns:a16="http://schemas.microsoft.com/office/drawing/2014/main" id="{6178A29D-EEC6-4C08-A4D6-A2CCD53A585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610368447" name="Текст 35">
            <a:extLst>
              <a:ext uri="{FF2B5EF4-FFF2-40B4-BE49-F238E27FC236}">
                <a16:creationId xmlns:a16="http://schemas.microsoft.com/office/drawing/2014/main" id="{CDC757E8-0041-45CF-A040-6BDBB7B5CB7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40020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2144464701" name="Текст 35">
            <a:extLst>
              <a:ext uri="{FF2B5EF4-FFF2-40B4-BE49-F238E27FC236}">
                <a16:creationId xmlns:a16="http://schemas.microsoft.com/office/drawing/2014/main" id="{5D3CD413-1259-4B47-90AD-FF70AC64DF8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072225206" name="Заголовок 3">
            <a:extLst>
              <a:ext uri="{FF2B5EF4-FFF2-40B4-BE49-F238E27FC236}">
                <a16:creationId xmlns:a16="http://schemas.microsoft.com/office/drawing/2014/main" id="{0455C78C-FBD2-42E0-91A4-E6DD5E85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103561332" name="Дата 8">
            <a:extLst>
              <a:ext uri="{FF2B5EF4-FFF2-40B4-BE49-F238E27FC236}">
                <a16:creationId xmlns:a16="http://schemas.microsoft.com/office/drawing/2014/main" id="{CB843936-D5E7-47F4-890C-45B64FC9175F}"/>
              </a:ext>
            </a:extLst>
          </p:cNvPr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  <p:sp>
        <p:nvSpPr>
          <p:cNvPr id="593227551" name="Нижний колонтитул 9">
            <a:extLst>
              <a:ext uri="{FF2B5EF4-FFF2-40B4-BE49-F238E27FC236}">
                <a16:creationId xmlns:a16="http://schemas.microsoft.com/office/drawing/2014/main" id="{33AF57CF-432D-4A2D-8706-CE509A8EB3E5}"/>
              </a:ext>
            </a:extLst>
          </p:cNvPr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768379" name="Дата 3">
            <a:extLst>
              <a:ext uri="{FF2B5EF4-FFF2-40B4-BE49-F238E27FC236}">
                <a16:creationId xmlns:a16="http://schemas.microsoft.com/office/drawing/2014/main" id="{D54C3960-EA11-4E39-AE5C-9CD033CDCA5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987334992" name="Нижний колонтитул 4">
            <a:extLst>
              <a:ext uri="{FF2B5EF4-FFF2-40B4-BE49-F238E27FC236}">
                <a16:creationId xmlns:a16="http://schemas.microsoft.com/office/drawing/2014/main" id="{2DED9B77-D331-49DA-8E8E-E35AF3D61E8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59632350" name="Номер слайда 5">
            <a:extLst>
              <a:ext uri="{FF2B5EF4-FFF2-40B4-BE49-F238E27FC236}">
                <a16:creationId xmlns:a16="http://schemas.microsoft.com/office/drawing/2014/main" id="{C2B35C6E-8984-458D-84C5-AD4E56AF901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27416885" name="Заголовок 1">
            <a:extLst>
              <a:ext uri="{FF2B5EF4-FFF2-40B4-BE49-F238E27FC236}">
                <a16:creationId xmlns:a16="http://schemas.microsoft.com/office/drawing/2014/main" id="{586B9657-A848-4559-8F17-C9743306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1601076432" name="Текст 35">
            <a:extLst>
              <a:ext uri="{FF2B5EF4-FFF2-40B4-BE49-F238E27FC236}">
                <a16:creationId xmlns:a16="http://schemas.microsoft.com/office/drawing/2014/main" id="{E8AB44AA-0436-48E8-9656-0016246D6E78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090537959" name="Текст 35">
            <a:extLst>
              <a:ext uri="{FF2B5EF4-FFF2-40B4-BE49-F238E27FC236}">
                <a16:creationId xmlns:a16="http://schemas.microsoft.com/office/drawing/2014/main" id="{BA95F4B6-3E03-4780-A952-8486CEAE509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65387485" name="Текст 35">
            <a:extLst>
              <a:ext uri="{FF2B5EF4-FFF2-40B4-BE49-F238E27FC236}">
                <a16:creationId xmlns:a16="http://schemas.microsoft.com/office/drawing/2014/main" id="{42B4730D-3172-4C61-AEA9-8820785E0AF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764446827" name="Текст 35">
            <a:extLst>
              <a:ext uri="{FF2B5EF4-FFF2-40B4-BE49-F238E27FC236}">
                <a16:creationId xmlns:a16="http://schemas.microsoft.com/office/drawing/2014/main" id="{CB3BFDC6-90D1-44ED-A996-77B51870638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364138805" name="Текст 35">
            <a:extLst>
              <a:ext uri="{FF2B5EF4-FFF2-40B4-BE49-F238E27FC236}">
                <a16:creationId xmlns:a16="http://schemas.microsoft.com/office/drawing/2014/main" id="{7A01FA8A-E15C-4EF6-8B3A-BE795275FF44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261331746" name="Текст 35">
            <a:extLst>
              <a:ext uri="{FF2B5EF4-FFF2-40B4-BE49-F238E27FC236}">
                <a16:creationId xmlns:a16="http://schemas.microsoft.com/office/drawing/2014/main" id="{8D18F8AD-6118-4301-8D7A-8C86BEF4FB5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787225" name="Дата 3">
            <a:extLst>
              <a:ext uri="{FF2B5EF4-FFF2-40B4-BE49-F238E27FC236}">
                <a16:creationId xmlns:a16="http://schemas.microsoft.com/office/drawing/2014/main" id="{CFAAB05F-2334-4F15-B76F-62E6B54E7C7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913968331" name="Нижний колонтитул 4">
            <a:extLst>
              <a:ext uri="{FF2B5EF4-FFF2-40B4-BE49-F238E27FC236}">
                <a16:creationId xmlns:a16="http://schemas.microsoft.com/office/drawing/2014/main" id="{F8A81065-CB73-431E-9532-BAFEA24549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1423190" name="Номер слайда 5">
            <a:extLst>
              <a:ext uri="{FF2B5EF4-FFF2-40B4-BE49-F238E27FC236}">
                <a16:creationId xmlns:a16="http://schemas.microsoft.com/office/drawing/2014/main" id="{F665F122-1C57-444E-8DB3-8C50A68253C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815835713" name="Заголовок 1">
            <a:extLst>
              <a:ext uri="{FF2B5EF4-FFF2-40B4-BE49-F238E27FC236}">
                <a16:creationId xmlns:a16="http://schemas.microsoft.com/office/drawing/2014/main" id="{7A729435-5912-4D19-9532-C4E271E0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2116403357" name="Текст 35">
            <a:extLst>
              <a:ext uri="{FF2B5EF4-FFF2-40B4-BE49-F238E27FC236}">
                <a16:creationId xmlns:a16="http://schemas.microsoft.com/office/drawing/2014/main" id="{6EE46B9B-5E72-4744-AE73-938EFA633A2B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717564728" name="Текст 35">
            <a:extLst>
              <a:ext uri="{FF2B5EF4-FFF2-40B4-BE49-F238E27FC236}">
                <a16:creationId xmlns:a16="http://schemas.microsoft.com/office/drawing/2014/main" id="{7EF77F4C-C005-44D5-892F-7436BDB5BE6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891740727" name="Текст 35">
            <a:extLst>
              <a:ext uri="{FF2B5EF4-FFF2-40B4-BE49-F238E27FC236}">
                <a16:creationId xmlns:a16="http://schemas.microsoft.com/office/drawing/2014/main" id="{4A00C7C7-CD9C-466F-8459-6593ADB6DB8E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156670" name="Текст 35">
            <a:extLst>
              <a:ext uri="{FF2B5EF4-FFF2-40B4-BE49-F238E27FC236}">
                <a16:creationId xmlns:a16="http://schemas.microsoft.com/office/drawing/2014/main" id="{E07C24E8-ED96-457F-AFD2-1AF6E1B476ED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2072769962" name="Текст 35">
            <a:extLst>
              <a:ext uri="{FF2B5EF4-FFF2-40B4-BE49-F238E27FC236}">
                <a16:creationId xmlns:a16="http://schemas.microsoft.com/office/drawing/2014/main" id="{393E05AB-ACFC-4347-B389-9AC62A52B9F0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endParaRPr/>
          </a:p>
        </p:txBody>
      </p:sp>
      <p:sp>
        <p:nvSpPr>
          <p:cNvPr id="1084980138" name="Текст 35">
            <a:extLst>
              <a:ext uri="{FF2B5EF4-FFF2-40B4-BE49-F238E27FC236}">
                <a16:creationId xmlns:a16="http://schemas.microsoft.com/office/drawing/2014/main" id="{2EF56312-736B-4370-9302-665B59A4322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2132874466" name="Текст 35">
            <a:extLst>
              <a:ext uri="{FF2B5EF4-FFF2-40B4-BE49-F238E27FC236}">
                <a16:creationId xmlns:a16="http://schemas.microsoft.com/office/drawing/2014/main" id="{66BF41BD-F63C-48EB-A7FE-3E48A6ADEDE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2003817939" name="Текст 35">
            <a:extLst>
              <a:ext uri="{FF2B5EF4-FFF2-40B4-BE49-F238E27FC236}">
                <a16:creationId xmlns:a16="http://schemas.microsoft.com/office/drawing/2014/main" id="{7E2C008A-8177-4DE5-8382-B02312E62A8B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06317" name="Picture Placeholder 1">
            <a:extLst>
              <a:ext uri="{FF2B5EF4-FFF2-40B4-BE49-F238E27FC236}">
                <a16:creationId xmlns:a16="http://schemas.microsoft.com/office/drawing/2014/main" id="{6C03997E-EC27-4C99-829E-257A7BE2755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62940" y="1264478"/>
            <a:ext cx="3866121" cy="2436377"/>
          </a:xfrm>
        </p:spPr>
        <p:txBody>
          <a:bodyPr/>
          <a:lstStyle/>
          <a:p>
            <a:endParaRPr/>
          </a:p>
        </p:txBody>
      </p:sp>
      <p:sp>
        <p:nvSpPr>
          <p:cNvPr id="1188263495" name="Дата 3">
            <a:extLst>
              <a:ext uri="{FF2B5EF4-FFF2-40B4-BE49-F238E27FC236}">
                <a16:creationId xmlns:a16="http://schemas.microsoft.com/office/drawing/2014/main" id="{006E4C7E-4F05-48F3-99DD-51432E489D5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904044008" name="Нижний колонтитул 4">
            <a:extLst>
              <a:ext uri="{FF2B5EF4-FFF2-40B4-BE49-F238E27FC236}">
                <a16:creationId xmlns:a16="http://schemas.microsoft.com/office/drawing/2014/main" id="{0701E380-E4B0-4682-9716-4025BF4E567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832485453" name="Номер слайда 5">
            <a:extLst>
              <a:ext uri="{FF2B5EF4-FFF2-40B4-BE49-F238E27FC236}">
                <a16:creationId xmlns:a16="http://schemas.microsoft.com/office/drawing/2014/main" id="{10502B36-0740-4CB4-89A1-76985FC1A7A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053056624" name="Заголовок 1">
            <a:extLst>
              <a:ext uri="{FF2B5EF4-FFF2-40B4-BE49-F238E27FC236}">
                <a16:creationId xmlns:a16="http://schemas.microsoft.com/office/drawing/2014/main" id="{2B3E986D-33C2-496E-8DFA-87C463F96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1269293174" name="Текст 7">
            <a:extLst>
              <a:ext uri="{FF2B5EF4-FFF2-40B4-BE49-F238E27FC236}">
                <a16:creationId xmlns:a16="http://schemas.microsoft.com/office/drawing/2014/main" id="{910BCB0B-C58F-414A-8C21-CBDFA144156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endParaRPr/>
          </a:p>
        </p:txBody>
      </p:sp>
      <p:sp>
        <p:nvSpPr>
          <p:cNvPr id="2102871065" name="Текст 7">
            <a:extLst>
              <a:ext uri="{FF2B5EF4-FFF2-40B4-BE49-F238E27FC236}">
                <a16:creationId xmlns:a16="http://schemas.microsoft.com/office/drawing/2014/main" id="{247B4390-D154-4629-BF36-C0B7D74A72D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endParaRPr/>
          </a:p>
        </p:txBody>
      </p:sp>
      <p:sp>
        <p:nvSpPr>
          <p:cNvPr id="1821909816" name="Текст 7">
            <a:extLst>
              <a:ext uri="{FF2B5EF4-FFF2-40B4-BE49-F238E27FC236}">
                <a16:creationId xmlns:a16="http://schemas.microsoft.com/office/drawing/2014/main" id="{60DF4E65-D33F-4900-AA0B-1AB3E926712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127435" name="Дата 3">
            <a:extLst>
              <a:ext uri="{FF2B5EF4-FFF2-40B4-BE49-F238E27FC236}">
                <a16:creationId xmlns:a16="http://schemas.microsoft.com/office/drawing/2014/main" id="{8FBAA3CF-424B-434F-8AA2-9662C82A0D7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37727617" name="Нижний колонтитул 4">
            <a:extLst>
              <a:ext uri="{FF2B5EF4-FFF2-40B4-BE49-F238E27FC236}">
                <a16:creationId xmlns:a16="http://schemas.microsoft.com/office/drawing/2014/main" id="{F479654F-C65E-4CF8-8E51-F088CA8BD47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36542313" name="Номер слайда 5">
            <a:extLst>
              <a:ext uri="{FF2B5EF4-FFF2-40B4-BE49-F238E27FC236}">
                <a16:creationId xmlns:a16="http://schemas.microsoft.com/office/drawing/2014/main" id="{83DBCCAC-5E9F-4365-B5FB-C5FF65A92B1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98881126" name="Заголовок 1">
            <a:extLst>
              <a:ext uri="{FF2B5EF4-FFF2-40B4-BE49-F238E27FC236}">
                <a16:creationId xmlns:a16="http://schemas.microsoft.com/office/drawing/2014/main" id="{2B97BB36-96D0-4216-A7C2-A8825C7C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1887127588" name="Текст 35">
            <a:extLst>
              <a:ext uri="{FF2B5EF4-FFF2-40B4-BE49-F238E27FC236}">
                <a16:creationId xmlns:a16="http://schemas.microsoft.com/office/drawing/2014/main" id="{0684BE9F-1FD0-4241-A162-D54B2C005818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517027" y="3810175"/>
            <a:ext cx="3264113" cy="237511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480370900" name="Текст 35">
            <a:extLst>
              <a:ext uri="{FF2B5EF4-FFF2-40B4-BE49-F238E27FC236}">
                <a16:creationId xmlns:a16="http://schemas.microsoft.com/office/drawing/2014/main" id="{40D14CD9-D6CA-4BD2-90CD-921C3F1BFD1E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464542" y="3810175"/>
            <a:ext cx="3264113" cy="237511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37090590" name="Текст 35">
            <a:extLst>
              <a:ext uri="{FF2B5EF4-FFF2-40B4-BE49-F238E27FC236}">
                <a16:creationId xmlns:a16="http://schemas.microsoft.com/office/drawing/2014/main" id="{A3E344A5-1EE7-4C65-BA7D-9F29529F14B2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385481" y="3810175"/>
            <a:ext cx="3264113" cy="237511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155601055" name="Текст 35">
            <a:extLst>
              <a:ext uri="{FF2B5EF4-FFF2-40B4-BE49-F238E27FC236}">
                <a16:creationId xmlns:a16="http://schemas.microsoft.com/office/drawing/2014/main" id="{8C9CDF3A-3B02-4CA5-9D49-D58FC45A945E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517027" y="3252336"/>
            <a:ext cx="3264113" cy="391783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967126385" name="Текст 35">
            <a:extLst>
              <a:ext uri="{FF2B5EF4-FFF2-40B4-BE49-F238E27FC236}">
                <a16:creationId xmlns:a16="http://schemas.microsoft.com/office/drawing/2014/main" id="{3B0D83F9-D258-411B-9DFE-C262B2AB4892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4464542" y="3252336"/>
            <a:ext cx="3264113" cy="391783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601306069" name="Текст 35">
            <a:extLst>
              <a:ext uri="{FF2B5EF4-FFF2-40B4-BE49-F238E27FC236}">
                <a16:creationId xmlns:a16="http://schemas.microsoft.com/office/drawing/2014/main" id="{FBA5AA0D-93B8-4386-B0C2-AA86BCF3D28E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8385481" y="3252336"/>
            <a:ext cx="3264113" cy="391783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17902" name="Дата 3">
            <a:extLst>
              <a:ext uri="{FF2B5EF4-FFF2-40B4-BE49-F238E27FC236}">
                <a16:creationId xmlns:a16="http://schemas.microsoft.com/office/drawing/2014/main" id="{7C06493D-994E-47D1-968F-18AD20DD3D4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052638346" name="Нижний колонтитул 4">
            <a:extLst>
              <a:ext uri="{FF2B5EF4-FFF2-40B4-BE49-F238E27FC236}">
                <a16:creationId xmlns:a16="http://schemas.microsoft.com/office/drawing/2014/main" id="{E000C827-6C19-4E0C-94DD-7EF6A2C6529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88353536" name="Заголовок 1">
            <a:extLst>
              <a:ext uri="{FF2B5EF4-FFF2-40B4-BE49-F238E27FC236}">
                <a16:creationId xmlns:a16="http://schemas.microsoft.com/office/drawing/2014/main" id="{511EBCC2-B382-41B7-9640-082B88168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1987698229" name="Текст 101">
            <a:extLst>
              <a:ext uri="{FF2B5EF4-FFF2-40B4-BE49-F238E27FC236}">
                <a16:creationId xmlns:a16="http://schemas.microsoft.com/office/drawing/2014/main" id="{5FA91706-4072-4D8E-A14A-58E9B5A097C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895190219" name="Текст 74">
            <a:extLst>
              <a:ext uri="{FF2B5EF4-FFF2-40B4-BE49-F238E27FC236}">
                <a16:creationId xmlns:a16="http://schemas.microsoft.com/office/drawing/2014/main" id="{460BDC63-2543-49A1-9430-AD65FC6809B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052752032" name="Текст 74">
            <a:extLst>
              <a:ext uri="{FF2B5EF4-FFF2-40B4-BE49-F238E27FC236}">
                <a16:creationId xmlns:a16="http://schemas.microsoft.com/office/drawing/2014/main" id="{3059371F-3522-49D2-A4E5-46769179803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904910988" name="Текст 74">
            <a:extLst>
              <a:ext uri="{FF2B5EF4-FFF2-40B4-BE49-F238E27FC236}">
                <a16:creationId xmlns:a16="http://schemas.microsoft.com/office/drawing/2014/main" id="{EDDD1724-992A-4B8C-875C-FBAC01FA7E66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90420588" name="Текст 74">
            <a:extLst>
              <a:ext uri="{FF2B5EF4-FFF2-40B4-BE49-F238E27FC236}">
                <a16:creationId xmlns:a16="http://schemas.microsoft.com/office/drawing/2014/main" id="{35DB85AA-3942-4BAC-9478-4BAF332869F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662738659" name="Текст 74">
            <a:extLst>
              <a:ext uri="{FF2B5EF4-FFF2-40B4-BE49-F238E27FC236}">
                <a16:creationId xmlns:a16="http://schemas.microsoft.com/office/drawing/2014/main" id="{CC4E10AA-69E6-4E07-B31B-D37ABE2D2C3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74166" name="Дата 3">
            <a:extLst>
              <a:ext uri="{FF2B5EF4-FFF2-40B4-BE49-F238E27FC236}">
                <a16:creationId xmlns:a16="http://schemas.microsoft.com/office/drawing/2014/main" id="{05EEA340-95FD-46E6-AF1B-58F1A7883D0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918308502" name="Нижний колонтитул 4">
            <a:extLst>
              <a:ext uri="{FF2B5EF4-FFF2-40B4-BE49-F238E27FC236}">
                <a16:creationId xmlns:a16="http://schemas.microsoft.com/office/drawing/2014/main" id="{D3337F06-0A9A-4D7C-99CB-B9C166E593F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883127693" name="Номер слайда 5">
            <a:extLst>
              <a:ext uri="{FF2B5EF4-FFF2-40B4-BE49-F238E27FC236}">
                <a16:creationId xmlns:a16="http://schemas.microsoft.com/office/drawing/2014/main" id="{89A7B990-E645-4DD6-92DD-0FA64D8DE89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980514437" name="Заголовок 1">
            <a:extLst>
              <a:ext uri="{FF2B5EF4-FFF2-40B4-BE49-F238E27FC236}">
                <a16:creationId xmlns:a16="http://schemas.microsoft.com/office/drawing/2014/main" id="{5A54B76C-0D36-4595-B336-F3685143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111029925" name="Текст 7">
            <a:extLst>
              <a:ext uri="{FF2B5EF4-FFF2-40B4-BE49-F238E27FC236}">
                <a16:creationId xmlns:a16="http://schemas.microsoft.com/office/drawing/2014/main" id="{E776CA3F-6662-4F9B-9AF8-1E448BCB025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endParaRPr/>
          </a:p>
        </p:txBody>
      </p:sp>
      <p:sp>
        <p:nvSpPr>
          <p:cNvPr id="1910541960" name="Текст 7">
            <a:extLst>
              <a:ext uri="{FF2B5EF4-FFF2-40B4-BE49-F238E27FC236}">
                <a16:creationId xmlns:a16="http://schemas.microsoft.com/office/drawing/2014/main" id="{F6D652B1-B327-4B5F-B09B-694505DBAF6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endParaRPr/>
          </a:p>
        </p:txBody>
      </p:sp>
      <p:sp>
        <p:nvSpPr>
          <p:cNvPr id="1833265982" name="Picture Placeholder 1">
            <a:extLst>
              <a:ext uri="{FF2B5EF4-FFF2-40B4-BE49-F238E27FC236}">
                <a16:creationId xmlns:a16="http://schemas.microsoft.com/office/drawing/2014/main" id="{313F8B68-2FFA-4D65-BFBA-D63792EC949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  <p:txBody>
          <a:bodyPr/>
          <a:lstStyle/>
          <a:p>
            <a:endParaRPr/>
          </a:p>
        </p:txBody>
      </p:sp>
      <p:sp>
        <p:nvSpPr>
          <p:cNvPr id="1416203939" name="Picture Placeholder 1">
            <a:extLst>
              <a:ext uri="{FF2B5EF4-FFF2-40B4-BE49-F238E27FC236}">
                <a16:creationId xmlns:a16="http://schemas.microsoft.com/office/drawing/2014/main" id="{95A0503F-5CC0-4A08-A046-404C0F85AC79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68135" name="Дата 3">
            <a:extLst>
              <a:ext uri="{FF2B5EF4-FFF2-40B4-BE49-F238E27FC236}">
                <a16:creationId xmlns:a16="http://schemas.microsoft.com/office/drawing/2014/main" id="{B3393866-7E06-416C-96B0-3EEECEE3C22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5394256" name="Нижний колонтитул 4">
            <a:extLst>
              <a:ext uri="{FF2B5EF4-FFF2-40B4-BE49-F238E27FC236}">
                <a16:creationId xmlns:a16="http://schemas.microsoft.com/office/drawing/2014/main" id="{67F6FBD7-9CAC-4FBE-972A-5A25C40D637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823555330" name="Номер слайда 5">
            <a:extLst>
              <a:ext uri="{FF2B5EF4-FFF2-40B4-BE49-F238E27FC236}">
                <a16:creationId xmlns:a16="http://schemas.microsoft.com/office/drawing/2014/main" id="{4759B90B-3F39-4A02-ADD6-B37967C2B40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21036104" name="Текст 6">
            <a:extLst>
              <a:ext uri="{FF2B5EF4-FFF2-40B4-BE49-F238E27FC236}">
                <a16:creationId xmlns:a16="http://schemas.microsoft.com/office/drawing/2014/main" id="{D39595B5-6514-43C8-94C7-B8C373E79461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911965720" name="Текст 9">
            <a:extLst>
              <a:ext uri="{FF2B5EF4-FFF2-40B4-BE49-F238E27FC236}">
                <a16:creationId xmlns:a16="http://schemas.microsoft.com/office/drawing/2014/main" id="{CA9F0FF0-7C55-4C1E-9ACB-0F4E73A31969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endParaRPr/>
          </a:p>
        </p:txBody>
      </p:sp>
      <p:sp>
        <p:nvSpPr>
          <p:cNvPr id="2031487566" name="Текст 6">
            <a:extLst>
              <a:ext uri="{FF2B5EF4-FFF2-40B4-BE49-F238E27FC236}">
                <a16:creationId xmlns:a16="http://schemas.microsoft.com/office/drawing/2014/main" id="{C4E68AF0-3F0E-4941-BEC3-6D54BD3CC436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17228320" name="Текст 9">
            <a:extLst>
              <a:ext uri="{FF2B5EF4-FFF2-40B4-BE49-F238E27FC236}">
                <a16:creationId xmlns:a16="http://schemas.microsoft.com/office/drawing/2014/main" id="{615DE5E5-C17C-4E2F-B5B8-FC9BFD1C9C28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endParaRPr/>
          </a:p>
        </p:txBody>
      </p:sp>
      <p:sp>
        <p:nvSpPr>
          <p:cNvPr id="1627804771" name="Текст 6">
            <a:extLst>
              <a:ext uri="{FF2B5EF4-FFF2-40B4-BE49-F238E27FC236}">
                <a16:creationId xmlns:a16="http://schemas.microsoft.com/office/drawing/2014/main" id="{0779E3F2-4875-4013-8FF4-79CEFC01D58A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39280963" name="Текст 9">
            <a:extLst>
              <a:ext uri="{FF2B5EF4-FFF2-40B4-BE49-F238E27FC236}">
                <a16:creationId xmlns:a16="http://schemas.microsoft.com/office/drawing/2014/main" id="{1D0E5BDB-896E-4F97-972C-0B6BA8D0055C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endParaRPr/>
          </a:p>
        </p:txBody>
      </p:sp>
      <p:sp>
        <p:nvSpPr>
          <p:cNvPr id="1698471341" name="Текст 6">
            <a:extLst>
              <a:ext uri="{FF2B5EF4-FFF2-40B4-BE49-F238E27FC236}">
                <a16:creationId xmlns:a16="http://schemas.microsoft.com/office/drawing/2014/main" id="{51F05275-11E4-4A79-B3F4-8A9376050EB7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432133208" name="Текст 9">
            <a:extLst>
              <a:ext uri="{FF2B5EF4-FFF2-40B4-BE49-F238E27FC236}">
                <a16:creationId xmlns:a16="http://schemas.microsoft.com/office/drawing/2014/main" id="{AEAF4594-970A-4C2B-BE42-D511F99A4EF6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endParaRPr/>
          </a:p>
        </p:txBody>
      </p:sp>
      <p:sp>
        <p:nvSpPr>
          <p:cNvPr id="239681670" name="Текст 6">
            <a:extLst>
              <a:ext uri="{FF2B5EF4-FFF2-40B4-BE49-F238E27FC236}">
                <a16:creationId xmlns:a16="http://schemas.microsoft.com/office/drawing/2014/main" id="{522DC871-ABC2-4A98-88A5-7281B9AE541F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2026132021" name="Текст 9">
            <a:extLst>
              <a:ext uri="{FF2B5EF4-FFF2-40B4-BE49-F238E27FC236}">
                <a16:creationId xmlns:a16="http://schemas.microsoft.com/office/drawing/2014/main" id="{F77AEE7E-2DDD-414E-AFFD-EBBA48F653A9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endParaRPr/>
          </a:p>
        </p:txBody>
      </p:sp>
      <p:sp>
        <p:nvSpPr>
          <p:cNvPr id="1303767765" name="Текст 6">
            <a:extLst>
              <a:ext uri="{FF2B5EF4-FFF2-40B4-BE49-F238E27FC236}">
                <a16:creationId xmlns:a16="http://schemas.microsoft.com/office/drawing/2014/main" id="{B5AFA2FC-AD6F-48DC-80E8-0A7F18B9B37C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435951001" name="Текст 9">
            <a:extLst>
              <a:ext uri="{FF2B5EF4-FFF2-40B4-BE49-F238E27FC236}">
                <a16:creationId xmlns:a16="http://schemas.microsoft.com/office/drawing/2014/main" id="{7B62DBC4-0CAE-4C84-A972-9D9908C5BA28}"/>
              </a:ext>
            </a:extLst>
          </p:cNvPr>
          <p:cNvSpPr>
            <a:spLocks noGrp="1"/>
          </p:cNvSpPr>
          <p:nvPr>
            <p:ph type="body" idx="48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endParaRPr/>
          </a:p>
        </p:txBody>
      </p:sp>
      <p:sp>
        <p:nvSpPr>
          <p:cNvPr id="1644396402" name="Заголовок 1">
            <a:extLst>
              <a:ext uri="{FF2B5EF4-FFF2-40B4-BE49-F238E27FC236}">
                <a16:creationId xmlns:a16="http://schemas.microsoft.com/office/drawing/2014/main" id="{3398F11F-0203-404E-BF5B-158D61D4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2129732026" name="Текст 6">
            <a:extLst>
              <a:ext uri="{FF2B5EF4-FFF2-40B4-BE49-F238E27FC236}">
                <a16:creationId xmlns:a16="http://schemas.microsoft.com/office/drawing/2014/main" id="{9734250B-432E-4AF8-BE4B-9EFB80673F5E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792554269" name="Текст 6">
            <a:extLst>
              <a:ext uri="{FF2B5EF4-FFF2-40B4-BE49-F238E27FC236}">
                <a16:creationId xmlns:a16="http://schemas.microsoft.com/office/drawing/2014/main" id="{53A10994-4B97-4DC2-B692-3CD30FABDE59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58623427" name="Текст 6">
            <a:extLst>
              <a:ext uri="{FF2B5EF4-FFF2-40B4-BE49-F238E27FC236}">
                <a16:creationId xmlns:a16="http://schemas.microsoft.com/office/drawing/2014/main" id="{75211F75-1083-4C31-BD60-53858C7DC64C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247433775" name="Текст 6">
            <a:extLst>
              <a:ext uri="{FF2B5EF4-FFF2-40B4-BE49-F238E27FC236}">
                <a16:creationId xmlns:a16="http://schemas.microsoft.com/office/drawing/2014/main" id="{7FC62CA3-F310-45EA-BD1E-A1B5068ED0FC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931453761" name="Текст 6">
            <a:extLst>
              <a:ext uri="{FF2B5EF4-FFF2-40B4-BE49-F238E27FC236}">
                <a16:creationId xmlns:a16="http://schemas.microsoft.com/office/drawing/2014/main" id="{33ACAE5C-168F-4609-B839-FF2AC65AA95F}"/>
              </a:ext>
            </a:extLst>
          </p:cNvPr>
          <p:cNvSpPr>
            <a:spLocks noGrp="1"/>
          </p:cNvSpPr>
          <p:nvPr>
            <p:ph type="body" idx="53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268861536" name="Текст 6">
            <a:extLst>
              <a:ext uri="{FF2B5EF4-FFF2-40B4-BE49-F238E27FC236}">
                <a16:creationId xmlns:a16="http://schemas.microsoft.com/office/drawing/2014/main" id="{8EEB3320-E91C-465D-ADE2-5BACA529C868}"/>
              </a:ext>
            </a:extLst>
          </p:cNvPr>
          <p:cNvSpPr>
            <a:spLocks noGrp="1"/>
          </p:cNvSpPr>
          <p:nvPr>
            <p:ph type="body" idx="54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phClr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701549" name="Заголовок 1">
            <a:extLst>
              <a:ext uri="{FF2B5EF4-FFF2-40B4-BE49-F238E27FC236}">
                <a16:creationId xmlns:a16="http://schemas.microsoft.com/office/drawing/2014/main" id="{09262EDD-EF1F-48FB-B7E5-872C6C5E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endParaRPr/>
          </a:p>
        </p:txBody>
      </p:sp>
      <p:sp>
        <p:nvSpPr>
          <p:cNvPr id="1380632633" name="Текст 2">
            <a:extLst>
              <a:ext uri="{FF2B5EF4-FFF2-40B4-BE49-F238E27FC236}">
                <a16:creationId xmlns:a16="http://schemas.microsoft.com/office/drawing/2014/main" id="{687D28CB-B2B9-473C-9D1E-1C5E3A84B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78196198" name="Дата 3">
            <a:extLst>
              <a:ext uri="{FF2B5EF4-FFF2-40B4-BE49-F238E27FC236}">
                <a16:creationId xmlns:a16="http://schemas.microsoft.com/office/drawing/2014/main" id="{EF8ABE1A-37BD-4A70-BF01-6CFB94F8BDF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008124130" name="Нижний колонтитул 4">
            <a:extLst>
              <a:ext uri="{FF2B5EF4-FFF2-40B4-BE49-F238E27FC236}">
                <a16:creationId xmlns:a16="http://schemas.microsoft.com/office/drawing/2014/main" id="{1CF5DDCD-8954-48FA-A897-52731B214C7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68617823" name="Номер слайда 5">
            <a:extLst>
              <a:ext uri="{FF2B5EF4-FFF2-40B4-BE49-F238E27FC236}">
                <a16:creationId xmlns:a16="http://schemas.microsoft.com/office/drawing/2014/main" id="{F5994668-2B69-4459-8A2F-3760B99518B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marL="144688" indent="-144688" algn="l">
        <a:lnSpc>
          <a:spcPct val="90000"/>
        </a:lnSpc>
        <a:spcBef>
          <a:spcPts val="631"/>
        </a:spcBef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marL="434067" indent="-144688" algn="l">
        <a:lnSpc>
          <a:spcPct val="90000"/>
        </a:lnSpc>
        <a:spcBef>
          <a:spcPts val="317"/>
        </a:spcBef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marL="723445" indent="-144688" algn="l">
        <a:lnSpc>
          <a:spcPct val="90000"/>
        </a:lnSpc>
        <a:spcBef>
          <a:spcPts val="317"/>
        </a:spcBef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marL="1012822" indent="-144688" algn="l">
        <a:lnSpc>
          <a:spcPct val="90000"/>
        </a:lnSpc>
        <a:spcBef>
          <a:spcPts val="317"/>
        </a:spcBef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marL="1302200" indent="-144688" algn="l">
        <a:lnSpc>
          <a:spcPct val="90000"/>
        </a:lnSpc>
        <a:spcBef>
          <a:spcPts val="317"/>
        </a:spcBef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marL="1591575" indent="-144688" algn="l">
        <a:lnSpc>
          <a:spcPct val="90000"/>
        </a:lnSpc>
        <a:spcBef>
          <a:spcPts val="317"/>
        </a:spcBef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marL="1880955" indent="-144688" algn="l">
        <a:lnSpc>
          <a:spcPct val="90000"/>
        </a:lnSpc>
        <a:spcBef>
          <a:spcPts val="317"/>
        </a:spcBef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marL="2170334" indent="-144688" algn="l">
        <a:lnSpc>
          <a:spcPct val="90000"/>
        </a:lnSpc>
        <a:spcBef>
          <a:spcPts val="317"/>
        </a:spcBef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marL="2459712" indent="-144688" algn="l">
        <a:lnSpc>
          <a:spcPct val="90000"/>
        </a:lnSpc>
        <a:spcBef>
          <a:spcPts val="317"/>
        </a:spcBef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marL="289378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marL="578755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marL="868132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marL="1157510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marL="1446887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marL="1736266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marL="2025644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marL="2315021" algn="l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83509" name="Заголовок 2">
            <a:extLst>
              <a:ext uri="{FF2B5EF4-FFF2-40B4-BE49-F238E27FC236}">
                <a16:creationId xmlns:a16="http://schemas.microsoft.com/office/drawing/2014/main" id="{6FBC749D-176C-4DF9-86ED-74B09FEF5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buNone/>
            </a:pPr>
            <a:endParaRPr/>
          </a:p>
        </p:txBody>
      </p:sp>
      <p:sp>
        <p:nvSpPr>
          <p:cNvPr id="1594403179" name="Рисунок 3">
            <a:extLst>
              <a:ext uri="{FF2B5EF4-FFF2-40B4-BE49-F238E27FC236}">
                <a16:creationId xmlns:a16="http://schemas.microsoft.com/office/drawing/2014/main" id="{78C8AABD-BB9C-45E4-AD3E-6DFD6422DF12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646630029" name="Текст 4">
            <a:extLst>
              <a:ext uri="{FF2B5EF4-FFF2-40B4-BE49-F238E27FC236}">
                <a16:creationId xmlns:a16="http://schemas.microsoft.com/office/drawing/2014/main" id="{30EC438E-FDF0-4BE5-92FE-2566D4F062A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buNone/>
            </a:pPr>
            <a:endParaRPr/>
          </a:p>
        </p:txBody>
      </p:sp>
      <p:sp>
        <p:nvSpPr>
          <p:cNvPr id="885283452" name="Скругленный прямоугольник 1">
            <a:extLst>
              <a:ext uri="{FF2B5EF4-FFF2-40B4-BE49-F238E27FC236}">
                <a16:creationId xmlns:a16="http://schemas.microsoft.com/office/drawing/2014/main" id="{4857433D-9B12-4A90-A5B0-1055FFAC9AED}"/>
              </a:ext>
            </a:extLst>
          </p:cNvPr>
          <p:cNvSpPr>
            <a:spLocks noGrp="1"/>
          </p:cNvSpPr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>
            <a:solidFill>
              <a:schemeClr val="accent2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pic>
        <p:nvPicPr>
          <p:cNvPr id="1594403182" name="Рисунок 159440318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94403183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25" y="219104"/>
            <a:ext cx="2630405" cy="944129"/>
          </a:xfrm>
          <a:prstGeom prst="rect">
            <a:avLst/>
          </a:prstGeom>
        </p:spPr>
      </p:pic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8B96A1FC-A7FD-D4A8-B5D1-F31CE3D113D2}"/>
              </a:ext>
            </a:extLst>
          </p:cNvPr>
          <p:cNvSpPr>
            <a:spLocks noGrp="1"/>
          </p:cNvSpPr>
          <p:nvPr/>
        </p:nvSpPr>
        <p:spPr>
          <a:xfrm>
            <a:off x="305186" y="4246891"/>
            <a:ext cx="7181464" cy="1354366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Autofit/>
          </a:bodyPr>
          <a:lstStyle>
            <a:lvl1pPr marL="0" indent="712788" algn="l">
              <a:lnSpc>
                <a:spcPct val="90000"/>
              </a:lnSpc>
              <a:spcBef>
                <a:spcPts val="0"/>
              </a:spcBef>
              <a:buNone/>
              <a:defRPr sz="2800" b="1">
                <a:solidFill>
                  <a:schemeClr val="bg1">
                    <a:lumMod val="9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marL="268288" indent="0">
              <a:buNone/>
            </a:pPr>
            <a:r>
              <a:rPr sz="4800">
                <a:latin typeface="Montserrat"/>
                <a:ea typeface="Montserrat"/>
                <a:cs typeface="Montserrat"/>
              </a:rPr>
              <a:t>Команда «Клод Кот»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35EE0-A61D-CFC0-8E65-9BFEC07CD3E6}"/>
              </a:ext>
            </a:extLst>
          </p:cNvPr>
          <p:cNvSpPr>
            <a:spLocks noGrp="1"/>
          </p:cNvSpPr>
          <p:nvPr/>
        </p:nvSpPr>
        <p:spPr>
          <a:xfrm>
            <a:off x="122299" y="5881868"/>
            <a:ext cx="11122349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90000"/>
              </a:lnSpc>
              <a:buNone/>
            </a:pPr>
            <a:r>
              <a:rPr sz="2400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Задача 8. Сервис прогнозирования аварий и управления ремонтными работами инженерных коллекторов Москвы</a:t>
            </a:r>
          </a:p>
        </p:txBody>
      </p:sp>
    </p:spTree>
    <p:extLst>
      <p:ext uri="{BB962C8B-B14F-4D97-AF65-F5344CB8AC3E}">
        <p14:creationId xmlns:p14="http://schemas.microsoft.com/office/powerpoint/2010/main" val="767414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33961" name="Прямоугольник 2">
            <a:extLst>
              <a:ext uri="{FF2B5EF4-FFF2-40B4-BE49-F238E27FC236}">
                <a16:creationId xmlns:a16="http://schemas.microsoft.com/office/drawing/2014/main" id="{EA0FEE3D-0767-4F10-B144-BED6A695C8BC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986876214" name="Текст 8">
            <a:extLst>
              <a:ext uri="{FF2B5EF4-FFF2-40B4-BE49-F238E27FC236}">
                <a16:creationId xmlns:a16="http://schemas.microsoft.com/office/drawing/2014/main" id="{FD7743CD-CF90-4759-9CCC-5C9149038F52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Краткое описание решения:</a:t>
            </a:r>
          </a:p>
        </p:txBody>
      </p:sp>
      <p:sp>
        <p:nvSpPr>
          <p:cNvPr id="1644674987" name="Текст 8">
            <a:extLst>
              <a:ext uri="{FF2B5EF4-FFF2-40B4-BE49-F238E27FC236}">
                <a16:creationId xmlns:a16="http://schemas.microsoft.com/office/drawing/2014/main" id="{A9539166-A8FA-4F62-A72B-61004DA54188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6447157" name="Текст 8">
            <a:extLst>
              <a:ext uri="{FF2B5EF4-FFF2-40B4-BE49-F238E27FC236}">
                <a16:creationId xmlns:a16="http://schemas.microsoft.com/office/drawing/2014/main" id="{B962BE61-FD45-4437-A65D-956C8CCA07BC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Капитан: Козлов Роман, аналитик-разработчик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Кол-во участников: 2 человека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Краткое описание: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Мы – друзья и коллеги по работе, вместе занимаемся разработкой и внедрением ИИ сервисов в разных прикладных областях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Город и регион: Москва</a:t>
            </a:r>
          </a:p>
        </p:txBody>
      </p:sp>
      <p:sp>
        <p:nvSpPr>
          <p:cNvPr id="1199898788" name="Текст 8">
            <a:extLst>
              <a:ext uri="{FF2B5EF4-FFF2-40B4-BE49-F238E27FC236}">
                <a16:creationId xmlns:a16="http://schemas.microsoft.com/office/drawing/2014/main" id="{FE831347-9881-45CF-9B2E-62D74B9D3EA5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О команде</a:t>
            </a:r>
          </a:p>
        </p:txBody>
      </p:sp>
      <p:sp>
        <p:nvSpPr>
          <p:cNvPr id="1422819176" name="Заголовок 6">
            <a:extLst>
              <a:ext uri="{FF2B5EF4-FFF2-40B4-BE49-F238E27FC236}">
                <a16:creationId xmlns:a16="http://schemas.microsoft.com/office/drawing/2014/main" id="{ACAC97B1-FEB9-4456-A8BE-1F487903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4762500" cy="1015128"/>
          </a:xfrm>
        </p:spPr>
        <p:txBody>
          <a:bodyPr/>
          <a:lstStyle/>
          <a:p>
            <a:r>
              <a:rPr sz="240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Команда «Клод Кот»</a:t>
            </a:r>
          </a:p>
        </p:txBody>
      </p:sp>
      <p:sp>
        <p:nvSpPr>
          <p:cNvPr id="1266731056" name="Прямая соединительная линия 6">
            <a:extLst>
              <a:ext uri="{FF2B5EF4-FFF2-40B4-BE49-F238E27FC236}">
                <a16:creationId xmlns:a16="http://schemas.microsoft.com/office/drawing/2014/main" id="{1E1CAE44-0EE1-42D9-98EB-B49B067413E4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109439940" name="Прямая соединительная линия 15">
            <a:extLst>
              <a:ext uri="{FF2B5EF4-FFF2-40B4-BE49-F238E27FC236}">
                <a16:creationId xmlns:a16="http://schemas.microsoft.com/office/drawing/2014/main" id="{AD6B48AD-77A2-47C2-A9F3-73185DFD6DE2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06729047" name="Прямая соединительная линия 16">
            <a:extLst>
              <a:ext uri="{FF2B5EF4-FFF2-40B4-BE49-F238E27FC236}">
                <a16:creationId xmlns:a16="http://schemas.microsoft.com/office/drawing/2014/main" id="{AEE88D93-56B4-4342-BE3E-67897D7D981B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58226374" name="Текст 8">
            <a:extLst>
              <a:ext uri="{FF2B5EF4-FFF2-40B4-BE49-F238E27FC236}">
                <a16:creationId xmlns:a16="http://schemas.microsoft.com/office/drawing/2014/main" id="{5B35C3DA-C5F8-4DAA-86D6-25FCBAAD5798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Уникальность решения:</a:t>
            </a:r>
          </a:p>
        </p:txBody>
      </p:sp>
      <p:sp>
        <p:nvSpPr>
          <p:cNvPr id="187766852" name="Текст 8">
            <a:extLst>
              <a:ext uri="{FF2B5EF4-FFF2-40B4-BE49-F238E27FC236}">
                <a16:creationId xmlns:a16="http://schemas.microsoft.com/office/drawing/2014/main" id="{EAE15667-27B7-4750-8438-7C5F4AC8D254}"/>
              </a:ext>
            </a:extLst>
          </p:cNvPr>
          <p:cNvSpPr>
            <a:spLocks noGrp="1"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1122687443" name="Номер слайда 35">
            <a:extLst>
              <a:ext uri="{FF2B5EF4-FFF2-40B4-BE49-F238E27FC236}">
                <a16:creationId xmlns:a16="http://schemas.microsoft.com/office/drawing/2014/main" id="{978EA3BE-7301-4E05-A48D-923AF9118DE3}"/>
              </a:ext>
            </a:extLst>
          </p:cNvPr>
          <p:cNvSpPr>
            <a:spLocks noGrp="1"/>
          </p:cNvSpPr>
          <p:nvPr/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pic>
        <p:nvPicPr>
          <p:cNvPr id="2109439945" name="Pictur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43075" y="0"/>
            <a:ext cx="2971800" cy="2971800"/>
          </a:xfrm>
          <a:prstGeom prst="rect">
            <a:avLst/>
          </a:prstGeom>
        </p:spPr>
      </p:pic>
      <p:sp>
        <p:nvSpPr>
          <p:cNvPr id="2109439942" name="Прямоугольник 2109439941">
            <a:extLst>
              <a:ext uri="{FF2B5EF4-FFF2-40B4-BE49-F238E27FC236}">
                <a16:creationId xmlns:a16="http://schemas.microsoft.com/office/drawing/2014/main" id="{CA6671EE-759F-43E8-99C2-CFBC3E0B3404}"/>
              </a:ext>
            </a:extLst>
          </p:cNvPr>
          <p:cNvSpPr>
            <a:spLocks noGrp="1"/>
          </p:cNvSpPr>
          <p:nvPr/>
        </p:nvSpPr>
        <p:spPr>
          <a:xfrm>
            <a:off x="6819900" y="2752725"/>
            <a:ext cx="4905375" cy="1438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CRM для эксплуатации коллекторов объединяет реестр объектов и датчиков, дашборд, карту, прогнозы и задания техникам. Диспетчер видит риск и организует превентивную проверку.</a:t>
            </a:r>
          </a:p>
        </p:txBody>
      </p:sp>
      <p:sp>
        <p:nvSpPr>
          <p:cNvPr id="2109439943" name="Прямоугольник 2109439942">
            <a:extLst>
              <a:ext uri="{FF2B5EF4-FFF2-40B4-BE49-F238E27FC236}">
                <a16:creationId xmlns:a16="http://schemas.microsoft.com/office/drawing/2014/main" id="{5027BAC9-8FDB-42AE-8BF2-25C3FD1F5BB3}"/>
              </a:ext>
            </a:extLst>
          </p:cNvPr>
          <p:cNvSpPr>
            <a:spLocks noGrp="1"/>
          </p:cNvSpPr>
          <p:nvPr/>
        </p:nvSpPr>
        <p:spPr>
          <a:xfrm>
            <a:off x="6819900" y="4981575"/>
            <a:ext cx="4905375" cy="1438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Две отдельные модели для насосов и вентиляции оценивают риск повторного тревожного «Неисправен» в дни 1–30. Прогноз сразу связан с объектом, датчиком и процессом обслуживания.</a:t>
            </a:r>
          </a:p>
        </p:txBody>
      </p:sp>
    </p:spTree>
    <p:extLst>
      <p:ext uri="{BB962C8B-B14F-4D97-AF65-F5344CB8AC3E}">
        <p14:creationId xmlns:p14="http://schemas.microsoft.com/office/powerpoint/2010/main" val="2028265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340836" name="Скругленный прямоугольник 16">
            <a:extLst>
              <a:ext uri="{FF2B5EF4-FFF2-40B4-BE49-F238E27FC236}">
                <a16:creationId xmlns:a16="http://schemas.microsoft.com/office/drawing/2014/main" id="{69AF123F-F91B-4579-9E21-C483E3287D41}"/>
              </a:ext>
            </a:extLst>
          </p:cNvPr>
          <p:cNvSpPr>
            <a:spLocks noGrp="1"/>
          </p:cNvSpPr>
          <p:nvPr/>
        </p:nvSpPr>
        <p:spPr>
          <a:xfrm>
            <a:off x="3202373" y="1411250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4456897" name="Скругленный прямоугольник 12">
            <a:extLst>
              <a:ext uri="{FF2B5EF4-FFF2-40B4-BE49-F238E27FC236}">
                <a16:creationId xmlns:a16="http://schemas.microsoft.com/office/drawing/2014/main" id="{3125CF29-2036-4E82-9F8F-4AFD8FACE637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901154593" name="Заголовок 6">
            <a:extLst>
              <a:ext uri="{FF2B5EF4-FFF2-40B4-BE49-F238E27FC236}">
                <a16:creationId xmlns:a16="http://schemas.microsoft.com/office/drawing/2014/main" id="{DF5C5F5B-F16A-4387-9C47-58E48D640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pPr>
              <a:buNone/>
            </a:pPr>
            <a:r>
              <a:rPr>
                <a:latin typeface="Montserrat"/>
                <a:ea typeface="Montserrat"/>
                <a:cs typeface="Montserrat"/>
              </a:rPr>
              <a:t>Состав команды</a:t>
            </a:r>
          </a:p>
        </p:txBody>
      </p:sp>
      <p:sp>
        <p:nvSpPr>
          <p:cNvPr id="168448375" name="Текст 8">
            <a:extLst>
              <a:ext uri="{FF2B5EF4-FFF2-40B4-BE49-F238E27FC236}">
                <a16:creationId xmlns:a16="http://schemas.microsoft.com/office/drawing/2014/main" id="{61E5F46E-8C4F-4673-A323-6397A627773D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351552" y="3934109"/>
            <a:ext cx="1894354" cy="162461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2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Data Scientist</a:t>
            </a:r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2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@rokokzk</a:t>
            </a:r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2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+7 925 865 7136</a:t>
            </a:r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2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ГКУ «Новые технологии управления»</a:t>
            </a:r>
          </a:p>
        </p:txBody>
      </p:sp>
      <p:sp>
        <p:nvSpPr>
          <p:cNvPr id="1002081194" name="Текст 8">
            <a:extLst>
              <a:ext uri="{FF2B5EF4-FFF2-40B4-BE49-F238E27FC236}">
                <a16:creationId xmlns:a16="http://schemas.microsoft.com/office/drawing/2014/main" id="{817CBC19-05DF-4B0F-A172-EA7573F74A34}"/>
              </a:ext>
            </a:extLst>
          </p:cNvPr>
          <p:cNvSpPr>
            <a:spLocks noGrp="1"/>
          </p:cNvSpPr>
          <p:nvPr/>
        </p:nvSpPr>
        <p:spPr>
          <a:xfrm>
            <a:off x="3335374" y="3360987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Козлов Роман</a:t>
            </a:r>
          </a:p>
        </p:txBody>
      </p:sp>
      <p:pic>
        <p:nvPicPr>
          <p:cNvPr id="1901154596" name="Picture 2"/>
          <p:cNvPicPr>
            <a:picLocks noChangeAspect="1"/>
          </p:cNvPicPr>
          <p:nvPr/>
        </p:nvPicPr>
        <p:blipFill>
          <a:blip r:embed="rId4"/>
          <a:srcRect t="4931" b="4931"/>
          <a:stretch>
            <a:fillRect/>
          </a:stretch>
        </p:blipFill>
        <p:spPr>
          <a:xfrm>
            <a:off x="3437076" y="1690688"/>
            <a:ext cx="1722437" cy="1552575"/>
          </a:xfrm>
          <a:prstGeom prst="rect">
            <a:avLst/>
          </a:prstGeom>
        </p:spPr>
      </p:pic>
      <p:sp>
        <p:nvSpPr>
          <p:cNvPr id="7" name="Скругленный прямоугольник 16">
            <a:extLst>
              <a:ext uri="{FF2B5EF4-FFF2-40B4-BE49-F238E27FC236}">
                <a16:creationId xmlns:a16="http://schemas.microsoft.com/office/drawing/2014/main" id="{7C3C1967-9DED-7BFD-C169-0B2CCB542609}"/>
              </a:ext>
            </a:extLst>
          </p:cNvPr>
          <p:cNvSpPr>
            <a:spLocks noGrp="1"/>
          </p:cNvSpPr>
          <p:nvPr/>
        </p:nvSpPr>
        <p:spPr>
          <a:xfrm>
            <a:off x="5849739" y="1411250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376994C8-120F-E03D-A87F-0898F402AB81}"/>
              </a:ext>
            </a:extLst>
          </p:cNvPr>
          <p:cNvSpPr>
            <a:spLocks noGrp="1"/>
          </p:cNvSpPr>
          <p:nvPr/>
        </p:nvSpPr>
        <p:spPr>
          <a:xfrm>
            <a:off x="5998918" y="3934109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Char char="•"/>
            </a:pPr>
            <a:r>
              <a:rPr sz="12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Dev Ops</a:t>
            </a:r>
          </a:p>
          <a:p>
            <a:pPr>
              <a:spcBef>
                <a:spcPts val="0"/>
              </a:spcBef>
              <a:buChar char="•"/>
            </a:pPr>
            <a:r>
              <a:rPr sz="12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@whatdoyouwant</a:t>
            </a:r>
          </a:p>
          <a:p>
            <a:pPr>
              <a:spcBef>
                <a:spcPts val="0"/>
              </a:spcBef>
              <a:buChar char="•"/>
            </a:pPr>
            <a:r>
              <a:rPr sz="12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+7 964 765 6886</a:t>
            </a:r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2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ГКУ «Новые технологии управления»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0F8AF5F-0A34-B98C-7487-99D6E22D0B87}"/>
              </a:ext>
            </a:extLst>
          </p:cNvPr>
          <p:cNvSpPr>
            <a:spLocks noGrp="1"/>
          </p:cNvSpPr>
          <p:nvPr/>
        </p:nvSpPr>
        <p:spPr>
          <a:xfrm>
            <a:off x="5982740" y="3360987"/>
            <a:ext cx="191053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Колесник Андрей</a:t>
            </a:r>
          </a:p>
        </p:txBody>
      </p:sp>
      <p:pic>
        <p:nvPicPr>
          <p:cNvPr id="1901154600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5" b="16185"/>
          <a:stretch/>
        </p:blipFill>
        <p:spPr>
          <a:xfrm>
            <a:off x="6084442" y="1690688"/>
            <a:ext cx="1722437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6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400427" name="Скругленный прямоугольник 1">
            <a:extLst>
              <a:ext uri="{FF2B5EF4-FFF2-40B4-BE49-F238E27FC236}">
                <a16:creationId xmlns:a16="http://schemas.microsoft.com/office/drawing/2014/main" id="{9F41CE58-D49C-4874-A2BE-E577388ED221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391268180" name="Заголовок 6">
            <a:extLst>
              <a:ext uri="{FF2B5EF4-FFF2-40B4-BE49-F238E27FC236}">
                <a16:creationId xmlns:a16="http://schemas.microsoft.com/office/drawing/2014/main" id="{02AF6B3B-31E9-4BC2-91CA-17B830E1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pPr>
              <a:buNone/>
            </a:pPr>
            <a:r>
              <a:rPr b="0">
                <a:latin typeface="Montserrat"/>
                <a:ea typeface="Montserrat"/>
                <a:cs typeface="Montserrat"/>
              </a:rPr>
              <a:t>О команде</a:t>
            </a:r>
          </a:p>
        </p:txBody>
      </p:sp>
      <p:sp>
        <p:nvSpPr>
          <p:cNvPr id="377396755" name="Текст 8">
            <a:extLst>
              <a:ext uri="{FF2B5EF4-FFF2-40B4-BE49-F238E27FC236}">
                <a16:creationId xmlns:a16="http://schemas.microsoft.com/office/drawing/2014/main" id="{01D6D8C3-02EE-4778-986F-3EB60F3CAFD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6" y="1602274"/>
            <a:ext cx="11033553" cy="8850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Увидели рассылку на почте, посмотрели и оценили имеющиеся на конкурсе задачи, поняли что наш опыт может быть востребован. </a:t>
            </a:r>
          </a:p>
        </p:txBody>
      </p:sp>
      <p:sp>
        <p:nvSpPr>
          <p:cNvPr id="1354082575" name="Текст 8">
            <a:extLst>
              <a:ext uri="{FF2B5EF4-FFF2-40B4-BE49-F238E27FC236}">
                <a16:creationId xmlns:a16="http://schemas.microsoft.com/office/drawing/2014/main" id="{74EA9A53-C6B8-4C1D-8997-9ED14CCC3C7F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Краткая история команды:</a:t>
            </a:r>
          </a:p>
        </p:txBody>
      </p:sp>
      <p:sp>
        <p:nvSpPr>
          <p:cNvPr id="1530614448" name="Текст 8">
            <a:extLst>
              <a:ext uri="{FF2B5EF4-FFF2-40B4-BE49-F238E27FC236}">
                <a16:creationId xmlns:a16="http://schemas.microsoft.com/office/drawing/2014/main" id="{C9354286-7AF1-4F31-859F-9CA06DA03314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Было реально непросто найти нужные инсайты и подобрать удачные признаки для обучения моделей, приходилось делать множество экспериментов</a:t>
            </a:r>
          </a:p>
        </p:txBody>
      </p:sp>
      <p:sp>
        <p:nvSpPr>
          <p:cNvPr id="553646726" name="Текст 8">
            <a:extLst>
              <a:ext uri="{FF2B5EF4-FFF2-40B4-BE49-F238E27FC236}">
                <a16:creationId xmlns:a16="http://schemas.microsoft.com/office/drawing/2014/main" id="{A0ECC124-3E42-4FC2-ACC5-2DAE1BE7394D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С какими основными сложностями или вызовами </a:t>
            </a:r>
            <a:br/>
            <a:r>
              <a:rPr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вы столкнулись и как их преодолели?</a:t>
            </a:r>
          </a:p>
        </p:txBody>
      </p:sp>
      <p:sp>
        <p:nvSpPr>
          <p:cNvPr id="198988189" name="Текст 8">
            <a:extLst>
              <a:ext uri="{FF2B5EF4-FFF2-40B4-BE49-F238E27FC236}">
                <a16:creationId xmlns:a16="http://schemas.microsoft.com/office/drawing/2014/main" id="{E23B8E0F-0242-4A6C-B402-FB1C9858F220}"/>
              </a:ext>
            </a:extLst>
          </p:cNvPr>
          <p:cNvSpPr>
            <a:spLocks noGrp="1"/>
          </p:cNvSpPr>
          <p:nvPr/>
        </p:nvSpPr>
        <p:spPr>
          <a:xfrm>
            <a:off x="533607" y="3429001"/>
            <a:ext cx="11323431" cy="7321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Ранее вместе работали в учреждениях относящихся к сфере деятельности Комплекса городского хозяйства, предметная область близка нам</a:t>
            </a:r>
          </a:p>
        </p:txBody>
      </p:sp>
      <p:sp>
        <p:nvSpPr>
          <p:cNvPr id="944185799" name="Текст 8">
            <a:extLst>
              <a:ext uri="{FF2B5EF4-FFF2-40B4-BE49-F238E27FC236}">
                <a16:creationId xmlns:a16="http://schemas.microsoft.com/office/drawing/2014/main" id="{4EAF50D0-9076-42CC-AD38-38C5D2E30185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Почему вы выбрали именно эту задачу </a:t>
            </a:r>
            <a:br/>
            <a:r>
              <a:rPr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из предложенных на хакатоне?</a:t>
            </a:r>
          </a:p>
        </p:txBody>
      </p:sp>
      <p:sp>
        <p:nvSpPr>
          <p:cNvPr id="192279526" name="Прямая соединительная линия 4">
            <a:extLst>
              <a:ext uri="{FF2B5EF4-FFF2-40B4-BE49-F238E27FC236}">
                <a16:creationId xmlns:a16="http://schemas.microsoft.com/office/drawing/2014/main" id="{AB03396A-26F9-4890-9906-8CB54D757ABF}"/>
              </a:ext>
            </a:extLst>
          </p:cNvPr>
          <p:cNvSpPr>
            <a:spLocks noGrp="1"/>
          </p:cNvSpPr>
          <p:nvPr/>
        </p:nvSpPr>
        <p:spPr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20138908" name="Прямая соединительная линия 5">
            <a:extLst>
              <a:ext uri="{FF2B5EF4-FFF2-40B4-BE49-F238E27FC236}">
                <a16:creationId xmlns:a16="http://schemas.microsoft.com/office/drawing/2014/main" id="{6C788B6C-1529-40BB-9D91-07415C202D6E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45944149" name="Прямая соединительная линия 7">
            <a:extLst>
              <a:ext uri="{FF2B5EF4-FFF2-40B4-BE49-F238E27FC236}">
                <a16:creationId xmlns:a16="http://schemas.microsoft.com/office/drawing/2014/main" id="{27E249CE-9896-4811-976E-D7246EA84E3B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121164487" name="Текст 8">
            <a:extLst>
              <a:ext uri="{FF2B5EF4-FFF2-40B4-BE49-F238E27FC236}">
                <a16:creationId xmlns:a16="http://schemas.microsoft.com/office/drawing/2014/main" id="{AE975FB5-939D-411B-9010-EBB053F540A4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074105997" name="Текст 8">
            <a:extLst>
              <a:ext uri="{FF2B5EF4-FFF2-40B4-BE49-F238E27FC236}">
                <a16:creationId xmlns:a16="http://schemas.microsoft.com/office/drawing/2014/main" id="{02AA2D04-0E97-441A-A8E9-3B2915585BF9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2100053685" name="Текст 8">
            <a:extLst>
              <a:ext uri="{FF2B5EF4-FFF2-40B4-BE49-F238E27FC236}">
                <a16:creationId xmlns:a16="http://schemas.microsoft.com/office/drawing/2014/main" id="{6BB81FD0-9638-4FD4-861E-32BAB939E9B3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>
              <a:lnSpc>
                <a:spcPct val="90000"/>
              </a:lnSpc>
              <a:spcBef>
                <a:spcPts val="631"/>
              </a:spcBef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>
              <a:lnSpc>
                <a:spcPct val="90000"/>
              </a:lnSpc>
              <a:spcBef>
                <a:spcPts val="317"/>
              </a:spcBef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>
              <a:lnSpc>
                <a:spcPct val="90000"/>
              </a:lnSpc>
              <a:spcBef>
                <a:spcPts val="317"/>
              </a:spcBef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>
              <a:lnSpc>
                <a:spcPct val="90000"/>
              </a:lnSpc>
              <a:spcBef>
                <a:spcPts val="317"/>
              </a:spcBef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>
              <a:lnSpc>
                <a:spcPct val="90000"/>
              </a:lnSpc>
              <a:spcBef>
                <a:spcPts val="317"/>
              </a:spcBef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000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143007" name="Скругленный прямоугольник 9">
            <a:extLst>
              <a:ext uri="{FF2B5EF4-FFF2-40B4-BE49-F238E27FC236}">
                <a16:creationId xmlns:a16="http://schemas.microsoft.com/office/drawing/2014/main" id="{CD4EEEE4-F4D1-4613-873D-31F52C7ADE38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75005666" name="Скругленный прямоугольник 23">
            <a:extLst>
              <a:ext uri="{FF2B5EF4-FFF2-40B4-BE49-F238E27FC236}">
                <a16:creationId xmlns:a16="http://schemas.microsoft.com/office/drawing/2014/main" id="{43EAD626-09FA-4F1C-906F-4046940729F7}"/>
              </a:ext>
            </a:extLst>
          </p:cNvPr>
          <p:cNvSpPr>
            <a:spLocks noGrp="1"/>
          </p:cNvSpPr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42688480" name="Скругленный прямоугольник 26">
            <a:extLst>
              <a:ext uri="{FF2B5EF4-FFF2-40B4-BE49-F238E27FC236}">
                <a16:creationId xmlns:a16="http://schemas.microsoft.com/office/drawing/2014/main" id="{1879A3FC-F185-433A-ADEE-9DA747106CC2}"/>
              </a:ext>
            </a:extLst>
          </p:cNvPr>
          <p:cNvSpPr>
            <a:spLocks noGrp="1"/>
          </p:cNvSpPr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495969596" name="Заголовок 13">
            <a:extLst>
              <a:ext uri="{FF2B5EF4-FFF2-40B4-BE49-F238E27FC236}">
                <a16:creationId xmlns:a16="http://schemas.microsoft.com/office/drawing/2014/main" id="{F907B372-CAC3-4716-924F-92E0556D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pPr>
              <a:buNone/>
            </a:pPr>
            <a:r>
              <a:t>КОРОТКО О РЕШЕНИИ</a:t>
            </a:r>
          </a:p>
        </p:txBody>
      </p:sp>
      <p:sp>
        <p:nvSpPr>
          <p:cNvPr id="301771113" name="Текст 14">
            <a:extLst>
              <a:ext uri="{FF2B5EF4-FFF2-40B4-BE49-F238E27FC236}">
                <a16:creationId xmlns:a16="http://schemas.microsoft.com/office/drawing/2014/main" id="{9D7A8836-3C2D-477E-963C-A9447BEE5EEF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CRM для эксплуатации</a:t>
            </a:r>
          </a:p>
        </p:txBody>
      </p:sp>
      <p:sp>
        <p:nvSpPr>
          <p:cNvPr id="1731895029" name="Текст 16">
            <a:extLst>
              <a:ext uri="{FF2B5EF4-FFF2-40B4-BE49-F238E27FC236}">
                <a16:creationId xmlns:a16="http://schemas.microsoft.com/office/drawing/2014/main" id="{A38082D2-C05A-413F-BCE9-A912C1FC3279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Прогнозная модель</a:t>
            </a:r>
          </a:p>
        </p:txBody>
      </p:sp>
      <p:sp>
        <p:nvSpPr>
          <p:cNvPr id="1806514528" name="Прямоугольник 1806514527">
            <a:extLst>
              <a:ext uri="{FF2B5EF4-FFF2-40B4-BE49-F238E27FC236}">
                <a16:creationId xmlns:a16="http://schemas.microsoft.com/office/drawing/2014/main" id="{F140867B-E873-46F0-AFD2-8A082957FCB7}"/>
              </a:ext>
            </a:extLst>
          </p:cNvPr>
          <p:cNvSpPr>
            <a:spLocks noGrp="1"/>
          </p:cNvSpPr>
          <p:nvPr/>
        </p:nvSpPr>
        <p:spPr>
          <a:xfrm>
            <a:off x="578063" y="2055276"/>
            <a:ext cx="4944966" cy="385122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Это CRM-система контроля обслуживания: объекты, датчики, показания, прогнозы и проверки связаны в одном рабочем месте. Диспетчер назначает проверку технику и отслеживает её исполнение.</a:t>
            </a:r>
          </a:p>
          <a:p>
            <a:pPr algn="l"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endParaRPr sz="190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  <a:p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Роли и подразделения ограничивают доступ. Карта, журнал и отчёты помогают управлять обслуживанием по всей территории.</a:t>
            </a:r>
          </a:p>
          <a:p>
            <a:pPr algn="l"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endParaRPr sz="190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806514530" name="Прямоугольник 1806514529">
            <a:extLst>
              <a:ext uri="{FF2B5EF4-FFF2-40B4-BE49-F238E27FC236}">
                <a16:creationId xmlns:a16="http://schemas.microsoft.com/office/drawing/2014/main" id="{432D7190-5222-438F-9BED-F025F8EB26E1}"/>
              </a:ext>
            </a:extLst>
          </p:cNvPr>
          <p:cNvSpPr>
            <a:spLocks noGrp="1"/>
          </p:cNvSpPr>
          <p:nvPr/>
        </p:nvSpPr>
        <p:spPr>
          <a:xfrm>
            <a:off x="6513513" y="2035523"/>
            <a:ext cx="5003195" cy="36111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Две логистические модели оценивают риск повторного тревожного «Неисправен» для насосов и вентиляторов в следующие 1–30 дней.</a:t>
            </a:r>
          </a:p>
          <a:p>
            <a:pPr algn="l"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endParaRPr sz="1900" b="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  <a:p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Прогноз хранится вместе с исходным событием. Результат понятен диспетчеру: риск, период и предупреждение о будущей неисправности</a:t>
            </a:r>
          </a:p>
          <a:p>
            <a:pPr algn="l"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endParaRPr sz="1900" b="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708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6334125" cy="552061"/>
          </a:xfrm>
        </p:spPr>
        <p:txBody>
          <a:bodyPr/>
          <a:lstStyle/>
          <a:p>
            <a:pPr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ПОЧЕМУ НАСОСЫ И ВЕНТИЛЯЦИЯ</a:t>
            </a:r>
            <a:endParaRPr sz="225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5388" y="1466850"/>
            <a:ext cx="10241223" cy="3790950"/>
          </a:xfrm>
          <a:prstGeom prst="rect">
            <a:avLst/>
          </a:prstGeom>
        </p:spPr>
      </p:pic>
      <p:sp>
        <p:nvSpPr>
          <p:cNvPr id="1490349604" name="Прямоугольник 1490349603">
            <a:extLst>
              <a:ext uri="{FF2B5EF4-FFF2-40B4-BE49-F238E27FC236}">
                <a16:creationId xmlns:a16="http://schemas.microsoft.com/office/drawing/2014/main" id="{E6425FF9-6D21-4C26-94A0-532957C36AC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46291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05" name="Прямоугольник 1490349604">
            <a:extLst>
              <a:ext uri="{FF2B5EF4-FFF2-40B4-BE49-F238E27FC236}">
                <a16:creationId xmlns:a16="http://schemas.microsoft.com/office/drawing/2014/main" id="{68555019-4F64-4347-BFBD-FD44C20C969D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10572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«Состояние насоса» + «Состояние вентилятора»</a:t>
            </a:r>
          </a:p>
        </p:txBody>
      </p:sp>
      <p:sp>
        <p:nvSpPr>
          <p:cNvPr id="1490349606" name="Прямоугольник 1490349605">
            <a:extLst>
              <a:ext uri="{FF2B5EF4-FFF2-40B4-BE49-F238E27FC236}">
                <a16:creationId xmlns:a16="http://schemas.microsoft.com/office/drawing/2014/main" id="{54A3AB10-4AE7-4088-85C3-58491D9555F3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1066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База MVP охватывает объекты и каналы, для которых сервис действительно рассчитывает риск.</a:t>
            </a:r>
          </a:p>
        </p:txBody>
      </p:sp>
      <p:sp>
        <p:nvSpPr>
          <p:cNvPr id="1490349607" name="Прямоугольник 1490349606">
            <a:extLst>
              <a:ext uri="{FF2B5EF4-FFF2-40B4-BE49-F238E27FC236}">
                <a16:creationId xmlns:a16="http://schemas.microsoft.com/office/drawing/2014/main" id="{10E1528B-1BE2-4643-AE47-FDC289177676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3314700" cy="2771775"/>
          </a:xfrm>
          <a:prstGeom prst="rect">
            <a:avLst/>
          </a:prstGeom>
          <a:solidFill>
            <a:srgbClr val="F8EF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08" name="Прямоугольник 1490349607">
            <a:extLst>
              <a:ext uri="{FF2B5EF4-FFF2-40B4-BE49-F238E27FC236}">
                <a16:creationId xmlns:a16="http://schemas.microsoft.com/office/drawing/2014/main" id="{9D10E7A6-034F-451F-91E9-910ECE7F9AD5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09" name="Прямоугольник 1490349608">
            <a:extLst>
              <a:ext uri="{FF2B5EF4-FFF2-40B4-BE49-F238E27FC236}">
                <a16:creationId xmlns:a16="http://schemas.microsoft.com/office/drawing/2014/main" id="{C712ADE5-7294-4C87-925F-F8DB7A9C1DA8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742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490349610" name="Прямоугольник 1490349609">
            <a:extLst>
              <a:ext uri="{FF2B5EF4-FFF2-40B4-BE49-F238E27FC236}">
                <a16:creationId xmlns:a16="http://schemas.microsoft.com/office/drawing/2014/main" id="{7B2340E4-9CD6-4F52-BA20-A0B4E4DD2185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28956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История</a:t>
            </a:r>
          </a:p>
        </p:txBody>
      </p:sp>
      <p:sp>
        <p:nvSpPr>
          <p:cNvPr id="1490349611" name="Прямоугольник 1490349610">
            <a:extLst>
              <a:ext uri="{FF2B5EF4-FFF2-40B4-BE49-F238E27FC236}">
                <a16:creationId xmlns:a16="http://schemas.microsoft.com/office/drawing/2014/main" id="{C238CA82-8F94-4B8A-880C-3B12B82C33D4}"/>
              </a:ext>
            </a:extLst>
          </p:cNvPr>
          <p:cNvSpPr>
            <a:spLocks noGrp="1"/>
          </p:cNvSpPr>
          <p:nvPr/>
        </p:nvSpPr>
        <p:spPr>
          <a:xfrm>
            <a:off x="952500" y="3648075"/>
            <a:ext cx="2886075" cy="1381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88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 этих датчиков нашлось достаточно повторных тревожных неисправностей для обучения и проверки качества.</a:t>
            </a:r>
          </a:p>
        </p:txBody>
      </p:sp>
      <p:sp>
        <p:nvSpPr>
          <p:cNvPr id="1490349612" name="Прямоугольник 1490349611">
            <a:extLst>
              <a:ext uri="{FF2B5EF4-FFF2-40B4-BE49-F238E27FC236}">
                <a16:creationId xmlns:a16="http://schemas.microsoft.com/office/drawing/2014/main" id="{64C1F4DB-CF92-4BF1-978C-1AB0DF6D1641}"/>
              </a:ext>
            </a:extLst>
          </p:cNvPr>
          <p:cNvSpPr>
            <a:spLocks noGrp="1"/>
          </p:cNvSpPr>
          <p:nvPr/>
        </p:nvSpPr>
        <p:spPr>
          <a:xfrm>
            <a:off x="4438650" y="2428875"/>
            <a:ext cx="3314700" cy="2771775"/>
          </a:xfrm>
          <a:prstGeom prst="rect">
            <a:avLst/>
          </a:prstGeom>
          <a:solidFill>
            <a:srgbClr val="EEF6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3" name="Прямоугольник 1490349612">
            <a:extLst>
              <a:ext uri="{FF2B5EF4-FFF2-40B4-BE49-F238E27FC236}">
                <a16:creationId xmlns:a16="http://schemas.microsoft.com/office/drawing/2014/main" id="{580FF047-27F1-429F-B4F5-D8692FC7E311}"/>
              </a:ext>
            </a:extLst>
          </p:cNvPr>
          <p:cNvSpPr>
            <a:spLocks noGrp="1"/>
          </p:cNvSpPr>
          <p:nvPr/>
        </p:nvSpPr>
        <p:spPr>
          <a:xfrm>
            <a:off x="4438650" y="2428875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4" name="Прямоугольник 1490349613">
            <a:extLst>
              <a:ext uri="{FF2B5EF4-FFF2-40B4-BE49-F238E27FC236}">
                <a16:creationId xmlns:a16="http://schemas.microsoft.com/office/drawing/2014/main" id="{313D17F5-BB4C-4A90-955C-C490730A8783}"/>
              </a:ext>
            </a:extLst>
          </p:cNvPr>
          <p:cNvSpPr>
            <a:spLocks noGrp="1"/>
          </p:cNvSpPr>
          <p:nvPr/>
        </p:nvSpPr>
        <p:spPr>
          <a:xfrm>
            <a:off x="4648200" y="2667000"/>
            <a:ext cx="742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90349615" name="Прямоугольник 1490349614">
            <a:extLst>
              <a:ext uri="{FF2B5EF4-FFF2-40B4-BE49-F238E27FC236}">
                <a16:creationId xmlns:a16="http://schemas.microsoft.com/office/drawing/2014/main" id="{BF80C891-0CCA-4A50-A132-F3CC2F2DFA0E}"/>
              </a:ext>
            </a:extLst>
          </p:cNvPr>
          <p:cNvSpPr>
            <a:spLocks noGrp="1"/>
          </p:cNvSpPr>
          <p:nvPr/>
        </p:nvSpPr>
        <p:spPr>
          <a:xfrm>
            <a:off x="4648200" y="3095625"/>
            <a:ext cx="28956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Модели</a:t>
            </a:r>
          </a:p>
        </p:txBody>
      </p:sp>
      <p:sp>
        <p:nvSpPr>
          <p:cNvPr id="1490349616" name="Прямоугольник 1490349615">
            <a:extLst>
              <a:ext uri="{FF2B5EF4-FFF2-40B4-BE49-F238E27FC236}">
                <a16:creationId xmlns:a16="http://schemas.microsoft.com/office/drawing/2014/main" id="{017E9013-1506-461A-A3DC-37977045BC2D}"/>
              </a:ext>
            </a:extLst>
          </p:cNvPr>
          <p:cNvSpPr>
            <a:spLocks noGrp="1"/>
          </p:cNvSpPr>
          <p:nvPr/>
        </p:nvSpPr>
        <p:spPr>
          <a:xfrm>
            <a:off x="4648200" y="3648075"/>
            <a:ext cx="2886075" cy="1381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88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Для двух типов обучены отдельные модели. Риск рассчитывается по истории конкретного канала.</a:t>
            </a:r>
          </a:p>
        </p:txBody>
      </p:sp>
      <p:sp>
        <p:nvSpPr>
          <p:cNvPr id="1490349617" name="Прямоугольник 1490349616">
            <a:extLst>
              <a:ext uri="{FF2B5EF4-FFF2-40B4-BE49-F238E27FC236}">
                <a16:creationId xmlns:a16="http://schemas.microsoft.com/office/drawing/2014/main" id="{8EC9CA3E-F208-4BB4-BA7B-C83E35FE1342}"/>
              </a:ext>
            </a:extLst>
          </p:cNvPr>
          <p:cNvSpPr>
            <a:spLocks noGrp="1"/>
          </p:cNvSpPr>
          <p:nvPr/>
        </p:nvSpPr>
        <p:spPr>
          <a:xfrm>
            <a:off x="8134350" y="2428875"/>
            <a:ext cx="3314700" cy="2771775"/>
          </a:xfrm>
          <a:prstGeom prst="rect">
            <a:avLst/>
          </a:prstGeom>
          <a:solidFill>
            <a:srgbClr val="E7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8" name="Прямоугольник 1490349617">
            <a:extLst>
              <a:ext uri="{FF2B5EF4-FFF2-40B4-BE49-F238E27FC236}">
                <a16:creationId xmlns:a16="http://schemas.microsoft.com/office/drawing/2014/main" id="{73A39A1E-5E9F-4B24-B032-5CF6CA3CE253}"/>
              </a:ext>
            </a:extLst>
          </p:cNvPr>
          <p:cNvSpPr>
            <a:spLocks noGrp="1"/>
          </p:cNvSpPr>
          <p:nvPr/>
        </p:nvSpPr>
        <p:spPr>
          <a:xfrm>
            <a:off x="8134350" y="2428875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9" name="Прямоугольник 1490349618">
            <a:extLst>
              <a:ext uri="{FF2B5EF4-FFF2-40B4-BE49-F238E27FC236}">
                <a16:creationId xmlns:a16="http://schemas.microsoft.com/office/drawing/2014/main" id="{5A5F387D-4FA2-40A1-9ACB-E00F6DADA454}"/>
              </a:ext>
            </a:extLst>
          </p:cNvPr>
          <p:cNvSpPr>
            <a:spLocks noGrp="1"/>
          </p:cNvSpPr>
          <p:nvPr/>
        </p:nvSpPr>
        <p:spPr>
          <a:xfrm>
            <a:off x="8343900" y="2667000"/>
            <a:ext cx="742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90349620" name="Прямоугольник 1490349619">
            <a:extLst>
              <a:ext uri="{FF2B5EF4-FFF2-40B4-BE49-F238E27FC236}">
                <a16:creationId xmlns:a16="http://schemas.microsoft.com/office/drawing/2014/main" id="{0227A03A-7903-4302-9E5A-5A26E5099665}"/>
              </a:ext>
            </a:extLst>
          </p:cNvPr>
          <p:cNvSpPr>
            <a:spLocks noGrp="1"/>
          </p:cNvSpPr>
          <p:nvPr/>
        </p:nvSpPr>
        <p:spPr>
          <a:xfrm>
            <a:off x="8343900" y="3095625"/>
            <a:ext cx="28956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PostgreSQL MVP</a:t>
            </a:r>
          </a:p>
        </p:txBody>
      </p:sp>
      <p:sp>
        <p:nvSpPr>
          <p:cNvPr id="1490349621" name="Прямоугольник 1490349620">
            <a:extLst>
              <a:ext uri="{FF2B5EF4-FFF2-40B4-BE49-F238E27FC236}">
                <a16:creationId xmlns:a16="http://schemas.microsoft.com/office/drawing/2014/main" id="{7044BE11-30A9-49F8-9B83-7EF52C81E358}"/>
              </a:ext>
            </a:extLst>
          </p:cNvPr>
          <p:cNvSpPr>
            <a:spLocks noGrp="1"/>
          </p:cNvSpPr>
          <p:nvPr/>
        </p:nvSpPr>
        <p:spPr>
          <a:xfrm>
            <a:off x="8343900" y="3648075"/>
            <a:ext cx="2886075" cy="1381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88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базе оставили объекты с такими каналами, сами каналы и их события. Интерфейс показывает прогнозируемый контур.</a:t>
            </a:r>
          </a:p>
        </p:txBody>
      </p:sp>
      <p:sp>
        <p:nvSpPr>
          <p:cNvPr id="1490349622" name="Прямоугольник 1490349621">
            <a:extLst>
              <a:ext uri="{FF2B5EF4-FFF2-40B4-BE49-F238E27FC236}">
                <a16:creationId xmlns:a16="http://schemas.microsoft.com/office/drawing/2014/main" id="{1BA24B1F-EE72-49FE-991F-0325F62B9CE6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10706100" cy="533400"/>
          </a:xfrm>
          <a:prstGeom prst="rect">
            <a:avLst/>
          </a:prstGeom>
          <a:solidFill>
            <a:srgbClr val="E7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23" name="Прямоугольник 1490349622">
            <a:extLst>
              <a:ext uri="{FF2B5EF4-FFF2-40B4-BE49-F238E27FC236}">
                <a16:creationId xmlns:a16="http://schemas.microsoft.com/office/drawing/2014/main" id="{85BF110F-AB60-480F-9D45-7A548DD13A3D}"/>
              </a:ext>
            </a:extLst>
          </p:cNvPr>
          <p:cNvSpPr>
            <a:spLocks noGrp="1"/>
          </p:cNvSpPr>
          <p:nvPr/>
        </p:nvSpPr>
        <p:spPr>
          <a:xfrm>
            <a:off x="942975" y="5486400"/>
            <a:ext cx="10287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Итог: от показания до прогноза и задания технику — один связанный контур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55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ПОЧЕМУ НАСОСЫ </a:t>
            </a:r>
            <a:r>
              <a:rPr sz="255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</a:t>
            </a:r>
            <a:r>
              <a:rPr sz="255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ВЕНТИЛЯЦИЯ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1781333"/>
            <a:ext cx="5238750" cy="2590485"/>
          </a:xfrm>
          <a:prstGeom prst="rect">
            <a:avLst/>
          </a:prstGeom>
        </p:spPr>
      </p:pic>
      <p:pic>
        <p:nvPicPr>
          <p:cNvPr id="1490349568" name="Рисунок 149034956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00750" y="2213088"/>
            <a:ext cx="5381625" cy="1765074"/>
          </a:xfrm>
          <a:prstGeom prst="rect">
            <a:avLst/>
          </a:prstGeom>
        </p:spPr>
      </p:pic>
      <p:sp>
        <p:nvSpPr>
          <p:cNvPr id="1490349569" name="Прямоугольник 1490349568">
            <a:extLst>
              <a:ext uri="{FF2B5EF4-FFF2-40B4-BE49-F238E27FC236}">
                <a16:creationId xmlns:a16="http://schemas.microsoft.com/office/drawing/2014/main" id="{12DB8E26-F7F2-4C58-AE78-A8AED0A81CC9}"/>
              </a:ext>
            </a:extLst>
          </p:cNvPr>
          <p:cNvSpPr>
            <a:spLocks noGrp="1"/>
          </p:cNvSpPr>
          <p:nvPr/>
        </p:nvSpPr>
        <p:spPr>
          <a:xfrm>
            <a:off x="714375" y="4714875"/>
            <a:ext cx="4953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23 681 эпизод · 235 каналов</a:t>
            </a:r>
          </a:p>
          <a:p>
            <a:pPr algn="l"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состояния вентилятора</a:t>
            </a:r>
          </a:p>
        </p:txBody>
      </p:sp>
      <p:sp>
        <p:nvSpPr>
          <p:cNvPr id="1490349570" name="Прямоугольник 1490349569">
            <a:extLst>
              <a:ext uri="{FF2B5EF4-FFF2-40B4-BE49-F238E27FC236}">
                <a16:creationId xmlns:a16="http://schemas.microsoft.com/office/drawing/2014/main" id="{26A76E7B-2704-43B4-8CD9-E7E11052EA77}"/>
              </a:ext>
            </a:extLst>
          </p:cNvPr>
          <p:cNvSpPr>
            <a:spLocks noGrp="1"/>
          </p:cNvSpPr>
          <p:nvPr/>
        </p:nvSpPr>
        <p:spPr>
          <a:xfrm>
            <a:off x="6286500" y="4714875"/>
            <a:ext cx="4857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21 570 эпизодов · 180 каналов</a:t>
            </a:r>
          </a:p>
          <a:p>
            <a:pPr algn="l"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состояния насоса</a:t>
            </a:r>
          </a:p>
        </p:txBody>
      </p:sp>
      <p:sp>
        <p:nvSpPr>
          <p:cNvPr id="1490349571" name="Прямоугольник 1490349570">
            <a:extLst>
              <a:ext uri="{FF2B5EF4-FFF2-40B4-BE49-F238E27FC236}">
                <a16:creationId xmlns:a16="http://schemas.microsoft.com/office/drawing/2014/main" id="{D0340EB4-B5BF-423A-8611-415D8AC63526}"/>
              </a:ext>
            </a:extLst>
          </p:cNvPr>
          <p:cNvSpPr>
            <a:spLocks noGrp="1"/>
          </p:cNvSpPr>
          <p:nvPr/>
        </p:nvSpPr>
        <p:spPr>
          <a:xfrm>
            <a:off x="714375" y="5600700"/>
            <a:ext cx="106203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других категориях тревожных эпизодов меньше: был выбран наиболее наблюдаемый повторяющийся сигнал.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998391" name="Скругленный прямоугольник 11">
            <a:extLst>
              <a:ext uri="{FF2B5EF4-FFF2-40B4-BE49-F238E27FC236}">
                <a16:creationId xmlns:a16="http://schemas.microsoft.com/office/drawing/2014/main" id="{8B5EC9BD-E9C7-47DB-A048-31C815DC1F3E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63734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312277302" name="Прямая соединительная линия 33">
            <a:extLst>
              <a:ext uri="{FF2B5EF4-FFF2-40B4-BE49-F238E27FC236}">
                <a16:creationId xmlns:a16="http://schemas.microsoft.com/office/drawing/2014/main" id="{B3BD847A-528C-46AC-A134-0A8F06B42247}"/>
              </a:ext>
            </a:extLst>
          </p:cNvPr>
          <p:cNvSpPr>
            <a:spLocks noGrp="1"/>
          </p:cNvSpPr>
          <p:nvPr/>
        </p:nv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4311531" name="Прямая соединительная линия 34">
            <a:extLst>
              <a:ext uri="{FF2B5EF4-FFF2-40B4-BE49-F238E27FC236}">
                <a16:creationId xmlns:a16="http://schemas.microsoft.com/office/drawing/2014/main" id="{95E146FC-C61A-45BC-8898-5E7E3238ED9C}"/>
              </a:ext>
            </a:extLst>
          </p:cNvPr>
          <p:cNvSpPr>
            <a:spLocks noGrp="1"/>
          </p:cNvSpPr>
          <p:nvPr/>
        </p:nv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207952" name="Прямая соединительная линия 35">
            <a:extLst>
              <a:ext uri="{FF2B5EF4-FFF2-40B4-BE49-F238E27FC236}">
                <a16:creationId xmlns:a16="http://schemas.microsoft.com/office/drawing/2014/main" id="{B21ED228-166F-4975-8665-E8FC38B98C3E}"/>
              </a:ext>
            </a:extLst>
          </p:cNvPr>
          <p:cNvSpPr>
            <a:spLocks noGrp="1"/>
          </p:cNvSpPr>
          <p:nvPr/>
        </p:nv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91739866" name="Прямая соединительная линия 36">
            <a:extLst>
              <a:ext uri="{FF2B5EF4-FFF2-40B4-BE49-F238E27FC236}">
                <a16:creationId xmlns:a16="http://schemas.microsoft.com/office/drawing/2014/main" id="{391C4360-E13D-42BE-A6B1-552370503035}"/>
              </a:ext>
            </a:extLst>
          </p:cNvPr>
          <p:cNvSpPr>
            <a:spLocks noGrp="1"/>
          </p:cNvSpPr>
          <p:nvPr/>
        </p:nv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7494177" name="Прямая соединительная линия 37">
            <a:extLst>
              <a:ext uri="{FF2B5EF4-FFF2-40B4-BE49-F238E27FC236}">
                <a16:creationId xmlns:a16="http://schemas.microsoft.com/office/drawing/2014/main" id="{C7A9D8D4-1A64-472D-B5DD-A89AE1E17B9A}"/>
              </a:ext>
            </a:extLst>
          </p:cNvPr>
          <p:cNvSpPr>
            <a:spLocks noGrp="1"/>
          </p:cNvSpPr>
          <p:nvPr/>
        </p:nv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17538621" name="Прямая соединительная линия 38">
            <a:extLst>
              <a:ext uri="{FF2B5EF4-FFF2-40B4-BE49-F238E27FC236}">
                <a16:creationId xmlns:a16="http://schemas.microsoft.com/office/drawing/2014/main" id="{0E41C894-625A-4638-BA6B-54E8B3FA496B}"/>
              </a:ext>
            </a:extLst>
          </p:cNvPr>
          <p:cNvSpPr>
            <a:spLocks noGrp="1"/>
          </p:cNvSpPr>
          <p:nvPr/>
        </p:nv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4261988" name="Прямая соединительная линия 39">
            <a:extLst>
              <a:ext uri="{FF2B5EF4-FFF2-40B4-BE49-F238E27FC236}">
                <a16:creationId xmlns:a16="http://schemas.microsoft.com/office/drawing/2014/main" id="{D1E46D01-CD54-4386-A20F-BA3EA3AFD89E}"/>
              </a:ext>
            </a:extLst>
          </p:cNvPr>
          <p:cNvSpPr>
            <a:spLocks noGrp="1"/>
          </p:cNvSpPr>
          <p:nvPr/>
        </p:nv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3815222" name="Прямая соединительная линия 40">
            <a:extLst>
              <a:ext uri="{FF2B5EF4-FFF2-40B4-BE49-F238E27FC236}">
                <a16:creationId xmlns:a16="http://schemas.microsoft.com/office/drawing/2014/main" id="{65C5A3A2-2951-4317-9F69-475614DC3DC6}"/>
              </a:ext>
            </a:extLst>
          </p:cNvPr>
          <p:cNvSpPr>
            <a:spLocks noGrp="1"/>
          </p:cNvSpPr>
          <p:nvPr/>
        </p:nv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9190771" name="Прямая соединительная линия 41">
            <a:extLst>
              <a:ext uri="{FF2B5EF4-FFF2-40B4-BE49-F238E27FC236}">
                <a16:creationId xmlns:a16="http://schemas.microsoft.com/office/drawing/2014/main" id="{2210FC8A-F6A8-485D-BBD7-7A9A30EEF4DB}"/>
              </a:ext>
            </a:extLst>
          </p:cNvPr>
          <p:cNvSpPr>
            <a:spLocks noGrp="1"/>
          </p:cNvSpPr>
          <p:nvPr/>
        </p:nv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73018963" name="Скругленный прямоугольник 42">
            <a:extLst>
              <a:ext uri="{FF2B5EF4-FFF2-40B4-BE49-F238E27FC236}">
                <a16:creationId xmlns:a16="http://schemas.microsoft.com/office/drawing/2014/main" id="{8D651A42-ED8E-4C9A-82BB-A39844D3D0EF}"/>
              </a:ext>
            </a:extLst>
          </p:cNvPr>
          <p:cNvSpPr>
            <a:spLocks noGrp="1"/>
          </p:cNvSpPr>
          <p:nvPr/>
        </p:nvSpPr>
        <p:spPr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373336583" name="Скругленный прямоугольник 43">
            <a:extLst>
              <a:ext uri="{FF2B5EF4-FFF2-40B4-BE49-F238E27FC236}">
                <a16:creationId xmlns:a16="http://schemas.microsoft.com/office/drawing/2014/main" id="{6BB3A347-61E6-48CD-88D0-A5DFE5980982}"/>
              </a:ext>
            </a:extLst>
          </p:cNvPr>
          <p:cNvSpPr>
            <a:spLocks noGrp="1"/>
          </p:cNvSpPr>
          <p:nvPr/>
        </p:nvSpPr>
        <p:spPr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1665509985" name="Скругленный прямоугольник 44">
            <a:extLst>
              <a:ext uri="{FF2B5EF4-FFF2-40B4-BE49-F238E27FC236}">
                <a16:creationId xmlns:a16="http://schemas.microsoft.com/office/drawing/2014/main" id="{8326AFAC-4A08-46E5-B0A9-B73ED27BA426}"/>
              </a:ext>
            </a:extLst>
          </p:cNvPr>
          <p:cNvSpPr>
            <a:spLocks noGrp="1"/>
          </p:cNvSpPr>
          <p:nvPr/>
        </p:nvSpPr>
        <p:spPr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1411134645" name="Скругленный прямоугольник 52">
            <a:extLst>
              <a:ext uri="{FF2B5EF4-FFF2-40B4-BE49-F238E27FC236}">
                <a16:creationId xmlns:a16="http://schemas.microsoft.com/office/drawing/2014/main" id="{858AB891-D07D-4D9D-A2B1-A7AF1B3FCA67}"/>
              </a:ext>
            </a:extLst>
          </p:cNvPr>
          <p:cNvSpPr>
            <a:spLocks noGrp="1"/>
          </p:cNvSpPr>
          <p:nvPr/>
        </p:nvSpPr>
        <p:spPr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1233129958" name="Скругленный прямоугольник 53">
            <a:extLst>
              <a:ext uri="{FF2B5EF4-FFF2-40B4-BE49-F238E27FC236}">
                <a16:creationId xmlns:a16="http://schemas.microsoft.com/office/drawing/2014/main" id="{AE95BAA4-5594-4818-BBE7-FFBED22E007D}"/>
              </a:ext>
            </a:extLst>
          </p:cNvPr>
          <p:cNvSpPr>
            <a:spLocks noGrp="1"/>
          </p:cNvSpPr>
          <p:nvPr/>
        </p:nvSpPr>
        <p:spPr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40932087" name="Заголовок 13">
            <a:extLst>
              <a:ext uri="{FF2B5EF4-FFF2-40B4-BE49-F238E27FC236}">
                <a16:creationId xmlns:a16="http://schemas.microsoft.com/office/drawing/2014/main" id="{6D3426BE-8DA0-4EB4-8A7E-98DB4AA33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Состав MVP решения</a:t>
            </a:r>
          </a:p>
        </p:txBody>
      </p:sp>
      <p:sp>
        <p:nvSpPr>
          <p:cNvPr id="130831702" name="Скругленный прямоугольник 13">
            <a:extLst>
              <a:ext uri="{FF2B5EF4-FFF2-40B4-BE49-F238E27FC236}">
                <a16:creationId xmlns:a16="http://schemas.microsoft.com/office/drawing/2014/main" id="{1CA8BBCC-89CF-4C8B-8E95-6A9F43767C50}"/>
              </a:ext>
            </a:extLst>
          </p:cNvPr>
          <p:cNvSpPr>
            <a:spLocks noGrp="1"/>
          </p:cNvSpPr>
          <p:nvPr/>
        </p:nvSpPr>
        <p:spPr>
          <a:xfrm>
            <a:off x="210434" y="1336426"/>
            <a:ext cx="2836197" cy="1581312"/>
          </a:xfrm>
          <a:prstGeom prst="roundRect">
            <a:avLst>
              <a:gd name="adj" fmla="val 10884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98254591" name="Скругленный прямоугольник 15">
            <a:extLst>
              <a:ext uri="{FF2B5EF4-FFF2-40B4-BE49-F238E27FC236}">
                <a16:creationId xmlns:a16="http://schemas.microsoft.com/office/drawing/2014/main" id="{D2224595-3434-4D23-A2EC-6A6DB3CD53B5}"/>
              </a:ext>
            </a:extLst>
          </p:cNvPr>
          <p:cNvSpPr>
            <a:spLocks noGrp="1"/>
          </p:cNvSpPr>
          <p:nvPr/>
        </p:nvSpPr>
        <p:spPr>
          <a:xfrm>
            <a:off x="4653705" y="1339097"/>
            <a:ext cx="2836197" cy="1581312"/>
          </a:xfrm>
          <a:prstGeom prst="roundRect">
            <a:avLst>
              <a:gd name="adj" fmla="val 10884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17751189" name="Скругленный прямоугольник 16">
            <a:extLst>
              <a:ext uri="{FF2B5EF4-FFF2-40B4-BE49-F238E27FC236}">
                <a16:creationId xmlns:a16="http://schemas.microsoft.com/office/drawing/2014/main" id="{F4B55910-2F1E-482E-8CA2-5188366E5652}"/>
              </a:ext>
            </a:extLst>
          </p:cNvPr>
          <p:cNvSpPr>
            <a:spLocks noGrp="1"/>
          </p:cNvSpPr>
          <p:nvPr/>
        </p:nvSpPr>
        <p:spPr>
          <a:xfrm>
            <a:off x="9175802" y="1324594"/>
            <a:ext cx="2836197" cy="1581312"/>
          </a:xfrm>
          <a:prstGeom prst="roundRect">
            <a:avLst>
              <a:gd name="adj" fmla="val 10884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8045764" name="Скругленный прямоугольник 17">
            <a:extLst>
              <a:ext uri="{FF2B5EF4-FFF2-40B4-BE49-F238E27FC236}">
                <a16:creationId xmlns:a16="http://schemas.microsoft.com/office/drawing/2014/main" id="{7F98A719-0FFB-409C-BD5D-E9A215515FC8}"/>
              </a:ext>
            </a:extLst>
          </p:cNvPr>
          <p:cNvSpPr>
            <a:spLocks noGrp="1"/>
          </p:cNvSpPr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94337752" name="Скругленный прямоугольник 18">
            <a:extLst>
              <a:ext uri="{FF2B5EF4-FFF2-40B4-BE49-F238E27FC236}">
                <a16:creationId xmlns:a16="http://schemas.microsoft.com/office/drawing/2014/main" id="{512287CA-2515-4BDD-820E-93E5475A28C6}"/>
              </a:ext>
            </a:extLst>
          </p:cNvPr>
          <p:cNvSpPr>
            <a:spLocks noGrp="1"/>
          </p:cNvSpPr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>
            <a:solidFill>
              <a:schemeClr val="accent1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39084523" name="Прямоугольник 2139084522">
            <a:extLst>
              <a:ext uri="{FF2B5EF4-FFF2-40B4-BE49-F238E27FC236}">
                <a16:creationId xmlns:a16="http://schemas.microsoft.com/office/drawing/2014/main" id="{E3B86B6F-DC40-4519-AB83-497558E2959A}"/>
              </a:ext>
            </a:extLst>
          </p:cNvPr>
          <p:cNvSpPr>
            <a:spLocks noGrp="1"/>
          </p:cNvSpPr>
          <p:nvPr/>
        </p:nvSpPr>
        <p:spPr>
          <a:xfrm>
            <a:off x="361950" y="1571625"/>
            <a:ext cx="2428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Справочник</a:t>
            </a:r>
          </a:p>
        </p:txBody>
      </p:sp>
      <p:sp>
        <p:nvSpPr>
          <p:cNvPr id="2139084524" name="Прямоугольник 2139084523">
            <a:extLst>
              <a:ext uri="{FF2B5EF4-FFF2-40B4-BE49-F238E27FC236}">
                <a16:creationId xmlns:a16="http://schemas.microsoft.com/office/drawing/2014/main" id="{BB25C225-277D-433E-9220-ABE8D32A66A9}"/>
              </a:ext>
            </a:extLst>
          </p:cNvPr>
          <p:cNvSpPr>
            <a:spLocks noGrp="1"/>
          </p:cNvSpPr>
          <p:nvPr/>
        </p:nvSpPr>
        <p:spPr>
          <a:xfrm>
            <a:off x="361950" y="2019300"/>
            <a:ext cx="2428875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Объекты и связанные с ними датчики</a:t>
            </a:r>
          </a:p>
        </p:txBody>
      </p:sp>
      <p:sp>
        <p:nvSpPr>
          <p:cNvPr id="2139084525" name="Прямоугольник 2139084524">
            <a:extLst>
              <a:ext uri="{FF2B5EF4-FFF2-40B4-BE49-F238E27FC236}">
                <a16:creationId xmlns:a16="http://schemas.microsoft.com/office/drawing/2014/main" id="{59694CCC-A219-4178-98C5-401D9E136770}"/>
              </a:ext>
            </a:extLst>
          </p:cNvPr>
          <p:cNvSpPr>
            <a:spLocks noGrp="1"/>
          </p:cNvSpPr>
          <p:nvPr/>
        </p:nvSpPr>
        <p:spPr>
          <a:xfrm>
            <a:off x="2571750" y="5010150"/>
            <a:ext cx="2428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Мониторинг</a:t>
            </a:r>
          </a:p>
        </p:txBody>
      </p:sp>
      <p:sp>
        <p:nvSpPr>
          <p:cNvPr id="2139084526" name="Прямоугольник 2139084525">
            <a:extLst>
              <a:ext uri="{FF2B5EF4-FFF2-40B4-BE49-F238E27FC236}">
                <a16:creationId xmlns:a16="http://schemas.microsoft.com/office/drawing/2014/main" id="{150CE544-1D00-4738-AA2D-F237AC8DC84C}"/>
              </a:ext>
            </a:extLst>
          </p:cNvPr>
          <p:cNvSpPr>
            <a:spLocks noGrp="1"/>
          </p:cNvSpPr>
          <p:nvPr/>
        </p:nvSpPr>
        <p:spPr>
          <a:xfrm>
            <a:off x="2571750" y="5457825"/>
            <a:ext cx="2428875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Дашборд, карта и показания</a:t>
            </a:r>
          </a:p>
        </p:txBody>
      </p:sp>
      <p:sp>
        <p:nvSpPr>
          <p:cNvPr id="2139084527" name="Прямоугольник 2139084526">
            <a:extLst>
              <a:ext uri="{FF2B5EF4-FFF2-40B4-BE49-F238E27FC236}">
                <a16:creationId xmlns:a16="http://schemas.microsoft.com/office/drawing/2014/main" id="{80A5CC29-FF38-4D3A-A2D3-7AA35D00D7C3}"/>
              </a:ext>
            </a:extLst>
          </p:cNvPr>
          <p:cNvSpPr>
            <a:spLocks noGrp="1"/>
          </p:cNvSpPr>
          <p:nvPr/>
        </p:nvSpPr>
        <p:spPr>
          <a:xfrm>
            <a:off x="4810125" y="1571625"/>
            <a:ext cx="2428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Прогнозы</a:t>
            </a:r>
          </a:p>
        </p:txBody>
      </p:sp>
      <p:sp>
        <p:nvSpPr>
          <p:cNvPr id="2139084528" name="Прямоугольник 2139084527">
            <a:extLst>
              <a:ext uri="{FF2B5EF4-FFF2-40B4-BE49-F238E27FC236}">
                <a16:creationId xmlns:a16="http://schemas.microsoft.com/office/drawing/2014/main" id="{2FDA03CB-4720-4D52-B500-887EB977B90C}"/>
              </a:ext>
            </a:extLst>
          </p:cNvPr>
          <p:cNvSpPr>
            <a:spLocks noGrp="1"/>
          </p:cNvSpPr>
          <p:nvPr/>
        </p:nvSpPr>
        <p:spPr>
          <a:xfrm>
            <a:off x="4810125" y="2019300"/>
            <a:ext cx="2428875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Риск, период и история сигналов</a:t>
            </a:r>
          </a:p>
        </p:txBody>
      </p:sp>
      <p:sp>
        <p:nvSpPr>
          <p:cNvPr id="2139084529" name="Прямоугольник 2139084528">
            <a:extLst>
              <a:ext uri="{FF2B5EF4-FFF2-40B4-BE49-F238E27FC236}">
                <a16:creationId xmlns:a16="http://schemas.microsoft.com/office/drawing/2014/main" id="{84C6AD68-1C0A-47DC-ACC6-7C60A5C55343}"/>
              </a:ext>
            </a:extLst>
          </p:cNvPr>
          <p:cNvSpPr>
            <a:spLocks noGrp="1"/>
          </p:cNvSpPr>
          <p:nvPr/>
        </p:nvSpPr>
        <p:spPr>
          <a:xfrm>
            <a:off x="7058025" y="5010150"/>
            <a:ext cx="2428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Проверки</a:t>
            </a:r>
          </a:p>
        </p:txBody>
      </p:sp>
      <p:sp>
        <p:nvSpPr>
          <p:cNvPr id="2139084530" name="Прямоугольник 2139084529">
            <a:extLst>
              <a:ext uri="{FF2B5EF4-FFF2-40B4-BE49-F238E27FC236}">
                <a16:creationId xmlns:a16="http://schemas.microsoft.com/office/drawing/2014/main" id="{C27E2483-C639-42D7-9A9C-17590EE0A3C7}"/>
              </a:ext>
            </a:extLst>
          </p:cNvPr>
          <p:cNvSpPr>
            <a:spLocks noGrp="1"/>
          </p:cNvSpPr>
          <p:nvPr/>
        </p:nvSpPr>
        <p:spPr>
          <a:xfrm>
            <a:off x="7058025" y="5457825"/>
            <a:ext cx="2428875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Техник, дата и статус датчика</a:t>
            </a:r>
          </a:p>
        </p:txBody>
      </p:sp>
      <p:sp>
        <p:nvSpPr>
          <p:cNvPr id="2139084531" name="Прямоугольник 2139084530">
            <a:extLst>
              <a:ext uri="{FF2B5EF4-FFF2-40B4-BE49-F238E27FC236}">
                <a16:creationId xmlns:a16="http://schemas.microsoft.com/office/drawing/2014/main" id="{EAB3BDE0-FD6B-4798-BEB8-EE7362ED25B8}"/>
              </a:ext>
            </a:extLst>
          </p:cNvPr>
          <p:cNvSpPr>
            <a:spLocks noGrp="1"/>
          </p:cNvSpPr>
          <p:nvPr/>
        </p:nvSpPr>
        <p:spPr>
          <a:xfrm>
            <a:off x="9286875" y="1571625"/>
            <a:ext cx="2428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Управление</a:t>
            </a:r>
          </a:p>
        </p:txBody>
      </p:sp>
      <p:sp>
        <p:nvSpPr>
          <p:cNvPr id="2139084532" name="Прямоугольник 2139084531">
            <a:extLst>
              <a:ext uri="{FF2B5EF4-FFF2-40B4-BE49-F238E27FC236}">
                <a16:creationId xmlns:a16="http://schemas.microsoft.com/office/drawing/2014/main" id="{B03015B2-694A-44F2-BD75-9632D1370459}"/>
              </a:ext>
            </a:extLst>
          </p:cNvPr>
          <p:cNvSpPr>
            <a:spLocks noGrp="1"/>
          </p:cNvSpPr>
          <p:nvPr/>
        </p:nvSpPr>
        <p:spPr>
          <a:xfrm>
            <a:off x="9286875" y="2019300"/>
            <a:ext cx="2428875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Роли, подразделения, отчёты</a:t>
            </a:r>
          </a:p>
        </p:txBody>
      </p:sp>
      <p:sp>
        <p:nvSpPr>
          <p:cNvPr id="2139084533" name="Прямоугольник 2139084532">
            <a:extLst>
              <a:ext uri="{FF2B5EF4-FFF2-40B4-BE49-F238E27FC236}">
                <a16:creationId xmlns:a16="http://schemas.microsoft.com/office/drawing/2014/main" id="{87C9486C-7C7B-486D-9D0B-4E97AB821689}"/>
              </a:ext>
            </a:extLst>
          </p:cNvPr>
          <p:cNvSpPr>
            <a:spLocks noGrp="1"/>
          </p:cNvSpPr>
          <p:nvPr/>
        </p:nvSpPr>
        <p:spPr>
          <a:xfrm>
            <a:off x="381000" y="1000125"/>
            <a:ext cx="11334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Объект и датчик связывают все разделы: состояние, риск, назначение проверки и её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42558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Workflow: ОТ СИГНАЛА ДО ПРОВЕРКИ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1907" y="1438275"/>
            <a:ext cx="10368186" cy="4667250"/>
          </a:xfrm>
          <a:prstGeom prst="rect">
            <a:avLst/>
          </a:prstGeom>
        </p:spPr>
      </p:pic>
      <p:sp>
        <p:nvSpPr>
          <p:cNvPr id="1490349568" name="Прямоугольник 1490349567">
            <a:extLst>
              <a:ext uri="{FF2B5EF4-FFF2-40B4-BE49-F238E27FC236}">
                <a16:creationId xmlns:a16="http://schemas.microsoft.com/office/drawing/2014/main" id="{8535AC89-47DC-485F-B83F-947C74B36A9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10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Модель отмечает риск; диспетчер назначает проверку; техник фиксирует результат, который попадает в отчёт.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 решения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35355" y="1447800"/>
            <a:ext cx="9711765" cy="4762500"/>
          </a:xfrm>
          <a:prstGeom prst="rect">
            <a:avLst/>
          </a:prstGeom>
        </p:spPr>
      </p:pic>
      <p:sp>
        <p:nvSpPr>
          <p:cNvPr id="1490349568" name="Прямоугольник 1490349567">
            <a:extLst>
              <a:ext uri="{FF2B5EF4-FFF2-40B4-BE49-F238E27FC236}">
                <a16:creationId xmlns:a16="http://schemas.microsoft.com/office/drawing/2014/main" id="{2D778107-F88A-474A-90CE-5A2AEA524CFF}"/>
              </a:ext>
            </a:extLst>
          </p:cNvPr>
          <p:cNvSpPr>
            <a:spLocks noGrp="1"/>
          </p:cNvSpPr>
          <p:nvPr/>
        </p:nvSpPr>
        <p:spPr>
          <a:xfrm>
            <a:off x="666750" y="6400800"/>
            <a:ext cx="1085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Сигнал становится задачей: прогноз привязан к объекту и датчику, диспетчер назначает проверку, техник фиксирует результат. Вся цепочка остаётся в единой истории обслуживания.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002002" name="Скругленный прямоугольник 1">
            <a:extLst>
              <a:ext uri="{FF2B5EF4-FFF2-40B4-BE49-F238E27FC236}">
                <a16:creationId xmlns:a16="http://schemas.microsoft.com/office/drawing/2014/main" id="{0C108A3D-638C-4D34-82F6-A3965B111000}"/>
              </a:ext>
            </a:extLst>
          </p:cNvPr>
          <p:cNvSpPr>
            <a:spLocks noGrp="1"/>
          </p:cNvSpPr>
          <p:nvPr/>
        </p:nvSpPr>
        <p:spPr>
          <a:xfrm>
            <a:off x="525817" y="36621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DA82E7FA-F69A-4E81-9F5E-E4DA7B9AE3BD}"/>
              </a:ext>
            </a:extLst>
          </p:cNvPr>
          <p:cNvSpPr>
            <a:spLocks noGrp="1"/>
          </p:cNvSpPr>
          <p:nvPr/>
        </p:nvSpPr>
        <p:spPr>
          <a:xfrm>
            <a:off x="5210105" y="1203365"/>
            <a:ext cx="24455" cy="24472"/>
          </a:xfrm>
          <a:custGeom>
            <a:avLst/>
            <a:gdLst/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905EA6D5-D5C2-4762-83F5-EC71F0763340}"/>
              </a:ext>
            </a:extLst>
          </p:cNvPr>
          <p:cNvSpPr>
            <a:spLocks noGrp="1"/>
          </p:cNvSpPr>
          <p:nvPr/>
        </p:nvSpPr>
        <p:spPr>
          <a:xfrm>
            <a:off x="5210105" y="1240208"/>
            <a:ext cx="24455" cy="24472"/>
          </a:xfrm>
          <a:custGeom>
            <a:avLst/>
            <a:gdLst/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24" name="Freeform 15">
            <a:extLst>
              <a:ext uri="{FF2B5EF4-FFF2-40B4-BE49-F238E27FC236}">
                <a16:creationId xmlns:a16="http://schemas.microsoft.com/office/drawing/2014/main" id="{953645F0-5F40-4C74-A32E-115E4C4527C0}"/>
              </a:ext>
            </a:extLst>
          </p:cNvPr>
          <p:cNvSpPr>
            <a:spLocks noGrp="1"/>
          </p:cNvSpPr>
          <p:nvPr/>
        </p:nvSpPr>
        <p:spPr>
          <a:xfrm>
            <a:off x="5210105" y="1276944"/>
            <a:ext cx="24455" cy="24634"/>
          </a:xfrm>
          <a:custGeom>
            <a:avLst/>
            <a:gdLst/>
            <a:ahLst/>
            <a:cxnLst/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7E6004A5-5C55-4744-8F52-0218C4F50411}"/>
              </a:ext>
            </a:extLst>
          </p:cNvPr>
          <p:cNvSpPr>
            <a:spLocks noGrp="1"/>
          </p:cNvSpPr>
          <p:nvPr/>
        </p:nvSpPr>
        <p:spPr>
          <a:xfrm>
            <a:off x="5246734" y="1203365"/>
            <a:ext cx="24294" cy="24472"/>
          </a:xfrm>
          <a:custGeom>
            <a:avLst/>
            <a:gdLst/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A22F16D6-3ACA-4EA5-A543-0D440FD5F163}"/>
              </a:ext>
            </a:extLst>
          </p:cNvPr>
          <p:cNvSpPr>
            <a:spLocks noGrp="1"/>
          </p:cNvSpPr>
          <p:nvPr/>
        </p:nvSpPr>
        <p:spPr>
          <a:xfrm>
            <a:off x="5246734" y="1240208"/>
            <a:ext cx="24294" cy="24472"/>
          </a:xfrm>
          <a:custGeom>
            <a:avLst/>
            <a:gdLst/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5B612391-6A35-4C44-A763-033837DB2ACE}"/>
              </a:ext>
            </a:extLst>
          </p:cNvPr>
          <p:cNvSpPr>
            <a:spLocks noGrp="1"/>
          </p:cNvSpPr>
          <p:nvPr/>
        </p:nvSpPr>
        <p:spPr>
          <a:xfrm>
            <a:off x="5246734" y="1276944"/>
            <a:ext cx="24294" cy="24634"/>
          </a:xfrm>
          <a:custGeom>
            <a:avLst/>
            <a:gdLst/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CE19E520-BC1F-4789-AF94-779AD02E0A1B}"/>
              </a:ext>
            </a:extLst>
          </p:cNvPr>
          <p:cNvSpPr>
            <a:spLocks noGrp="1"/>
          </p:cNvSpPr>
          <p:nvPr/>
        </p:nvSpPr>
        <p:spPr>
          <a:xfrm>
            <a:off x="5283310" y="1203365"/>
            <a:ext cx="24348" cy="24472"/>
          </a:xfrm>
          <a:custGeom>
            <a:avLst/>
            <a:gdLst/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29" name="Freeform 20">
            <a:extLst>
              <a:ext uri="{FF2B5EF4-FFF2-40B4-BE49-F238E27FC236}">
                <a16:creationId xmlns:a16="http://schemas.microsoft.com/office/drawing/2014/main" id="{63E64383-B14A-4AB4-A2F3-4038AC54FBD7}"/>
              </a:ext>
            </a:extLst>
          </p:cNvPr>
          <p:cNvSpPr>
            <a:spLocks noGrp="1"/>
          </p:cNvSpPr>
          <p:nvPr/>
        </p:nvSpPr>
        <p:spPr>
          <a:xfrm>
            <a:off x="5283310" y="1240208"/>
            <a:ext cx="24348" cy="24472"/>
          </a:xfrm>
          <a:custGeom>
            <a:avLst/>
            <a:gdLst/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E8C8CB25-13F6-49BF-AD7A-98364D85EB13}"/>
              </a:ext>
            </a:extLst>
          </p:cNvPr>
          <p:cNvSpPr>
            <a:spLocks noGrp="1"/>
          </p:cNvSpPr>
          <p:nvPr/>
        </p:nvSpPr>
        <p:spPr>
          <a:xfrm>
            <a:off x="5283310" y="1276944"/>
            <a:ext cx="24348" cy="24634"/>
          </a:xfrm>
          <a:custGeom>
            <a:avLst/>
            <a:gdLst/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11" name="Freeform 29">
            <a:extLst>
              <a:ext uri="{FF2B5EF4-FFF2-40B4-BE49-F238E27FC236}">
                <a16:creationId xmlns:a16="http://schemas.microsoft.com/office/drawing/2014/main" id="{FC2CF52A-194A-4D26-A03B-A0E6693DBC96}"/>
              </a:ext>
            </a:extLst>
          </p:cNvPr>
          <p:cNvSpPr>
            <a:spLocks noGrp="1"/>
          </p:cNvSpPr>
          <p:nvPr/>
        </p:nvSpPr>
        <p:spPr>
          <a:xfrm>
            <a:off x="1929513" y="1425286"/>
            <a:ext cx="72445" cy="73024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/>
          </a:p>
        </p:txBody>
      </p:sp>
      <p:sp>
        <p:nvSpPr>
          <p:cNvPr id="258987589" name="Номер слайда 6">
            <a:extLst>
              <a:ext uri="{FF2B5EF4-FFF2-40B4-BE49-F238E27FC236}">
                <a16:creationId xmlns:a16="http://schemas.microsoft.com/office/drawing/2014/main" id="{448CAFC9-01BC-4437-A45F-B7E0EB9FACF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514326515" name="Заголовок 13">
            <a:extLst>
              <a:ext uri="{FF2B5EF4-FFF2-40B4-BE49-F238E27FC236}">
                <a16:creationId xmlns:a16="http://schemas.microsoft.com/office/drawing/2014/main" id="{EC7D63E8-0599-4933-85D2-83EA139BA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ВХОД И ДОСТУП</a:t>
            </a:r>
          </a:p>
        </p:txBody>
      </p:sp>
      <p:sp>
        <p:nvSpPr>
          <p:cNvPr id="1514326518" name="Прямоугольник 1514326517">
            <a:extLst>
              <a:ext uri="{FF2B5EF4-FFF2-40B4-BE49-F238E27FC236}">
                <a16:creationId xmlns:a16="http://schemas.microsoft.com/office/drawing/2014/main" id="{E909098D-7230-40F1-B5A9-9D629133ED24}"/>
              </a:ext>
            </a:extLst>
          </p:cNvPr>
          <p:cNvSpPr>
            <a:spLocks noGrp="1"/>
          </p:cNvSpPr>
          <p:nvPr/>
        </p:nvSpPr>
        <p:spPr>
          <a:xfrm>
            <a:off x="1065130" y="4142200"/>
            <a:ext cx="4267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Авторизация по email и паролю</a:t>
            </a:r>
          </a:p>
        </p:txBody>
      </p:sp>
      <p:sp>
        <p:nvSpPr>
          <p:cNvPr id="1514326519" name="Прямоугольник 1514326518">
            <a:extLst>
              <a:ext uri="{FF2B5EF4-FFF2-40B4-BE49-F238E27FC236}">
                <a16:creationId xmlns:a16="http://schemas.microsoft.com/office/drawing/2014/main" id="{8EEA37F6-F34E-4F26-BE9C-1B776A8ECEC0}"/>
              </a:ext>
            </a:extLst>
          </p:cNvPr>
          <p:cNvSpPr>
            <a:spLocks noGrp="1"/>
          </p:cNvSpPr>
          <p:nvPr/>
        </p:nvSpPr>
        <p:spPr>
          <a:xfrm>
            <a:off x="1016110" y="4680623"/>
            <a:ext cx="42672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После входа API проверяет JWT. Закрытые маршруты требуют конкретного разрешения.</a:t>
            </a:r>
          </a:p>
        </p:txBody>
      </p:sp>
      <p:sp>
        <p:nvSpPr>
          <p:cNvPr id="1514326520" name="Прямоугольник 1514326519">
            <a:extLst>
              <a:ext uri="{FF2B5EF4-FFF2-40B4-BE49-F238E27FC236}">
                <a16:creationId xmlns:a16="http://schemas.microsoft.com/office/drawing/2014/main" id="{66CC61F1-1CB7-4460-9B4F-AE4C10D069AF}"/>
              </a:ext>
            </a:extLst>
          </p:cNvPr>
          <p:cNvSpPr>
            <a:spLocks noGrp="1"/>
          </p:cNvSpPr>
          <p:nvPr/>
        </p:nvSpPr>
        <p:spPr>
          <a:xfrm>
            <a:off x="6123023" y="4142200"/>
            <a:ext cx="4267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Четыре роли в админ-панели</a:t>
            </a:r>
          </a:p>
        </p:txBody>
      </p:sp>
      <p:sp>
        <p:nvSpPr>
          <p:cNvPr id="1514326521" name="Прямоугольник 1514326520">
            <a:extLst>
              <a:ext uri="{FF2B5EF4-FFF2-40B4-BE49-F238E27FC236}">
                <a16:creationId xmlns:a16="http://schemas.microsoft.com/office/drawing/2014/main" id="{ED053568-892F-4683-9F64-C8BF8A5EFF6A}"/>
              </a:ext>
            </a:extLst>
          </p:cNvPr>
          <p:cNvSpPr>
            <a:spLocks noGrp="1"/>
          </p:cNvSpPr>
          <p:nvPr/>
        </p:nvSpPr>
        <p:spPr>
          <a:xfrm>
            <a:off x="6123023" y="4680623"/>
            <a:ext cx="42672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Администратор задаёт наборы прав. Разделы и действия видны только при нужном доступе.</a:t>
            </a:r>
          </a:p>
        </p:txBody>
      </p:sp>
      <p:pic>
        <p:nvPicPr>
          <p:cNvPr id="1514326522" name="Рисунок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1419224"/>
            <a:ext cx="5231130" cy="2399809"/>
          </a:xfrm>
          <a:prstGeom prst="rect">
            <a:avLst/>
          </a:prstGeom>
        </p:spPr>
      </p:pic>
      <p:pic>
        <p:nvPicPr>
          <p:cNvPr id="151432652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292" y="1419224"/>
            <a:ext cx="3776330" cy="254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8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697470" name="Скругленный прямоугольник 1">
            <a:extLst>
              <a:ext uri="{FF2B5EF4-FFF2-40B4-BE49-F238E27FC236}">
                <a16:creationId xmlns:a16="http://schemas.microsoft.com/office/drawing/2014/main" id="{308D8064-7E29-4437-B861-645380D40C36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408081188" name="Скругленный прямоугольник 16">
            <a:extLst>
              <a:ext uri="{FF2B5EF4-FFF2-40B4-BE49-F238E27FC236}">
                <a16:creationId xmlns:a16="http://schemas.microsoft.com/office/drawing/2014/main" id="{4504EDB5-5C94-460C-A0D7-6F13652A2951}"/>
              </a:ext>
            </a:extLst>
          </p:cNvPr>
          <p:cNvSpPr>
            <a:spLocks noGrp="1"/>
          </p:cNvSpPr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752892571" name="Скругленный прямоугольник 17">
            <a:extLst>
              <a:ext uri="{FF2B5EF4-FFF2-40B4-BE49-F238E27FC236}">
                <a16:creationId xmlns:a16="http://schemas.microsoft.com/office/drawing/2014/main" id="{C4B2D679-56E7-4440-A599-A34B44ED6649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044073601" name="Скругленный прямоугольник 18">
            <a:extLst>
              <a:ext uri="{FF2B5EF4-FFF2-40B4-BE49-F238E27FC236}">
                <a16:creationId xmlns:a16="http://schemas.microsoft.com/office/drawing/2014/main" id="{CEA6E33D-7751-44AA-BD32-9C2ADD1E320A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607510307" name="Скругленный прямоугольник 22">
            <a:extLst>
              <a:ext uri="{FF2B5EF4-FFF2-40B4-BE49-F238E27FC236}">
                <a16:creationId xmlns:a16="http://schemas.microsoft.com/office/drawing/2014/main" id="{38E87E61-0203-4FAD-BE99-FBCD4D00DE59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13936051" name="Скругленный прямоугольник 14">
            <a:extLst>
              <a:ext uri="{FF2B5EF4-FFF2-40B4-BE49-F238E27FC236}">
                <a16:creationId xmlns:a16="http://schemas.microsoft.com/office/drawing/2014/main" id="{F669E880-15A2-40B4-96E3-628E02214C54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5160659" name="Текст 4">
            <a:extLst>
              <a:ext uri="{FF2B5EF4-FFF2-40B4-BE49-F238E27FC236}">
                <a16:creationId xmlns:a16="http://schemas.microsoft.com/office/drawing/2014/main" id="{DE74425C-418F-4B9E-A886-2583E3EE656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918325673" name="Текст 5">
            <a:extLst>
              <a:ext uri="{FF2B5EF4-FFF2-40B4-BE49-F238E27FC236}">
                <a16:creationId xmlns:a16="http://schemas.microsoft.com/office/drawing/2014/main" id="{1C94A3DD-6395-42C9-9EB7-293240C1808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479348560" name="Текст 6">
            <a:extLst>
              <a:ext uri="{FF2B5EF4-FFF2-40B4-BE49-F238E27FC236}">
                <a16:creationId xmlns:a16="http://schemas.microsoft.com/office/drawing/2014/main" id="{1ADB2F37-FBEF-4ACD-8304-32D38415D88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309804648" name="Текст 7">
            <a:extLst>
              <a:ext uri="{FF2B5EF4-FFF2-40B4-BE49-F238E27FC236}">
                <a16:creationId xmlns:a16="http://schemas.microsoft.com/office/drawing/2014/main" id="{1796473E-5C41-471F-8F72-42CF402D310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733971410" name="Заголовок 13">
            <a:extLst>
              <a:ext uri="{FF2B5EF4-FFF2-40B4-BE49-F238E27FC236}">
                <a16:creationId xmlns:a16="http://schemas.microsoft.com/office/drawing/2014/main" id="{34790894-A0E3-4F15-947A-FBDE3C63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РОЛИ И ОБЪЕКТЫ</a:t>
            </a:r>
          </a:p>
        </p:txBody>
      </p:sp>
      <p:sp>
        <p:nvSpPr>
          <p:cNvPr id="1918325674" name="Прямоугольник 1918325673">
            <a:extLst>
              <a:ext uri="{FF2B5EF4-FFF2-40B4-BE49-F238E27FC236}">
                <a16:creationId xmlns:a16="http://schemas.microsoft.com/office/drawing/2014/main" id="{90D2E119-8C33-4B72-9D05-FAC99D20BCA4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838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Два уровня доступа</a:t>
            </a:r>
          </a:p>
        </p:txBody>
      </p:sp>
      <p:sp>
        <p:nvSpPr>
          <p:cNvPr id="1918325675" name="Прямоугольник 1918325674">
            <a:extLst>
              <a:ext uri="{FF2B5EF4-FFF2-40B4-BE49-F238E27FC236}">
                <a16:creationId xmlns:a16="http://schemas.microsoft.com/office/drawing/2014/main" id="{B6E47F44-2780-4C39-BF4E-8B57C0846277}"/>
              </a:ext>
            </a:extLst>
          </p:cNvPr>
          <p:cNvSpPr>
            <a:spLocks noGrp="1"/>
          </p:cNvSpPr>
          <p:nvPr/>
        </p:nvSpPr>
        <p:spPr>
          <a:xfrm>
            <a:off x="609600" y="2045617"/>
            <a:ext cx="4666593" cy="350224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  <a:p>
            <a:pPr algn="l"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1. Роль определяет, какие действия доступны пользователю.</a:t>
            </a:r>
          </a:p>
          <a:p>
            <a:endParaRPr sz="1600" b="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  <a:p>
            <a:pPr algn="l"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2. Подразделение определяет, какие объекты он видит.</a:t>
            </a:r>
          </a:p>
          <a:p>
            <a:endParaRPr sz="1600" b="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  <a:p>
            <a:pPr algn="l"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3. Техник работает со своими назначенными проверками.</a:t>
            </a:r>
          </a:p>
          <a:p>
            <a:pPr algn="l"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endParaRPr sz="1600" b="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  <a:p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*</a:t>
            </a: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Разрешение — право на отдельное действие: </a:t>
            </a:r>
            <a:r>
              <a:rPr sz="12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например, </a:t>
            </a: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видеть объект (object.view), запустить прогноз (forecast.create), назначить проверку (assignment.create) или отметить её выполнение (assignment.complete).</a:t>
            </a:r>
          </a:p>
          <a:p>
            <a:pPr algn="l"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endParaRPr sz="1200" b="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  <a:p>
            <a:pPr algn="l"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br/>
            <a:br/>
            <a:endParaRPr/>
          </a:p>
        </p:txBody>
      </p:sp>
      <p:sp>
        <p:nvSpPr>
          <p:cNvPr id="1918325676" name="Прямоугольник 1918325675">
            <a:extLst>
              <a:ext uri="{FF2B5EF4-FFF2-40B4-BE49-F238E27FC236}">
                <a16:creationId xmlns:a16="http://schemas.microsoft.com/office/drawing/2014/main" id="{F7B7ADC8-E610-47CB-B773-BABC288A4FE4}"/>
              </a:ext>
            </a:extLst>
          </p:cNvPr>
          <p:cNvSpPr>
            <a:spLocks noGrp="1"/>
          </p:cNvSpPr>
          <p:nvPr/>
        </p:nvSpPr>
        <p:spPr>
          <a:xfrm>
            <a:off x="6162675" y="1495425"/>
            <a:ext cx="304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Администратор</a:t>
            </a:r>
          </a:p>
        </p:txBody>
      </p:sp>
      <p:sp>
        <p:nvSpPr>
          <p:cNvPr id="1918325677" name="Прямоугольник 1918325676">
            <a:extLst>
              <a:ext uri="{FF2B5EF4-FFF2-40B4-BE49-F238E27FC236}">
                <a16:creationId xmlns:a16="http://schemas.microsoft.com/office/drawing/2014/main" id="{BFE1EC7D-16AD-4B16-A61B-A47EB893D5F0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20097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3607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36074"/>
                </a:solidFill>
                <a:latin typeface="Montserrat"/>
                <a:ea typeface="Montserrat"/>
                <a:cs typeface="Montserrat"/>
              </a:rPr>
              <a:t>39 разрешений</a:t>
            </a:r>
          </a:p>
        </p:txBody>
      </p:sp>
      <p:sp>
        <p:nvSpPr>
          <p:cNvPr id="1918325678" name="Прямоугольник 1918325677">
            <a:extLst>
              <a:ext uri="{FF2B5EF4-FFF2-40B4-BE49-F238E27FC236}">
                <a16:creationId xmlns:a16="http://schemas.microsoft.com/office/drawing/2014/main" id="{F6E8AF44-C80E-476F-A4B3-DD75ABEA6B27}"/>
              </a:ext>
            </a:extLst>
          </p:cNvPr>
          <p:cNvSpPr>
            <a:spLocks noGrp="1"/>
          </p:cNvSpPr>
          <p:nvPr/>
        </p:nvSpPr>
        <p:spPr>
          <a:xfrm>
            <a:off x="6162675" y="2505075"/>
            <a:ext cx="304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Руководитель</a:t>
            </a:r>
          </a:p>
        </p:txBody>
      </p:sp>
      <p:sp>
        <p:nvSpPr>
          <p:cNvPr id="1918325679" name="Прямоугольник 1918325678">
            <a:extLst>
              <a:ext uri="{FF2B5EF4-FFF2-40B4-BE49-F238E27FC236}">
                <a16:creationId xmlns:a16="http://schemas.microsoft.com/office/drawing/2014/main" id="{A13C1B3B-3DA7-4F57-A8BF-2C92B203B46E}"/>
              </a:ext>
            </a:extLst>
          </p:cNvPr>
          <p:cNvSpPr>
            <a:spLocks noGrp="1"/>
          </p:cNvSpPr>
          <p:nvPr/>
        </p:nvSpPr>
        <p:spPr>
          <a:xfrm>
            <a:off x="9620250" y="2533650"/>
            <a:ext cx="20097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3607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36074"/>
                </a:solidFill>
                <a:latin typeface="Montserrat"/>
                <a:ea typeface="Montserrat"/>
                <a:cs typeface="Montserrat"/>
              </a:rPr>
              <a:t>27 разрешений</a:t>
            </a:r>
          </a:p>
        </p:txBody>
      </p:sp>
      <p:sp>
        <p:nvSpPr>
          <p:cNvPr id="1918325680" name="Прямоугольник 1918325679">
            <a:extLst>
              <a:ext uri="{FF2B5EF4-FFF2-40B4-BE49-F238E27FC236}">
                <a16:creationId xmlns:a16="http://schemas.microsoft.com/office/drawing/2014/main" id="{40FFD9DF-595E-4881-970F-A95977310DD5}"/>
              </a:ext>
            </a:extLst>
          </p:cNvPr>
          <p:cNvSpPr>
            <a:spLocks noGrp="1"/>
          </p:cNvSpPr>
          <p:nvPr/>
        </p:nvSpPr>
        <p:spPr>
          <a:xfrm>
            <a:off x="6162675" y="3514725"/>
            <a:ext cx="304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Диспетчер</a:t>
            </a:r>
          </a:p>
        </p:txBody>
      </p:sp>
      <p:sp>
        <p:nvSpPr>
          <p:cNvPr id="1918325681" name="Прямоугольник 1918325680">
            <a:extLst>
              <a:ext uri="{FF2B5EF4-FFF2-40B4-BE49-F238E27FC236}">
                <a16:creationId xmlns:a16="http://schemas.microsoft.com/office/drawing/2014/main" id="{2D5E9308-5832-48D2-97BB-40ADC23418B3}"/>
              </a:ext>
            </a:extLst>
          </p:cNvPr>
          <p:cNvSpPr>
            <a:spLocks noGrp="1"/>
          </p:cNvSpPr>
          <p:nvPr/>
        </p:nvSpPr>
        <p:spPr>
          <a:xfrm>
            <a:off x="9620250" y="3543300"/>
            <a:ext cx="20097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3607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36074"/>
                </a:solidFill>
                <a:latin typeface="Montserrat"/>
                <a:ea typeface="Montserrat"/>
                <a:cs typeface="Montserrat"/>
              </a:rPr>
              <a:t>14 разрешений</a:t>
            </a:r>
          </a:p>
        </p:txBody>
      </p:sp>
      <p:sp>
        <p:nvSpPr>
          <p:cNvPr id="1918325682" name="Прямоугольник 1918325681">
            <a:extLst>
              <a:ext uri="{FF2B5EF4-FFF2-40B4-BE49-F238E27FC236}">
                <a16:creationId xmlns:a16="http://schemas.microsoft.com/office/drawing/2014/main" id="{66493694-9995-416A-800F-11BA64B7BB71}"/>
              </a:ext>
            </a:extLst>
          </p:cNvPr>
          <p:cNvSpPr>
            <a:spLocks noGrp="1"/>
          </p:cNvSpPr>
          <p:nvPr/>
        </p:nvSpPr>
        <p:spPr>
          <a:xfrm>
            <a:off x="6162675" y="4524375"/>
            <a:ext cx="304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Техник</a:t>
            </a:r>
          </a:p>
        </p:txBody>
      </p:sp>
      <p:sp>
        <p:nvSpPr>
          <p:cNvPr id="1918325683" name="Прямоугольник 1918325682">
            <a:extLst>
              <a:ext uri="{FF2B5EF4-FFF2-40B4-BE49-F238E27FC236}">
                <a16:creationId xmlns:a16="http://schemas.microsoft.com/office/drawing/2014/main" id="{041C2AC6-ACB2-4315-88ED-E6832A4F4F1C}"/>
              </a:ext>
            </a:extLst>
          </p:cNvPr>
          <p:cNvSpPr>
            <a:spLocks noGrp="1"/>
          </p:cNvSpPr>
          <p:nvPr/>
        </p:nvSpPr>
        <p:spPr>
          <a:xfrm>
            <a:off x="9620250" y="4552950"/>
            <a:ext cx="20097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3607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36074"/>
                </a:solidFill>
                <a:latin typeface="Montserrat"/>
                <a:ea typeface="Montserrat"/>
                <a:cs typeface="Montserrat"/>
              </a:rPr>
              <a:t>14 разрешений</a:t>
            </a:r>
          </a:p>
        </p:txBody>
      </p:sp>
    </p:spTree>
    <p:extLst>
      <p:ext uri="{BB962C8B-B14F-4D97-AF65-F5344CB8AC3E}">
        <p14:creationId xmlns:p14="http://schemas.microsoft.com/office/powerpoint/2010/main" val="1012797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594478" name="Скругленный прямоугольник 1">
            <a:extLst>
              <a:ext uri="{FF2B5EF4-FFF2-40B4-BE49-F238E27FC236}">
                <a16:creationId xmlns:a16="http://schemas.microsoft.com/office/drawing/2014/main" id="{F2F67513-6B6A-434F-BCDE-5DDF1B88BF1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523875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89497782" name="Заголовок 13">
            <a:extLst>
              <a:ext uri="{FF2B5EF4-FFF2-40B4-BE49-F238E27FC236}">
                <a16:creationId xmlns:a16="http://schemas.microsoft.com/office/drawing/2014/main" id="{5853F68C-D724-4347-AC2B-18A2CC63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5524500" cy="376138"/>
          </a:xfrm>
        </p:spPr>
        <p:txBody>
          <a:bodyPr/>
          <a:lstStyle/>
          <a:p>
            <a:pPr>
              <a:buNone/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АДМИНИСТРИРОВАНИЕ</a:t>
            </a:r>
          </a:p>
        </p:txBody>
      </p:sp>
      <p:pic>
        <p:nvPicPr>
          <p:cNvPr id="1589497783" name="Рисунок 158949778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" r="453"/>
          <a:stretch/>
        </p:blipFill>
        <p:spPr>
          <a:xfrm>
            <a:off x="85725" y="1276350"/>
            <a:ext cx="8601075" cy="4829175"/>
          </a:xfrm>
          <a:prstGeom prst="rect">
            <a:avLst/>
          </a:prstGeom>
        </p:spPr>
      </p:pic>
      <p:sp>
        <p:nvSpPr>
          <p:cNvPr id="1589497784" name="Прямоугольник 1589497783">
            <a:extLst>
              <a:ext uri="{FF2B5EF4-FFF2-40B4-BE49-F238E27FC236}">
                <a16:creationId xmlns:a16="http://schemas.microsoft.com/office/drawing/2014/main" id="{D920E1E6-B754-4C31-B704-E346E3492028}"/>
              </a:ext>
            </a:extLst>
          </p:cNvPr>
          <p:cNvSpPr>
            <a:spLocks noGrp="1"/>
          </p:cNvSpPr>
          <p:nvPr/>
        </p:nvSpPr>
        <p:spPr>
          <a:xfrm>
            <a:off x="8686800" y="1343025"/>
            <a:ext cx="3095625" cy="4810125"/>
          </a:xfrm>
          <a:prstGeom prst="rect">
            <a:avLst/>
          </a:prstGeom>
          <a:solidFill>
            <a:srgbClr val="F8EF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9497785" name="Прямоугольник 1589497784">
            <a:extLst>
              <a:ext uri="{FF2B5EF4-FFF2-40B4-BE49-F238E27FC236}">
                <a16:creationId xmlns:a16="http://schemas.microsoft.com/office/drawing/2014/main" id="{AB1BDE4E-46B8-481A-94CE-3E4FB0436034}"/>
              </a:ext>
            </a:extLst>
          </p:cNvPr>
          <p:cNvSpPr>
            <a:spLocks noGrp="1"/>
          </p:cNvSpPr>
          <p:nvPr/>
        </p:nvSpPr>
        <p:spPr>
          <a:xfrm>
            <a:off x="8867775" y="1533525"/>
            <a:ext cx="271462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Управление доступом</a:t>
            </a:r>
          </a:p>
        </p:txBody>
      </p:sp>
      <p:sp>
        <p:nvSpPr>
          <p:cNvPr id="1589497786" name="Прямоугольник 1589497785">
            <a:extLst>
              <a:ext uri="{FF2B5EF4-FFF2-40B4-BE49-F238E27FC236}">
                <a16:creationId xmlns:a16="http://schemas.microsoft.com/office/drawing/2014/main" id="{21948626-9B3E-4E63-B117-4B6456A734D0}"/>
              </a:ext>
            </a:extLst>
          </p:cNvPr>
          <p:cNvSpPr>
            <a:spLocks noGrp="1"/>
          </p:cNvSpPr>
          <p:nvPr/>
        </p:nvSpPr>
        <p:spPr>
          <a:xfrm>
            <a:off x="8867775" y="234315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589497787" name="Прямоугольник 1589497786">
            <a:extLst>
              <a:ext uri="{FF2B5EF4-FFF2-40B4-BE49-F238E27FC236}">
                <a16:creationId xmlns:a16="http://schemas.microsoft.com/office/drawing/2014/main" id="{2997DE87-8C16-42B4-B72C-DB827A2CA50D}"/>
              </a:ext>
            </a:extLst>
          </p:cNvPr>
          <p:cNvSpPr>
            <a:spLocks noGrp="1"/>
          </p:cNvSpPr>
          <p:nvPr/>
        </p:nvSpPr>
        <p:spPr>
          <a:xfrm>
            <a:off x="9315450" y="2343150"/>
            <a:ext cx="222885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Во вкладке «Пользователи» доступны поиск, статус учётной записи, подразделения и назначенные роли.</a:t>
            </a:r>
          </a:p>
        </p:txBody>
      </p:sp>
      <p:sp>
        <p:nvSpPr>
          <p:cNvPr id="1589497788" name="Прямоугольник 1589497787">
            <a:extLst>
              <a:ext uri="{FF2B5EF4-FFF2-40B4-BE49-F238E27FC236}">
                <a16:creationId xmlns:a16="http://schemas.microsoft.com/office/drawing/2014/main" id="{4C4352A3-A5DE-4522-8DE8-F065F9CAFA99}"/>
              </a:ext>
            </a:extLst>
          </p:cNvPr>
          <p:cNvSpPr>
            <a:spLocks noGrp="1"/>
          </p:cNvSpPr>
          <p:nvPr/>
        </p:nvSpPr>
        <p:spPr>
          <a:xfrm>
            <a:off x="8867775" y="35528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89497789" name="Прямоугольник 1589497788">
            <a:extLst>
              <a:ext uri="{FF2B5EF4-FFF2-40B4-BE49-F238E27FC236}">
                <a16:creationId xmlns:a16="http://schemas.microsoft.com/office/drawing/2014/main" id="{8577F183-04D2-497B-9C1A-0C7E0FC22F9F}"/>
              </a:ext>
            </a:extLst>
          </p:cNvPr>
          <p:cNvSpPr>
            <a:spLocks noGrp="1"/>
          </p:cNvSpPr>
          <p:nvPr/>
        </p:nvSpPr>
        <p:spPr>
          <a:xfrm>
            <a:off x="9315450" y="3552825"/>
            <a:ext cx="222885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Во вкладке «Роли» администратор задаёт наборы прав для диспетчера, техника, руководителя и себя.</a:t>
            </a:r>
          </a:p>
        </p:txBody>
      </p:sp>
      <p:sp>
        <p:nvSpPr>
          <p:cNvPr id="1589497790" name="Прямоугольник 1589497789">
            <a:extLst>
              <a:ext uri="{FF2B5EF4-FFF2-40B4-BE49-F238E27FC236}">
                <a16:creationId xmlns:a16="http://schemas.microsoft.com/office/drawing/2014/main" id="{3117473D-4548-4432-A256-185FC2C0C5B5}"/>
              </a:ext>
            </a:extLst>
          </p:cNvPr>
          <p:cNvSpPr>
            <a:spLocks noGrp="1"/>
          </p:cNvSpPr>
          <p:nvPr/>
        </p:nvSpPr>
        <p:spPr>
          <a:xfrm>
            <a:off x="8867775" y="476250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589497791" name="Прямоугольник 1589497790">
            <a:extLst>
              <a:ext uri="{FF2B5EF4-FFF2-40B4-BE49-F238E27FC236}">
                <a16:creationId xmlns:a16="http://schemas.microsoft.com/office/drawing/2014/main" id="{3CC6A5CA-D5A8-4B42-AB1A-31130AD1DBA6}"/>
              </a:ext>
            </a:extLst>
          </p:cNvPr>
          <p:cNvSpPr>
            <a:spLocks noGrp="1"/>
          </p:cNvSpPr>
          <p:nvPr/>
        </p:nvSpPr>
        <p:spPr>
          <a:xfrm>
            <a:off x="9315450" y="4762500"/>
            <a:ext cx="222885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Во вкладке «Разрешения» настраивается доступ к отдельным разделам и действиям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786114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594478" name="Скругленный прямоугольник 1">
            <a:extLst>
              <a:ext uri="{FF2B5EF4-FFF2-40B4-BE49-F238E27FC236}">
                <a16:creationId xmlns:a16="http://schemas.microsoft.com/office/drawing/2014/main" id="{F2F67513-6B6A-434F-BCDE-5DDF1B88BF1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89497782" name="Заголовок 13">
            <a:extLst>
              <a:ext uri="{FF2B5EF4-FFF2-40B4-BE49-F238E27FC236}">
                <a16:creationId xmlns:a16="http://schemas.microsoft.com/office/drawing/2014/main" id="{5853F68C-D724-4347-AC2B-18A2CC63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ДАШБОРД</a:t>
            </a:r>
          </a:p>
        </p:txBody>
      </p:sp>
      <p:pic>
        <p:nvPicPr>
          <p:cNvPr id="1589497783" name="Рисунок 211333320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725" y="1280029"/>
            <a:ext cx="8601075" cy="4821815"/>
          </a:xfrm>
          <a:prstGeom prst="rect">
            <a:avLst/>
          </a:prstGeom>
        </p:spPr>
      </p:pic>
      <p:sp>
        <p:nvSpPr>
          <p:cNvPr id="2113333207" name="Прямоугольник 2113333206">
            <a:extLst>
              <a:ext uri="{FF2B5EF4-FFF2-40B4-BE49-F238E27FC236}">
                <a16:creationId xmlns:a16="http://schemas.microsoft.com/office/drawing/2014/main" id="{79C05768-24B3-489E-A1F5-A8F9C63E1E95}"/>
              </a:ext>
            </a:extLst>
          </p:cNvPr>
          <p:cNvSpPr>
            <a:spLocks noGrp="1"/>
          </p:cNvSpPr>
          <p:nvPr/>
        </p:nvSpPr>
        <p:spPr>
          <a:xfrm>
            <a:off x="8686800" y="1343025"/>
            <a:ext cx="3095625" cy="4810125"/>
          </a:xfrm>
          <a:prstGeom prst="rect">
            <a:avLst/>
          </a:prstGeom>
          <a:solidFill>
            <a:srgbClr val="F7E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3333208" name="Прямоугольник 2113333207">
            <a:extLst>
              <a:ext uri="{FF2B5EF4-FFF2-40B4-BE49-F238E27FC236}">
                <a16:creationId xmlns:a16="http://schemas.microsoft.com/office/drawing/2014/main" id="{C793D23E-AD45-416E-819A-FB5489BBE56E}"/>
              </a:ext>
            </a:extLst>
          </p:cNvPr>
          <p:cNvSpPr>
            <a:spLocks noGrp="1"/>
          </p:cNvSpPr>
          <p:nvPr/>
        </p:nvSpPr>
        <p:spPr>
          <a:xfrm>
            <a:off x="8867775" y="1524000"/>
            <a:ext cx="271462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Что видно сразу</a:t>
            </a:r>
          </a:p>
        </p:txBody>
      </p:sp>
      <p:sp>
        <p:nvSpPr>
          <p:cNvPr id="2113333209" name="Прямоугольник 2113333208">
            <a:extLst>
              <a:ext uri="{FF2B5EF4-FFF2-40B4-BE49-F238E27FC236}">
                <a16:creationId xmlns:a16="http://schemas.microsoft.com/office/drawing/2014/main" id="{FF0B3F0A-EB44-41D7-9460-4958580E1DD7}"/>
              </a:ext>
            </a:extLst>
          </p:cNvPr>
          <p:cNvSpPr>
            <a:spLocks noGrp="1"/>
          </p:cNvSpPr>
          <p:nvPr/>
        </p:nvSpPr>
        <p:spPr>
          <a:xfrm>
            <a:off x="8867775" y="23241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8892FF7-F329-48CA-B797-C1BB0D008BB9}"/>
              </a:ext>
            </a:extLst>
          </p:cNvPr>
          <p:cNvSpPr>
            <a:spLocks noGrp="1"/>
          </p:cNvSpPr>
          <p:nvPr/>
        </p:nvSpPr>
        <p:spPr>
          <a:xfrm>
            <a:off x="9305925" y="23241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Карточки показывают число доступных объектов и датчиков, а также сотрудников по ролям.</a:t>
            </a:r>
          </a:p>
        </p:txBody>
      </p:sp>
      <p:sp>
        <p:nvSpPr>
          <p:cNvPr id="2113333211" name="Прямоугольник 2113333210">
            <a:extLst>
              <a:ext uri="{FF2B5EF4-FFF2-40B4-BE49-F238E27FC236}">
                <a16:creationId xmlns:a16="http://schemas.microsoft.com/office/drawing/2014/main" id="{7F3131BD-93EE-4A0D-9895-5D94E92B8F0A}"/>
              </a:ext>
            </a:extLst>
          </p:cNvPr>
          <p:cNvSpPr>
            <a:spLocks noGrp="1"/>
          </p:cNvSpPr>
          <p:nvPr/>
        </p:nvSpPr>
        <p:spPr>
          <a:xfrm>
            <a:off x="8867775" y="32575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113333212" name="Прямоугольник 2113333211">
            <a:extLst>
              <a:ext uri="{FF2B5EF4-FFF2-40B4-BE49-F238E27FC236}">
                <a16:creationId xmlns:a16="http://schemas.microsoft.com/office/drawing/2014/main" id="{FC68EE98-2BEB-4BDC-811B-843AE6325D3B}"/>
              </a:ext>
            </a:extLst>
          </p:cNvPr>
          <p:cNvSpPr>
            <a:spLocks noGrp="1"/>
          </p:cNvSpPr>
          <p:nvPr/>
        </p:nvSpPr>
        <p:spPr>
          <a:xfrm>
            <a:off x="9305925" y="32575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Список внимания собирает объекты с отклонениями и последние проблемные показания.</a:t>
            </a:r>
          </a:p>
        </p:txBody>
      </p:sp>
      <p:sp>
        <p:nvSpPr>
          <p:cNvPr id="2113333213" name="Прямоугольник 2113333212">
            <a:extLst>
              <a:ext uri="{FF2B5EF4-FFF2-40B4-BE49-F238E27FC236}">
                <a16:creationId xmlns:a16="http://schemas.microsoft.com/office/drawing/2014/main" id="{68572FFD-675C-4B9F-B5A3-8C7347391FBD}"/>
              </a:ext>
            </a:extLst>
          </p:cNvPr>
          <p:cNvSpPr>
            <a:spLocks noGrp="1"/>
          </p:cNvSpPr>
          <p:nvPr/>
        </p:nvSpPr>
        <p:spPr>
          <a:xfrm>
            <a:off x="8867775" y="41910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13333214" name="Прямоугольник 2113333213">
            <a:extLst>
              <a:ext uri="{FF2B5EF4-FFF2-40B4-BE49-F238E27FC236}">
                <a16:creationId xmlns:a16="http://schemas.microsoft.com/office/drawing/2014/main" id="{3D2D77DD-4793-441D-A71A-333F26DD3216}"/>
              </a:ext>
            </a:extLst>
          </p:cNvPr>
          <p:cNvSpPr>
            <a:spLocks noGrp="1"/>
          </p:cNvSpPr>
          <p:nvPr/>
        </p:nvSpPr>
        <p:spPr>
          <a:xfrm>
            <a:off x="9305925" y="41910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Мини-карта показывает расположение объектов; из неё можно открыть полную карту.</a:t>
            </a:r>
          </a:p>
        </p:txBody>
      </p:sp>
      <p:sp>
        <p:nvSpPr>
          <p:cNvPr id="2113333215" name="Прямоугольник 2113333214">
            <a:extLst>
              <a:ext uri="{FF2B5EF4-FFF2-40B4-BE49-F238E27FC236}">
                <a16:creationId xmlns:a16="http://schemas.microsoft.com/office/drawing/2014/main" id="{7A27DC9F-0F09-4FDF-8784-B7B92D22976D}"/>
              </a:ext>
            </a:extLst>
          </p:cNvPr>
          <p:cNvSpPr>
            <a:spLocks noGrp="1"/>
          </p:cNvSpPr>
          <p:nvPr/>
        </p:nvSpPr>
        <p:spPr>
          <a:xfrm>
            <a:off x="8867775" y="51244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113333216" name="Прямоугольник 2113333215">
            <a:extLst>
              <a:ext uri="{FF2B5EF4-FFF2-40B4-BE49-F238E27FC236}">
                <a16:creationId xmlns:a16="http://schemas.microsoft.com/office/drawing/2014/main" id="{3430D798-99BB-4F22-A9DD-844873C61A06}"/>
              </a:ext>
            </a:extLst>
          </p:cNvPr>
          <p:cNvSpPr>
            <a:spLocks noGrp="1"/>
          </p:cNvSpPr>
          <p:nvPr/>
        </p:nvSpPr>
        <p:spPr>
          <a:xfrm>
            <a:off x="9305925" y="51244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Кнопка обновления помогает быстро получить актуальную сводку.</a:t>
            </a:r>
          </a:p>
        </p:txBody>
      </p:sp>
    </p:spTree>
    <p:extLst>
      <p:ext uri="{BB962C8B-B14F-4D97-AF65-F5344CB8AC3E}">
        <p14:creationId xmlns:p14="http://schemas.microsoft.com/office/powerpoint/2010/main" val="1786114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594478" name="Скругленный прямоугольник 1">
            <a:extLst>
              <a:ext uri="{FF2B5EF4-FFF2-40B4-BE49-F238E27FC236}">
                <a16:creationId xmlns:a16="http://schemas.microsoft.com/office/drawing/2014/main" id="{F2F67513-6B6A-434F-BCDE-5DDF1B88BF1F}"/>
              </a:ext>
            </a:extLst>
          </p:cNvPr>
          <p:cNvSpPr>
            <a:spLocks noGrp="1"/>
          </p:cNvSpPr>
          <p:nvPr/>
        </p:nvSpPr>
        <p:spPr>
          <a:xfrm>
            <a:off x="346074" y="324562"/>
            <a:ext cx="413448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128566567" name="Номер слайда 6">
            <a:extLst>
              <a:ext uri="{FF2B5EF4-FFF2-40B4-BE49-F238E27FC236}">
                <a16:creationId xmlns:a16="http://schemas.microsoft.com/office/drawing/2014/main" id="{64AD4256-7106-4799-91A9-A5E69E2D24D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589497782" name="Заголовок 13">
            <a:extLst>
              <a:ext uri="{FF2B5EF4-FFF2-40B4-BE49-F238E27FC236}">
                <a16:creationId xmlns:a16="http://schemas.microsoft.com/office/drawing/2014/main" id="{5853F68C-D724-4347-AC2B-18A2CC63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451823" cy="376138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КАРТА ОБЪЕКТОВ</a:t>
            </a:r>
          </a:p>
        </p:txBody>
      </p:sp>
      <p:pic>
        <p:nvPicPr>
          <p:cNvPr id="1589497783" name="Рисунок 2113333209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4901" y="1324984"/>
            <a:ext cx="8201873" cy="4969371"/>
          </a:xfrm>
          <a:prstGeom prst="rect">
            <a:avLst/>
          </a:prstGeom>
        </p:spPr>
      </p:pic>
      <p:sp>
        <p:nvSpPr>
          <p:cNvPr id="2113333207" name="Прямоугольник 2113333206">
            <a:extLst>
              <a:ext uri="{FF2B5EF4-FFF2-40B4-BE49-F238E27FC236}">
                <a16:creationId xmlns:a16="http://schemas.microsoft.com/office/drawing/2014/main" id="{90210032-BF22-4A7C-98EA-99A479561ACE}"/>
              </a:ext>
            </a:extLst>
          </p:cNvPr>
          <p:cNvSpPr>
            <a:spLocks noGrp="1"/>
          </p:cNvSpPr>
          <p:nvPr/>
        </p:nvSpPr>
        <p:spPr>
          <a:xfrm>
            <a:off x="8686800" y="1343025"/>
            <a:ext cx="3095625" cy="4810125"/>
          </a:xfrm>
          <a:prstGeom prst="rect">
            <a:avLst/>
          </a:prstGeom>
          <a:solidFill>
            <a:srgbClr val="F7E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3333208" name="Прямоугольник 2113333207">
            <a:extLst>
              <a:ext uri="{FF2B5EF4-FFF2-40B4-BE49-F238E27FC236}">
                <a16:creationId xmlns:a16="http://schemas.microsoft.com/office/drawing/2014/main" id="{A6529C39-5536-4BF0-A50C-E5D5BA10135E}"/>
              </a:ext>
            </a:extLst>
          </p:cNvPr>
          <p:cNvSpPr>
            <a:spLocks noGrp="1"/>
          </p:cNvSpPr>
          <p:nvPr/>
        </p:nvSpPr>
        <p:spPr>
          <a:xfrm>
            <a:off x="8867775" y="1524000"/>
            <a:ext cx="271462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Территория под контролем</a:t>
            </a:r>
          </a:p>
        </p:txBody>
      </p:sp>
      <p:sp>
        <p:nvSpPr>
          <p:cNvPr id="2113333209" name="Прямоугольник 2113333208">
            <a:extLst>
              <a:ext uri="{FF2B5EF4-FFF2-40B4-BE49-F238E27FC236}">
                <a16:creationId xmlns:a16="http://schemas.microsoft.com/office/drawing/2014/main" id="{A9709D6F-931A-4BC9-9D0E-90733F3E9309}"/>
              </a:ext>
            </a:extLst>
          </p:cNvPr>
          <p:cNvSpPr>
            <a:spLocks noGrp="1"/>
          </p:cNvSpPr>
          <p:nvPr/>
        </p:nvSpPr>
        <p:spPr>
          <a:xfrm>
            <a:off x="8867775" y="23241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65490F9-2AF4-4AB4-AA6B-719BEB8A93F8}"/>
              </a:ext>
            </a:extLst>
          </p:cNvPr>
          <p:cNvSpPr>
            <a:spLocks noGrp="1"/>
          </p:cNvSpPr>
          <p:nvPr/>
        </p:nvSpPr>
        <p:spPr>
          <a:xfrm>
            <a:off x="9305925" y="23241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 карту попадают доступные пользователю объекты с координатами в справочнике.</a:t>
            </a:r>
          </a:p>
        </p:txBody>
      </p:sp>
      <p:sp>
        <p:nvSpPr>
          <p:cNvPr id="2113333211" name="Прямоугольник 2113333210">
            <a:extLst>
              <a:ext uri="{FF2B5EF4-FFF2-40B4-BE49-F238E27FC236}">
                <a16:creationId xmlns:a16="http://schemas.microsoft.com/office/drawing/2014/main" id="{5A3E020F-8CA0-4034-A45A-F010E5AF1D52}"/>
              </a:ext>
            </a:extLst>
          </p:cNvPr>
          <p:cNvSpPr>
            <a:spLocks noGrp="1"/>
          </p:cNvSpPr>
          <p:nvPr/>
        </p:nvSpPr>
        <p:spPr>
          <a:xfrm>
            <a:off x="8867775" y="32575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113333212" name="Прямоугольник 2113333211">
            <a:extLst>
              <a:ext uri="{FF2B5EF4-FFF2-40B4-BE49-F238E27FC236}">
                <a16:creationId xmlns:a16="http://schemas.microsoft.com/office/drawing/2014/main" id="{C4191F17-EB34-4BD6-9AA9-A8D6D3A29224}"/>
              </a:ext>
            </a:extLst>
          </p:cNvPr>
          <p:cNvSpPr>
            <a:spLocks noGrp="1"/>
          </p:cNvSpPr>
          <p:nvPr/>
        </p:nvSpPr>
        <p:spPr>
          <a:xfrm>
            <a:off x="9305925" y="32575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Цвет метки помогает отличить спокойный объект от объекта с отклонением.</a:t>
            </a:r>
          </a:p>
        </p:txBody>
      </p:sp>
      <p:sp>
        <p:nvSpPr>
          <p:cNvPr id="2113333213" name="Прямоугольник 2113333212">
            <a:extLst>
              <a:ext uri="{FF2B5EF4-FFF2-40B4-BE49-F238E27FC236}">
                <a16:creationId xmlns:a16="http://schemas.microsoft.com/office/drawing/2014/main" id="{8E1D6C5C-E8E9-45BE-A76F-F03AFBBAC486}"/>
              </a:ext>
            </a:extLst>
          </p:cNvPr>
          <p:cNvSpPr>
            <a:spLocks noGrp="1"/>
          </p:cNvSpPr>
          <p:nvPr/>
        </p:nvSpPr>
        <p:spPr>
          <a:xfrm>
            <a:off x="8867775" y="41910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13333214" name="Прямоугольник 2113333213">
            <a:extLst>
              <a:ext uri="{FF2B5EF4-FFF2-40B4-BE49-F238E27FC236}">
                <a16:creationId xmlns:a16="http://schemas.microsoft.com/office/drawing/2014/main" id="{197E9CE2-2D54-46B3-B1D3-311B6DE68414}"/>
              </a:ext>
            </a:extLst>
          </p:cNvPr>
          <p:cNvSpPr>
            <a:spLocks noGrp="1"/>
          </p:cNvSpPr>
          <p:nvPr/>
        </p:nvSpPr>
        <p:spPr>
          <a:xfrm>
            <a:off x="9305925" y="41910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Клик открывает карточку: датчики, их последние значения и время события.</a:t>
            </a:r>
          </a:p>
        </p:txBody>
      </p:sp>
      <p:sp>
        <p:nvSpPr>
          <p:cNvPr id="2113333215" name="Прямоугольник 2113333214">
            <a:extLst>
              <a:ext uri="{FF2B5EF4-FFF2-40B4-BE49-F238E27FC236}">
                <a16:creationId xmlns:a16="http://schemas.microsoft.com/office/drawing/2014/main" id="{993BBF79-7CCD-42AD-B337-44B4D9D23EE0}"/>
              </a:ext>
            </a:extLst>
          </p:cNvPr>
          <p:cNvSpPr>
            <a:spLocks noGrp="1"/>
          </p:cNvSpPr>
          <p:nvPr/>
        </p:nvSpPr>
        <p:spPr>
          <a:xfrm>
            <a:off x="8867775" y="51244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113333216" name="Прямоугольник 2113333215">
            <a:extLst>
              <a:ext uri="{FF2B5EF4-FFF2-40B4-BE49-F238E27FC236}">
                <a16:creationId xmlns:a16="http://schemas.microsoft.com/office/drawing/2014/main" id="{D353F7B6-3413-47CF-9246-03467BC84370}"/>
              </a:ext>
            </a:extLst>
          </p:cNvPr>
          <p:cNvSpPr>
            <a:spLocks noGrp="1"/>
          </p:cNvSpPr>
          <p:nvPr/>
        </p:nvSpPr>
        <p:spPr>
          <a:xfrm>
            <a:off x="9305925" y="51244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География помогает диспетчеру спланировать очередность проверок.</a:t>
            </a:r>
          </a:p>
        </p:txBody>
      </p:sp>
    </p:spTree>
    <p:extLst>
      <p:ext uri="{BB962C8B-B14F-4D97-AF65-F5344CB8AC3E}">
        <p14:creationId xmlns:p14="http://schemas.microsoft.com/office/powerpoint/2010/main" val="1786114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594478" name="Скругленный прямоугольник 1">
            <a:extLst>
              <a:ext uri="{FF2B5EF4-FFF2-40B4-BE49-F238E27FC236}">
                <a16:creationId xmlns:a16="http://schemas.microsoft.com/office/drawing/2014/main" id="{F2F67513-6B6A-434F-BCDE-5DDF1B88BF1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89497782" name="Заголовок 13">
            <a:extLst>
              <a:ext uri="{FF2B5EF4-FFF2-40B4-BE49-F238E27FC236}">
                <a16:creationId xmlns:a16="http://schemas.microsoft.com/office/drawing/2014/main" id="{5853F68C-D724-4347-AC2B-18A2CC63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ОБЪЕКТЫ</a:t>
            </a:r>
          </a:p>
        </p:txBody>
      </p:sp>
      <p:pic>
        <p:nvPicPr>
          <p:cNvPr id="1589497783" name="Рисунок 211333320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6725" y="1348798"/>
            <a:ext cx="7981950" cy="4474730"/>
          </a:xfrm>
          <a:prstGeom prst="rect">
            <a:avLst/>
          </a:prstGeom>
        </p:spPr>
      </p:pic>
      <p:sp>
        <p:nvSpPr>
          <p:cNvPr id="2113333207" name="Прямоугольник 2113333206">
            <a:extLst>
              <a:ext uri="{FF2B5EF4-FFF2-40B4-BE49-F238E27FC236}">
                <a16:creationId xmlns:a16="http://schemas.microsoft.com/office/drawing/2014/main" id="{A80C7881-95E7-485E-8287-CB7C77A0E4BB}"/>
              </a:ext>
            </a:extLst>
          </p:cNvPr>
          <p:cNvSpPr>
            <a:spLocks noGrp="1"/>
          </p:cNvSpPr>
          <p:nvPr/>
        </p:nvSpPr>
        <p:spPr>
          <a:xfrm>
            <a:off x="8686800" y="1343025"/>
            <a:ext cx="3038475" cy="5352065"/>
          </a:xfrm>
          <a:prstGeom prst="rect">
            <a:avLst/>
          </a:prstGeom>
          <a:solidFill>
            <a:srgbClr val="F7E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3333208" name="Прямоугольник 2113333207">
            <a:extLst>
              <a:ext uri="{FF2B5EF4-FFF2-40B4-BE49-F238E27FC236}">
                <a16:creationId xmlns:a16="http://schemas.microsoft.com/office/drawing/2014/main" id="{FEFCEACA-8C06-4F7B-9CFF-C7FF70DCE613}"/>
              </a:ext>
            </a:extLst>
          </p:cNvPr>
          <p:cNvSpPr>
            <a:spLocks noGrp="1"/>
          </p:cNvSpPr>
          <p:nvPr/>
        </p:nvSpPr>
        <p:spPr>
          <a:xfrm>
            <a:off x="8867775" y="1524000"/>
            <a:ext cx="271462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Карточка объекта</a:t>
            </a:r>
          </a:p>
        </p:txBody>
      </p:sp>
      <p:sp>
        <p:nvSpPr>
          <p:cNvPr id="2113333209" name="Прямоугольник 2113333208">
            <a:extLst>
              <a:ext uri="{FF2B5EF4-FFF2-40B4-BE49-F238E27FC236}">
                <a16:creationId xmlns:a16="http://schemas.microsoft.com/office/drawing/2014/main" id="{EE7BC181-D91E-4076-A374-4C0FD5EBDC48}"/>
              </a:ext>
            </a:extLst>
          </p:cNvPr>
          <p:cNvSpPr>
            <a:spLocks noGrp="1"/>
          </p:cNvSpPr>
          <p:nvPr/>
        </p:nvSpPr>
        <p:spPr>
          <a:xfrm>
            <a:off x="8867775" y="23241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A4D5E5-5947-44EC-83B0-B14061545E00}"/>
              </a:ext>
            </a:extLst>
          </p:cNvPr>
          <p:cNvSpPr>
            <a:spLocks noGrp="1"/>
          </p:cNvSpPr>
          <p:nvPr/>
        </p:nvSpPr>
        <p:spPr>
          <a:xfrm>
            <a:off x="9305925" y="23241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 названию и району можно быстро найти нужный объект в реестре.</a:t>
            </a:r>
          </a:p>
        </p:txBody>
      </p:sp>
      <p:sp>
        <p:nvSpPr>
          <p:cNvPr id="2113333211" name="Прямоугольник 2113333210">
            <a:extLst>
              <a:ext uri="{FF2B5EF4-FFF2-40B4-BE49-F238E27FC236}">
                <a16:creationId xmlns:a16="http://schemas.microsoft.com/office/drawing/2014/main" id="{5CF36028-CBAF-411C-B0F6-7273ACFA3B81}"/>
              </a:ext>
            </a:extLst>
          </p:cNvPr>
          <p:cNvSpPr>
            <a:spLocks noGrp="1"/>
          </p:cNvSpPr>
          <p:nvPr/>
        </p:nvSpPr>
        <p:spPr>
          <a:xfrm>
            <a:off x="8867775" y="32575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113333212" name="Прямоугольник 2113333211">
            <a:extLst>
              <a:ext uri="{FF2B5EF4-FFF2-40B4-BE49-F238E27FC236}">
                <a16:creationId xmlns:a16="http://schemas.microsoft.com/office/drawing/2014/main" id="{ABE6AF0F-9DA8-4426-8DA0-55C7F25B76F7}"/>
              </a:ext>
            </a:extLst>
          </p:cNvPr>
          <p:cNvSpPr>
            <a:spLocks noGrp="1"/>
          </p:cNvSpPr>
          <p:nvPr/>
        </p:nvSpPr>
        <p:spPr>
          <a:xfrm>
            <a:off x="9305925" y="32575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карточке хранятся ID, тип, район, координаты и привязанные датчики.</a:t>
            </a:r>
          </a:p>
        </p:txBody>
      </p:sp>
      <p:sp>
        <p:nvSpPr>
          <p:cNvPr id="2113333213" name="Прямоугольник 2113333212">
            <a:extLst>
              <a:ext uri="{FF2B5EF4-FFF2-40B4-BE49-F238E27FC236}">
                <a16:creationId xmlns:a16="http://schemas.microsoft.com/office/drawing/2014/main" id="{4617DA0E-7EE0-4F35-A256-24AF5D1E7C60}"/>
              </a:ext>
            </a:extLst>
          </p:cNvPr>
          <p:cNvSpPr>
            <a:spLocks noGrp="1"/>
          </p:cNvSpPr>
          <p:nvPr/>
        </p:nvSpPr>
        <p:spPr>
          <a:xfrm>
            <a:off x="8867775" y="41910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13333214" name="Прямоугольник 2113333213">
            <a:extLst>
              <a:ext uri="{FF2B5EF4-FFF2-40B4-BE49-F238E27FC236}">
                <a16:creationId xmlns:a16="http://schemas.microsoft.com/office/drawing/2014/main" id="{CF41FEC8-4F2F-45FD-AC1A-57F4C82EB631}"/>
              </a:ext>
            </a:extLst>
          </p:cNvPr>
          <p:cNvSpPr>
            <a:spLocks noGrp="1"/>
          </p:cNvSpPr>
          <p:nvPr/>
        </p:nvSpPr>
        <p:spPr>
          <a:xfrm>
            <a:off x="9305925" y="41910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Для каждого датчика видны последнее показание и время его получения.</a:t>
            </a:r>
          </a:p>
        </p:txBody>
      </p:sp>
      <p:sp>
        <p:nvSpPr>
          <p:cNvPr id="2113333215" name="Прямоугольник 2113333214">
            <a:extLst>
              <a:ext uri="{FF2B5EF4-FFF2-40B4-BE49-F238E27FC236}">
                <a16:creationId xmlns:a16="http://schemas.microsoft.com/office/drawing/2014/main" id="{491BDE34-2A44-4B54-9600-3C345C291914}"/>
              </a:ext>
            </a:extLst>
          </p:cNvPr>
          <p:cNvSpPr>
            <a:spLocks noGrp="1"/>
          </p:cNvSpPr>
          <p:nvPr/>
        </p:nvSpPr>
        <p:spPr>
          <a:xfrm>
            <a:off x="8867775" y="51244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113333216" name="Прямоугольник 2113333215">
            <a:extLst>
              <a:ext uri="{FF2B5EF4-FFF2-40B4-BE49-F238E27FC236}">
                <a16:creationId xmlns:a16="http://schemas.microsoft.com/office/drawing/2014/main" id="{071CF4A5-F34E-441E-A4C6-2CB47FBDF7F0}"/>
              </a:ext>
            </a:extLst>
          </p:cNvPr>
          <p:cNvSpPr>
            <a:spLocks noGrp="1"/>
          </p:cNvSpPr>
          <p:nvPr/>
        </p:nvSpPr>
        <p:spPr>
          <a:xfrm>
            <a:off x="9305925" y="51244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Редактирование доступно только сотруднику с нужным разрешением.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18103D4-8FA7-24C7-DFA9-B24F35A8E41F}"/>
              </a:ext>
            </a:extLst>
          </p:cNvPr>
          <p:cNvSpPr>
            <a:spLocks noGrp="1"/>
          </p:cNvSpPr>
          <p:nvPr/>
        </p:nvSpPr>
        <p:spPr>
          <a:xfrm>
            <a:off x="8867775" y="60579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F2B16B1-C911-0519-F3CF-8C7C251C790E}"/>
              </a:ext>
            </a:extLst>
          </p:cNvPr>
          <p:cNvSpPr>
            <a:spLocks noGrp="1"/>
          </p:cNvSpPr>
          <p:nvPr/>
        </p:nvSpPr>
        <p:spPr>
          <a:xfrm>
            <a:off x="9248774" y="5977431"/>
            <a:ext cx="2333625" cy="66675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Доступна выгрузка объектов в нужном формате</a:t>
            </a:r>
          </a:p>
        </p:txBody>
      </p:sp>
    </p:spTree>
    <p:extLst>
      <p:ext uri="{BB962C8B-B14F-4D97-AF65-F5344CB8AC3E}">
        <p14:creationId xmlns:p14="http://schemas.microsoft.com/office/powerpoint/2010/main" val="1786114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594478" name="Скругленный прямоугольник 1">
            <a:extLst>
              <a:ext uri="{FF2B5EF4-FFF2-40B4-BE49-F238E27FC236}">
                <a16:creationId xmlns:a16="http://schemas.microsoft.com/office/drawing/2014/main" id="{F2F67513-6B6A-434F-BCDE-5DDF1B88BF1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128566567" name="Номер слайда 6">
            <a:extLst>
              <a:ext uri="{FF2B5EF4-FFF2-40B4-BE49-F238E27FC236}">
                <a16:creationId xmlns:a16="http://schemas.microsoft.com/office/drawing/2014/main" id="{64AD4256-7106-4799-91A9-A5E69E2D24D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589497782" name="Заголовок 13">
            <a:extLst>
              <a:ext uri="{FF2B5EF4-FFF2-40B4-BE49-F238E27FC236}">
                <a16:creationId xmlns:a16="http://schemas.microsoft.com/office/drawing/2014/main" id="{5853F68C-D724-4347-AC2B-18A2CC63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ПРОГНОЗЫ</a:t>
            </a:r>
          </a:p>
        </p:txBody>
      </p:sp>
      <p:pic>
        <p:nvPicPr>
          <p:cNvPr id="1589497783" name="Рисунок 2113333209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6074" y="1234079"/>
            <a:ext cx="7974965" cy="4906770"/>
          </a:xfrm>
          <a:prstGeom prst="rect">
            <a:avLst/>
          </a:prstGeom>
        </p:spPr>
      </p:pic>
      <p:sp>
        <p:nvSpPr>
          <p:cNvPr id="2113333207" name="Прямоугольник 2113333206">
            <a:extLst>
              <a:ext uri="{FF2B5EF4-FFF2-40B4-BE49-F238E27FC236}">
                <a16:creationId xmlns:a16="http://schemas.microsoft.com/office/drawing/2014/main" id="{A5D7A527-C63C-4A38-BC3E-683B4141C2B6}"/>
              </a:ext>
            </a:extLst>
          </p:cNvPr>
          <p:cNvSpPr>
            <a:spLocks noGrp="1"/>
          </p:cNvSpPr>
          <p:nvPr/>
        </p:nvSpPr>
        <p:spPr>
          <a:xfrm>
            <a:off x="8686800" y="1343025"/>
            <a:ext cx="3095625" cy="4810125"/>
          </a:xfrm>
          <a:prstGeom prst="rect">
            <a:avLst/>
          </a:prstGeom>
          <a:solidFill>
            <a:srgbClr val="F7E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3333208" name="Прямоугольник 2113333207">
            <a:extLst>
              <a:ext uri="{FF2B5EF4-FFF2-40B4-BE49-F238E27FC236}">
                <a16:creationId xmlns:a16="http://schemas.microsoft.com/office/drawing/2014/main" id="{EB23FA93-DA31-41F1-8959-F8B895A5AB08}"/>
              </a:ext>
            </a:extLst>
          </p:cNvPr>
          <p:cNvSpPr>
            <a:spLocks noGrp="1"/>
          </p:cNvSpPr>
          <p:nvPr/>
        </p:nvSpPr>
        <p:spPr>
          <a:xfrm>
            <a:off x="8867775" y="1524000"/>
            <a:ext cx="271462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Приоритет работ</a:t>
            </a:r>
          </a:p>
        </p:txBody>
      </p:sp>
      <p:sp>
        <p:nvSpPr>
          <p:cNvPr id="2113333209" name="Прямоугольник 2113333208">
            <a:extLst>
              <a:ext uri="{FF2B5EF4-FFF2-40B4-BE49-F238E27FC236}">
                <a16:creationId xmlns:a16="http://schemas.microsoft.com/office/drawing/2014/main" id="{8FCB55F4-7B9E-4238-8C67-D7FBA1926414}"/>
              </a:ext>
            </a:extLst>
          </p:cNvPr>
          <p:cNvSpPr>
            <a:spLocks noGrp="1"/>
          </p:cNvSpPr>
          <p:nvPr/>
        </p:nvSpPr>
        <p:spPr>
          <a:xfrm>
            <a:off x="8867775" y="23241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373A3E1-0554-4F18-8458-45D535D974A6}"/>
              </a:ext>
            </a:extLst>
          </p:cNvPr>
          <p:cNvSpPr>
            <a:spLocks noGrp="1"/>
          </p:cNvSpPr>
          <p:nvPr/>
        </p:nvSpPr>
        <p:spPr>
          <a:xfrm>
            <a:off x="9305925" y="23241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Каждая строка связывает объект, датчик, показание, риск и окно прогноза.</a:t>
            </a:r>
          </a:p>
        </p:txBody>
      </p:sp>
      <p:sp>
        <p:nvSpPr>
          <p:cNvPr id="2113333211" name="Прямоугольник 2113333210">
            <a:extLst>
              <a:ext uri="{FF2B5EF4-FFF2-40B4-BE49-F238E27FC236}">
                <a16:creationId xmlns:a16="http://schemas.microsoft.com/office/drawing/2014/main" id="{7D9E8F31-DE9E-4775-8B2B-480F64B50D7D}"/>
              </a:ext>
            </a:extLst>
          </p:cNvPr>
          <p:cNvSpPr>
            <a:spLocks noGrp="1"/>
          </p:cNvSpPr>
          <p:nvPr/>
        </p:nvSpPr>
        <p:spPr>
          <a:xfrm>
            <a:off x="8867775" y="32575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113333212" name="Прямоугольник 2113333211">
            <a:extLst>
              <a:ext uri="{FF2B5EF4-FFF2-40B4-BE49-F238E27FC236}">
                <a16:creationId xmlns:a16="http://schemas.microsoft.com/office/drawing/2014/main" id="{D51BBCB3-AEC2-43DD-BA71-AB47EA35A6CA}"/>
              </a:ext>
            </a:extLst>
          </p:cNvPr>
          <p:cNvSpPr>
            <a:spLocks noGrp="1"/>
          </p:cNvSpPr>
          <p:nvPr/>
        </p:nvSpPr>
        <p:spPr>
          <a:xfrm>
            <a:off x="9305925" y="32575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Фильтр по датам и сортировка по риску помогают начать с важных записей.</a:t>
            </a:r>
          </a:p>
        </p:txBody>
      </p:sp>
      <p:sp>
        <p:nvSpPr>
          <p:cNvPr id="2113333213" name="Прямоугольник 2113333212">
            <a:extLst>
              <a:ext uri="{FF2B5EF4-FFF2-40B4-BE49-F238E27FC236}">
                <a16:creationId xmlns:a16="http://schemas.microsoft.com/office/drawing/2014/main" id="{D60CC03F-43EF-49F1-8613-9319919D5302}"/>
              </a:ext>
            </a:extLst>
          </p:cNvPr>
          <p:cNvSpPr>
            <a:spLocks noGrp="1"/>
          </p:cNvSpPr>
          <p:nvPr/>
        </p:nvSpPr>
        <p:spPr>
          <a:xfrm>
            <a:off x="8867775" y="41910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13333214" name="Прямоугольник 2113333213">
            <a:extLst>
              <a:ext uri="{FF2B5EF4-FFF2-40B4-BE49-F238E27FC236}">
                <a16:creationId xmlns:a16="http://schemas.microsoft.com/office/drawing/2014/main" id="{26552306-1BF4-416B-B299-3B9AF26E74D6}"/>
              </a:ext>
            </a:extLst>
          </p:cNvPr>
          <p:cNvSpPr>
            <a:spLocks noGrp="1"/>
          </p:cNvSpPr>
          <p:nvPr/>
        </p:nvSpPr>
        <p:spPr>
          <a:xfrm>
            <a:off x="9305925" y="41910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Отдельные статусы показывают уже известную неисправность или нехватку истории.</a:t>
            </a:r>
          </a:p>
        </p:txBody>
      </p:sp>
      <p:sp>
        <p:nvSpPr>
          <p:cNvPr id="2113333215" name="Прямоугольник 2113333214">
            <a:extLst>
              <a:ext uri="{FF2B5EF4-FFF2-40B4-BE49-F238E27FC236}">
                <a16:creationId xmlns:a16="http://schemas.microsoft.com/office/drawing/2014/main" id="{55794496-263C-4837-B82B-C56C1A23C68B}"/>
              </a:ext>
            </a:extLst>
          </p:cNvPr>
          <p:cNvSpPr>
            <a:spLocks noGrp="1"/>
          </p:cNvSpPr>
          <p:nvPr/>
        </p:nvSpPr>
        <p:spPr>
          <a:xfrm>
            <a:off x="8867775" y="51244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113333216" name="Прямоугольник 2113333215">
            <a:extLst>
              <a:ext uri="{FF2B5EF4-FFF2-40B4-BE49-F238E27FC236}">
                <a16:creationId xmlns:a16="http://schemas.microsoft.com/office/drawing/2014/main" id="{7E4FE846-46A8-4A8A-9694-DBB58DD3C825}"/>
              </a:ext>
            </a:extLst>
          </p:cNvPr>
          <p:cNvSpPr>
            <a:spLocks noGrp="1"/>
          </p:cNvSpPr>
          <p:nvPr/>
        </p:nvSpPr>
        <p:spPr>
          <a:xfrm>
            <a:off x="9305925" y="51244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 предупреждения диспетчер может перейти к созданию задания.</a:t>
            </a:r>
          </a:p>
        </p:txBody>
      </p:sp>
    </p:spTree>
    <p:extLst>
      <p:ext uri="{BB962C8B-B14F-4D97-AF65-F5344CB8AC3E}">
        <p14:creationId xmlns:p14="http://schemas.microsoft.com/office/powerpoint/2010/main" val="1786114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002002" name="Скругленный прямоугольник 1">
            <a:extLst>
              <a:ext uri="{FF2B5EF4-FFF2-40B4-BE49-F238E27FC236}">
                <a16:creationId xmlns:a16="http://schemas.microsoft.com/office/drawing/2014/main" id="{0C108A3D-638C-4D34-82F6-A3965B111000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1D399-BA17-4B9F-BA22-0996FFF9AEC2}"/>
              </a:ext>
            </a:extLst>
          </p:cNvPr>
          <p:cNvSpPr>
            <a:spLocks noGrp="1"/>
          </p:cNvSpPr>
          <p:nvPr/>
        </p:nvSpPr>
        <p:spPr>
          <a:xfrm>
            <a:off x="2005596" y="1340551"/>
            <a:ext cx="1000920" cy="2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4A373A-8F20-4B49-8A02-98A511DBAEA1}"/>
              </a:ext>
            </a:extLst>
          </p:cNvPr>
          <p:cNvSpPr>
            <a:spLocks noGrp="1"/>
          </p:cNvSpPr>
          <p:nvPr/>
        </p:nvSpPr>
        <p:spPr>
          <a:xfrm>
            <a:off x="6976124" y="643321"/>
            <a:ext cx="1000920" cy="2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9264775" name="Текст 3">
            <a:extLst>
              <a:ext uri="{FF2B5EF4-FFF2-40B4-BE49-F238E27FC236}">
                <a16:creationId xmlns:a16="http://schemas.microsoft.com/office/drawing/2014/main" id="{C004E891-C5B6-4E83-B692-609379F4CBA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586746" y="3602386"/>
            <a:ext cx="4121687" cy="1612262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119026876" name="Рисунок 5">
            <a:extLst>
              <a:ext uri="{FF2B5EF4-FFF2-40B4-BE49-F238E27FC236}">
                <a16:creationId xmlns:a16="http://schemas.microsoft.com/office/drawing/2014/main" id="{49796D0A-57EF-425C-B411-EFAC76852FDC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28107" y="3422231"/>
            <a:ext cx="4121688" cy="2283975"/>
          </a:xfrm>
        </p:spPr>
      </p:sp>
      <p:sp>
        <p:nvSpPr>
          <p:cNvPr id="1514326515" name="Заголовок 13">
            <a:extLst>
              <a:ext uri="{FF2B5EF4-FFF2-40B4-BE49-F238E27FC236}">
                <a16:creationId xmlns:a16="http://schemas.microsoft.com/office/drawing/2014/main" id="{EC7D63E8-0599-4933-85D2-83EA139BA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ТЕСТ И REST API</a:t>
            </a:r>
          </a:p>
        </p:txBody>
      </p:sp>
      <p:sp>
        <p:nvSpPr>
          <p:cNvPr id="1514326517" name="Прямоугольник 1514326516">
            <a:extLst>
              <a:ext uri="{FF2B5EF4-FFF2-40B4-BE49-F238E27FC236}">
                <a16:creationId xmlns:a16="http://schemas.microsoft.com/office/drawing/2014/main" id="{7D76EB11-5643-4258-9F49-F9891020EBD3}"/>
              </a:ext>
            </a:extLst>
          </p:cNvPr>
          <p:cNvSpPr>
            <a:spLocks noGrp="1"/>
          </p:cNvSpPr>
          <p:nvPr/>
        </p:nvSpPr>
        <p:spPr>
          <a:xfrm>
            <a:off x="392467" y="3415858"/>
            <a:ext cx="4210050" cy="2362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4326518" name="Прямоугольник 1514326517">
            <a:extLst>
              <a:ext uri="{FF2B5EF4-FFF2-40B4-BE49-F238E27FC236}">
                <a16:creationId xmlns:a16="http://schemas.microsoft.com/office/drawing/2014/main" id="{83EC6531-BFD3-4FEF-9C6A-63708EE7ECF9}"/>
              </a:ext>
            </a:extLst>
          </p:cNvPr>
          <p:cNvSpPr>
            <a:spLocks noGrp="1"/>
          </p:cNvSpPr>
          <p:nvPr/>
        </p:nvSpPr>
        <p:spPr>
          <a:xfrm>
            <a:off x="525817" y="3473008"/>
            <a:ext cx="3981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520978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520978"/>
                </a:solidFill>
                <a:latin typeface="Menlo"/>
                <a:ea typeface="Menlo"/>
                <a:cs typeface="Menlo"/>
              </a:rPr>
              <a:t>POST </a:t>
            </a:r>
            <a:r>
              <a:t>api/ingest/forecasts</a:t>
            </a:r>
          </a:p>
        </p:txBody>
      </p:sp>
      <p:sp>
        <p:nvSpPr>
          <p:cNvPr id="1514326519" name="Прямоугольник 1514326518">
            <a:extLst>
              <a:ext uri="{FF2B5EF4-FFF2-40B4-BE49-F238E27FC236}">
                <a16:creationId xmlns:a16="http://schemas.microsoft.com/office/drawing/2014/main" id="{03655086-FD4D-42C9-93FC-C0080BDF7421}"/>
              </a:ext>
            </a:extLst>
          </p:cNvPr>
          <p:cNvSpPr>
            <a:spLocks noGrp="1"/>
          </p:cNvSpPr>
          <p:nvPr/>
        </p:nvSpPr>
        <p:spPr>
          <a:xfrm>
            <a:off x="525817" y="3873058"/>
            <a:ext cx="4000500" cy="1838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C1D2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C1D22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algn="l">
              <a:buNone/>
              <a:defRPr sz="1350" b="0">
                <a:solidFill>
                  <a:srgbClr val="1C1D2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C1D22"/>
                </a:solidFill>
                <a:latin typeface="Menlo"/>
                <a:ea typeface="Menlo"/>
                <a:cs typeface="Menlo"/>
              </a:rPr>
              <a:t>  "channel_id": 288126,</a:t>
            </a:r>
          </a:p>
          <a:p>
            <a:pPr algn="l">
              <a:buNone/>
              <a:defRPr sz="1350" b="0">
                <a:solidFill>
                  <a:srgbClr val="1C1D2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C1D22"/>
                </a:solidFill>
                <a:latin typeface="Menlo"/>
                <a:ea typeface="Menlo"/>
                <a:cs typeface="Menlo"/>
              </a:rPr>
              <a:t>  "event_at": "2026-09-23T12:00:00",</a:t>
            </a:r>
          </a:p>
          <a:p>
            <a:pPr algn="l">
              <a:buNone/>
              <a:defRPr sz="1350" b="0">
                <a:solidFill>
                  <a:srgbClr val="1C1D2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C1D22"/>
                </a:solidFill>
                <a:latin typeface="Menlo"/>
                <a:ea typeface="Menlo"/>
                <a:cs typeface="Menlo"/>
              </a:rPr>
              <a:t>  "is_alarm": false,</a:t>
            </a:r>
          </a:p>
          <a:p>
            <a:pPr algn="l">
              <a:buNone/>
              <a:defRPr sz="1350" b="0">
                <a:solidFill>
                  <a:srgbClr val="1C1D2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C1D22"/>
                </a:solidFill>
                <a:latin typeface="Menlo"/>
                <a:ea typeface="Menlo"/>
                <a:cs typeface="Menlo"/>
              </a:rPr>
              <a:t>  "sensor_value": "Исправен"</a:t>
            </a:r>
          </a:p>
          <a:p>
            <a:pPr algn="l">
              <a:buNone/>
              <a:defRPr sz="1350" b="0">
                <a:solidFill>
                  <a:srgbClr val="1C1D2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C1D22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14326520" name="Прямоугольник 1514326519">
            <a:extLst>
              <a:ext uri="{FF2B5EF4-FFF2-40B4-BE49-F238E27FC236}">
                <a16:creationId xmlns:a16="http://schemas.microsoft.com/office/drawing/2014/main" id="{0797C590-E4CB-45C0-B14B-22B5C3DAFFD8}"/>
              </a:ext>
            </a:extLst>
          </p:cNvPr>
          <p:cNvSpPr>
            <a:spLocks noGrp="1"/>
          </p:cNvSpPr>
          <p:nvPr/>
        </p:nvSpPr>
        <p:spPr>
          <a:xfrm>
            <a:off x="7520122" y="1591680"/>
            <a:ext cx="42576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Ручное тестирование</a:t>
            </a:r>
          </a:p>
        </p:txBody>
      </p:sp>
      <p:sp>
        <p:nvSpPr>
          <p:cNvPr id="1514326521" name="Прямоугольник 1514326520">
            <a:extLst>
              <a:ext uri="{FF2B5EF4-FFF2-40B4-BE49-F238E27FC236}">
                <a16:creationId xmlns:a16="http://schemas.microsoft.com/office/drawing/2014/main" id="{349B8E99-499F-4EEF-A2F6-6755D3EC98B4}"/>
              </a:ext>
            </a:extLst>
          </p:cNvPr>
          <p:cNvSpPr>
            <a:spLocks noGrp="1"/>
          </p:cNvSpPr>
          <p:nvPr/>
        </p:nvSpPr>
        <p:spPr>
          <a:xfrm>
            <a:off x="7520121" y="2215030"/>
            <a:ext cx="4257675" cy="1057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Форма отправляет показание выбранного канала. Итог виден в журнале прогнозов.</a:t>
            </a:r>
          </a:p>
        </p:txBody>
      </p:sp>
      <p:sp>
        <p:nvSpPr>
          <p:cNvPr id="1514326522" name="Прямоугольник 1514326521">
            <a:extLst>
              <a:ext uri="{FF2B5EF4-FFF2-40B4-BE49-F238E27FC236}">
                <a16:creationId xmlns:a16="http://schemas.microsoft.com/office/drawing/2014/main" id="{1FD81668-BC4C-4677-8F3C-B02E9D05CA96}"/>
              </a:ext>
            </a:extLst>
          </p:cNvPr>
          <p:cNvSpPr>
            <a:spLocks noGrp="1"/>
          </p:cNvSpPr>
          <p:nvPr/>
        </p:nvSpPr>
        <p:spPr>
          <a:xfrm>
            <a:off x="7520121" y="3545135"/>
            <a:ext cx="426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Единый контракт для интеграции</a:t>
            </a:r>
          </a:p>
        </p:txBody>
      </p:sp>
      <p:sp>
        <p:nvSpPr>
          <p:cNvPr id="1514326523" name="Прямоугольник 1514326522">
            <a:extLst>
              <a:ext uri="{FF2B5EF4-FFF2-40B4-BE49-F238E27FC236}">
                <a16:creationId xmlns:a16="http://schemas.microsoft.com/office/drawing/2014/main" id="{E85E4681-2074-4A7A-9104-7E355C6E9BFC}"/>
              </a:ext>
            </a:extLst>
          </p:cNvPr>
          <p:cNvSpPr>
            <a:spLocks noGrp="1"/>
          </p:cNvSpPr>
          <p:nvPr/>
        </p:nvSpPr>
        <p:spPr>
          <a:xfrm>
            <a:off x="7520121" y="3973760"/>
            <a:ext cx="42672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API сохраняет событие и возвращает status, risk_score, warning и границы периода. Пример значений запроса условный.</a:t>
            </a:r>
          </a:p>
        </p:txBody>
      </p:sp>
      <p:pic>
        <p:nvPicPr>
          <p:cNvPr id="1514326524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16" y="1563842"/>
            <a:ext cx="6590808" cy="131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8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3">
            <a:extLst>
              <a:ext uri="{FF2B5EF4-FFF2-40B4-BE49-F238E27FC236}">
                <a16:creationId xmlns:a16="http://schemas.microsoft.com/office/drawing/2014/main" id="{40A7B940-BE60-BCA4-15A5-9D4AD9F59CE5}"/>
              </a:ext>
            </a:extLst>
          </p:cNvPr>
          <p:cNvSpPr>
            <a:spLocks noGrp="1"/>
          </p:cNvSpPr>
          <p:nvPr/>
        </p:nvSpPr>
        <p:spPr>
          <a:xfrm>
            <a:off x="714375" y="1194710"/>
            <a:ext cx="10763250" cy="4396465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РАБОТАЕТ ПРОГНОЗ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6571" y="1343025"/>
            <a:ext cx="10161678" cy="4171950"/>
          </a:xfrm>
          <a:prstGeom prst="rect">
            <a:avLst/>
          </a:prstGeom>
        </p:spPr>
      </p:pic>
      <p:sp>
        <p:nvSpPr>
          <p:cNvPr id="1490349568" name="Прямоугольник 1490349567">
            <a:extLst>
              <a:ext uri="{FF2B5EF4-FFF2-40B4-BE49-F238E27FC236}">
                <a16:creationId xmlns:a16="http://schemas.microsoft.com/office/drawing/2014/main" id="{062D206C-9D58-453D-A694-0BB558D3E628}"/>
              </a:ext>
            </a:extLst>
          </p:cNvPr>
          <p:cNvSpPr>
            <a:spLocks noGrp="1"/>
          </p:cNvSpPr>
          <p:nvPr/>
        </p:nvSpPr>
        <p:spPr>
          <a:xfrm>
            <a:off x="714375" y="5667375"/>
            <a:ext cx="10763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Новое показание поступает в API. Он проверяет права, берёт историю из базы, считает 13 признаков и выбирает модель насоса или вентилятора. Риск сохраняется в журнале; при предупреждении диспетчер вручную назначает проверку.</a:t>
            </a:r>
          </a:p>
        </p:txBody>
      </p:sp>
      <p:sp>
        <p:nvSpPr>
          <p:cNvPr id="1490349570" name="Прямоугольник 1490349569">
            <a:extLst>
              <a:ext uri="{FF2B5EF4-FFF2-40B4-BE49-F238E27FC236}">
                <a16:creationId xmlns:a16="http://schemas.microsoft.com/office/drawing/2014/main" id="{9591E369-0D70-443A-B4E8-74D75ABEE18E}"/>
              </a:ext>
            </a:extLst>
          </p:cNvPr>
          <p:cNvSpPr>
            <a:spLocks noGrp="1"/>
          </p:cNvSpPr>
          <p:nvPr/>
        </p:nvSpPr>
        <p:spPr>
          <a:xfrm>
            <a:off x="2286000" y="2200275"/>
            <a:ext cx="16002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71" name="Прямоугольник 1490349570">
            <a:extLst>
              <a:ext uri="{FF2B5EF4-FFF2-40B4-BE49-F238E27FC236}">
                <a16:creationId xmlns:a16="http://schemas.microsoft.com/office/drawing/2014/main" id="{0094504A-E794-4DBB-9563-0C382D6DD336}"/>
              </a:ext>
            </a:extLst>
          </p:cNvPr>
          <p:cNvSpPr>
            <a:spLocks noGrp="1"/>
          </p:cNvSpPr>
          <p:nvPr/>
        </p:nvSpPr>
        <p:spPr>
          <a:xfrm>
            <a:off x="2324100" y="2266950"/>
            <a:ext cx="19240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087F70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087F70"/>
                </a:solidFill>
                <a:latin typeface="Montserrat"/>
                <a:ea typeface="Montserrat"/>
                <a:cs typeface="Montserrat"/>
              </a:rPr>
              <a:t>POST /api/ingest/forecasts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594478" name="Скругленный прямоугольник 1">
            <a:extLst>
              <a:ext uri="{FF2B5EF4-FFF2-40B4-BE49-F238E27FC236}">
                <a16:creationId xmlns:a16="http://schemas.microsoft.com/office/drawing/2014/main" id="{F2F67513-6B6A-434F-BCDE-5DDF1B88BF1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89497782" name="Заголовок 13">
            <a:extLst>
              <a:ext uri="{FF2B5EF4-FFF2-40B4-BE49-F238E27FC236}">
                <a16:creationId xmlns:a16="http://schemas.microsoft.com/office/drawing/2014/main" id="{5853F68C-D724-4347-AC2B-18A2CC63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pPr>
              <a:buNone/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НАЗНАЧЕНИЯ</a:t>
            </a:r>
          </a:p>
        </p:txBody>
      </p:sp>
      <p:pic>
        <p:nvPicPr>
          <p:cNvPr id="1589497783" name="Рисунок 211333320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6725" y="1348798"/>
            <a:ext cx="7981950" cy="4474730"/>
          </a:xfrm>
          <a:prstGeom prst="rect">
            <a:avLst/>
          </a:prstGeom>
        </p:spPr>
      </p:pic>
      <p:sp>
        <p:nvSpPr>
          <p:cNvPr id="2113333207" name="Прямоугольник 2113333206">
            <a:extLst>
              <a:ext uri="{FF2B5EF4-FFF2-40B4-BE49-F238E27FC236}">
                <a16:creationId xmlns:a16="http://schemas.microsoft.com/office/drawing/2014/main" id="{0EBD229D-3F3C-4915-ABB6-53006519ADAC}"/>
              </a:ext>
            </a:extLst>
          </p:cNvPr>
          <p:cNvSpPr>
            <a:spLocks noGrp="1"/>
          </p:cNvSpPr>
          <p:nvPr/>
        </p:nvSpPr>
        <p:spPr>
          <a:xfrm>
            <a:off x="8686800" y="1343025"/>
            <a:ext cx="3095625" cy="4810125"/>
          </a:xfrm>
          <a:prstGeom prst="rect">
            <a:avLst/>
          </a:prstGeom>
          <a:solidFill>
            <a:srgbClr val="F7E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3333208" name="Прямоугольник 2113333207">
            <a:extLst>
              <a:ext uri="{FF2B5EF4-FFF2-40B4-BE49-F238E27FC236}">
                <a16:creationId xmlns:a16="http://schemas.microsoft.com/office/drawing/2014/main" id="{AF144595-B562-410E-A457-11104FB3A7AF}"/>
              </a:ext>
            </a:extLst>
          </p:cNvPr>
          <p:cNvSpPr>
            <a:spLocks noGrp="1"/>
          </p:cNvSpPr>
          <p:nvPr/>
        </p:nvSpPr>
        <p:spPr>
          <a:xfrm>
            <a:off x="8867775" y="1524000"/>
            <a:ext cx="271462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Проверка под контролем</a:t>
            </a:r>
          </a:p>
        </p:txBody>
      </p:sp>
      <p:sp>
        <p:nvSpPr>
          <p:cNvPr id="2113333209" name="Прямоугольник 2113333208">
            <a:extLst>
              <a:ext uri="{FF2B5EF4-FFF2-40B4-BE49-F238E27FC236}">
                <a16:creationId xmlns:a16="http://schemas.microsoft.com/office/drawing/2014/main" id="{F40B2B8D-C4E2-4F19-9A9A-DF49E47D785C}"/>
              </a:ext>
            </a:extLst>
          </p:cNvPr>
          <p:cNvSpPr>
            <a:spLocks noGrp="1"/>
          </p:cNvSpPr>
          <p:nvPr/>
        </p:nvSpPr>
        <p:spPr>
          <a:xfrm>
            <a:off x="8867775" y="23241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BDD291-2559-4B9C-80AF-30B485BB67F6}"/>
              </a:ext>
            </a:extLst>
          </p:cNvPr>
          <p:cNvSpPr>
            <a:spLocks noGrp="1"/>
          </p:cNvSpPr>
          <p:nvPr/>
        </p:nvSpPr>
        <p:spPr>
          <a:xfrm>
            <a:off x="9305925" y="23241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Диспетчер выбирает весь объект или конкретный датчик, техника и дату проверки.</a:t>
            </a:r>
          </a:p>
        </p:txBody>
      </p:sp>
      <p:sp>
        <p:nvSpPr>
          <p:cNvPr id="2113333211" name="Прямоугольник 2113333210">
            <a:extLst>
              <a:ext uri="{FF2B5EF4-FFF2-40B4-BE49-F238E27FC236}">
                <a16:creationId xmlns:a16="http://schemas.microsoft.com/office/drawing/2014/main" id="{E4B53EB5-741B-48D2-8C70-5285AAD12438}"/>
              </a:ext>
            </a:extLst>
          </p:cNvPr>
          <p:cNvSpPr>
            <a:spLocks noGrp="1"/>
          </p:cNvSpPr>
          <p:nvPr/>
        </p:nvSpPr>
        <p:spPr>
          <a:xfrm>
            <a:off x="8867775" y="32575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113333212" name="Прямоугольник 2113333211">
            <a:extLst>
              <a:ext uri="{FF2B5EF4-FFF2-40B4-BE49-F238E27FC236}">
                <a16:creationId xmlns:a16="http://schemas.microsoft.com/office/drawing/2014/main" id="{F234D6C3-ED55-4C5A-B70F-977B6856C10E}"/>
              </a:ext>
            </a:extLst>
          </p:cNvPr>
          <p:cNvSpPr>
            <a:spLocks noGrp="1"/>
          </p:cNvSpPr>
          <p:nvPr/>
        </p:nvSpPr>
        <p:spPr>
          <a:xfrm>
            <a:off x="9305925" y="32575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Назначение появляется в списке работ; техник видит свои задания.</a:t>
            </a:r>
          </a:p>
        </p:txBody>
      </p:sp>
      <p:sp>
        <p:nvSpPr>
          <p:cNvPr id="2113333213" name="Прямоугольник 2113333212">
            <a:extLst>
              <a:ext uri="{FF2B5EF4-FFF2-40B4-BE49-F238E27FC236}">
                <a16:creationId xmlns:a16="http://schemas.microsoft.com/office/drawing/2014/main" id="{E69B02BA-6FC8-47F6-8B70-AC3F8A5CD784}"/>
              </a:ext>
            </a:extLst>
          </p:cNvPr>
          <p:cNvSpPr>
            <a:spLocks noGrp="1"/>
          </p:cNvSpPr>
          <p:nvPr/>
        </p:nvSpPr>
        <p:spPr>
          <a:xfrm>
            <a:off x="8867775" y="419100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13333214" name="Прямоугольник 2113333213">
            <a:extLst>
              <a:ext uri="{FF2B5EF4-FFF2-40B4-BE49-F238E27FC236}">
                <a16:creationId xmlns:a16="http://schemas.microsoft.com/office/drawing/2014/main" id="{3089D65D-E043-4E6E-9B73-A44F01C159A0}"/>
              </a:ext>
            </a:extLst>
          </p:cNvPr>
          <p:cNvSpPr>
            <a:spLocks noGrp="1"/>
          </p:cNvSpPr>
          <p:nvPr/>
        </p:nvSpPr>
        <p:spPr>
          <a:xfrm>
            <a:off x="9305925" y="419100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 каждому датчику техник отмечает результат, общий статус обновляется.</a:t>
            </a:r>
          </a:p>
        </p:txBody>
      </p:sp>
      <p:sp>
        <p:nvSpPr>
          <p:cNvPr id="2113333215" name="Прямоугольник 2113333214">
            <a:extLst>
              <a:ext uri="{FF2B5EF4-FFF2-40B4-BE49-F238E27FC236}">
                <a16:creationId xmlns:a16="http://schemas.microsoft.com/office/drawing/2014/main" id="{3DC1E3DB-ACAF-40BE-B69A-4CB1B2AEEB56}"/>
              </a:ext>
            </a:extLst>
          </p:cNvPr>
          <p:cNvSpPr>
            <a:spLocks noGrp="1"/>
          </p:cNvSpPr>
          <p:nvPr/>
        </p:nvSpPr>
        <p:spPr>
          <a:xfrm>
            <a:off x="8867775" y="5124450"/>
            <a:ext cx="38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113333216" name="Прямоугольник 2113333215">
            <a:extLst>
              <a:ext uri="{FF2B5EF4-FFF2-40B4-BE49-F238E27FC236}">
                <a16:creationId xmlns:a16="http://schemas.microsoft.com/office/drawing/2014/main" id="{03258501-02ED-4794-8C32-14489DD5225F}"/>
              </a:ext>
            </a:extLst>
          </p:cNvPr>
          <p:cNvSpPr>
            <a:spLocks noGrp="1"/>
          </p:cNvSpPr>
          <p:nvPr/>
        </p:nvSpPr>
        <p:spPr>
          <a:xfrm>
            <a:off x="9305925" y="5124450"/>
            <a:ext cx="2209800" cy="866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Историю выполненных работ можно выгрузить в CSV, XLSX и PDF.</a:t>
            </a:r>
          </a:p>
        </p:txBody>
      </p:sp>
    </p:spTree>
    <p:extLst>
      <p:ext uri="{BB962C8B-B14F-4D97-AF65-F5344CB8AC3E}">
        <p14:creationId xmlns:p14="http://schemas.microsoft.com/office/powerpoint/2010/main" val="1786114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594478" name="Скругленный прямоугольник 1">
            <a:extLst>
              <a:ext uri="{FF2B5EF4-FFF2-40B4-BE49-F238E27FC236}">
                <a16:creationId xmlns:a16="http://schemas.microsoft.com/office/drawing/2014/main" id="{F2F67513-6B6A-434F-BCDE-5DDF1B88BF1F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1475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589497782" name="Заголовок 13">
            <a:extLst>
              <a:ext uri="{FF2B5EF4-FFF2-40B4-BE49-F238E27FC236}">
                <a16:creationId xmlns:a16="http://schemas.microsoft.com/office/drawing/2014/main" id="{5853F68C-D724-4347-AC2B-18A2CC63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5524500" cy="376138"/>
          </a:xfrm>
        </p:spPr>
        <p:txBody>
          <a:bodyPr/>
          <a:lstStyle/>
          <a:p>
            <a:pPr>
              <a:buNone/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ПОДРАЗДЕЛЕНИЯ</a:t>
            </a:r>
          </a:p>
        </p:txBody>
      </p:sp>
      <p:pic>
        <p:nvPicPr>
          <p:cNvPr id="1589497783" name="Рисунок 158949778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5" b="5115"/>
          <a:stretch/>
        </p:blipFill>
        <p:spPr>
          <a:xfrm>
            <a:off x="85725" y="1276350"/>
            <a:ext cx="8601075" cy="4829175"/>
          </a:xfrm>
          <a:prstGeom prst="rect">
            <a:avLst/>
          </a:prstGeom>
        </p:spPr>
      </p:pic>
      <p:sp>
        <p:nvSpPr>
          <p:cNvPr id="1589497784" name="Прямоугольник 1589497783">
            <a:extLst>
              <a:ext uri="{FF2B5EF4-FFF2-40B4-BE49-F238E27FC236}">
                <a16:creationId xmlns:a16="http://schemas.microsoft.com/office/drawing/2014/main" id="{C50131E6-AF70-44AD-B67E-72660CF4C4BB}"/>
              </a:ext>
            </a:extLst>
          </p:cNvPr>
          <p:cNvSpPr>
            <a:spLocks noGrp="1"/>
          </p:cNvSpPr>
          <p:nvPr/>
        </p:nvSpPr>
        <p:spPr>
          <a:xfrm>
            <a:off x="8686800" y="1343025"/>
            <a:ext cx="3095625" cy="4810125"/>
          </a:xfrm>
          <a:prstGeom prst="rect">
            <a:avLst/>
          </a:prstGeom>
          <a:solidFill>
            <a:srgbClr val="F8EF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9497785" name="Прямоугольник 1589497784">
            <a:extLst>
              <a:ext uri="{FF2B5EF4-FFF2-40B4-BE49-F238E27FC236}">
                <a16:creationId xmlns:a16="http://schemas.microsoft.com/office/drawing/2014/main" id="{F5FC869B-D761-44DA-BA49-18633AAC4382}"/>
              </a:ext>
            </a:extLst>
          </p:cNvPr>
          <p:cNvSpPr>
            <a:spLocks noGrp="1"/>
          </p:cNvSpPr>
          <p:nvPr/>
        </p:nvSpPr>
        <p:spPr>
          <a:xfrm>
            <a:off x="8867775" y="1533525"/>
            <a:ext cx="271462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Ответственный виден сразу</a:t>
            </a:r>
          </a:p>
        </p:txBody>
      </p:sp>
      <p:sp>
        <p:nvSpPr>
          <p:cNvPr id="1589497786" name="Прямоугольник 1589497785">
            <a:extLst>
              <a:ext uri="{FF2B5EF4-FFF2-40B4-BE49-F238E27FC236}">
                <a16:creationId xmlns:a16="http://schemas.microsoft.com/office/drawing/2014/main" id="{E0AD473C-922C-42CC-AB61-73857B5689AA}"/>
              </a:ext>
            </a:extLst>
          </p:cNvPr>
          <p:cNvSpPr>
            <a:spLocks noGrp="1"/>
          </p:cNvSpPr>
          <p:nvPr/>
        </p:nvSpPr>
        <p:spPr>
          <a:xfrm>
            <a:off x="8867775" y="234315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589497787" name="Прямоугольник 1589497786">
            <a:extLst>
              <a:ext uri="{FF2B5EF4-FFF2-40B4-BE49-F238E27FC236}">
                <a16:creationId xmlns:a16="http://schemas.microsoft.com/office/drawing/2014/main" id="{506398B7-A9D8-4371-85D1-AEB249BA5EC0}"/>
              </a:ext>
            </a:extLst>
          </p:cNvPr>
          <p:cNvSpPr>
            <a:spLocks noGrp="1"/>
          </p:cNvSpPr>
          <p:nvPr/>
        </p:nvSpPr>
        <p:spPr>
          <a:xfrm>
            <a:off x="9315450" y="2343150"/>
            <a:ext cx="222885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Объекты закреплены за диспетчерскими и службами эксплуатации: у каждой команды своя зона ответственности.</a:t>
            </a:r>
          </a:p>
        </p:txBody>
      </p:sp>
      <p:sp>
        <p:nvSpPr>
          <p:cNvPr id="1589497788" name="Прямоугольник 1589497787">
            <a:extLst>
              <a:ext uri="{FF2B5EF4-FFF2-40B4-BE49-F238E27FC236}">
                <a16:creationId xmlns:a16="http://schemas.microsoft.com/office/drawing/2014/main" id="{6498AF63-D080-49C3-B22E-251D4E9341F8}"/>
              </a:ext>
            </a:extLst>
          </p:cNvPr>
          <p:cNvSpPr>
            <a:spLocks noGrp="1"/>
          </p:cNvSpPr>
          <p:nvPr/>
        </p:nvSpPr>
        <p:spPr>
          <a:xfrm>
            <a:off x="8867775" y="35528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89497789" name="Прямоугольник 1589497788">
            <a:extLst>
              <a:ext uri="{FF2B5EF4-FFF2-40B4-BE49-F238E27FC236}">
                <a16:creationId xmlns:a16="http://schemas.microsoft.com/office/drawing/2014/main" id="{D2BBDE73-9D53-47EC-9D97-A6456E5C460B}"/>
              </a:ext>
            </a:extLst>
          </p:cNvPr>
          <p:cNvSpPr>
            <a:spLocks noGrp="1"/>
          </p:cNvSpPr>
          <p:nvPr/>
        </p:nvSpPr>
        <p:spPr>
          <a:xfrm>
            <a:off x="9315450" y="3552825"/>
            <a:ext cx="222885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Карточка показывает сотрудников подразделения. Диспетчер видит, кому адресовать проверку объекта.</a:t>
            </a:r>
          </a:p>
        </p:txBody>
      </p:sp>
      <p:sp>
        <p:nvSpPr>
          <p:cNvPr id="1589497790" name="Прямоугольник 1589497789">
            <a:extLst>
              <a:ext uri="{FF2B5EF4-FFF2-40B4-BE49-F238E27FC236}">
                <a16:creationId xmlns:a16="http://schemas.microsoft.com/office/drawing/2014/main" id="{BA4F735F-76BE-45CD-8117-C4C1024253C0}"/>
              </a:ext>
            </a:extLst>
          </p:cNvPr>
          <p:cNvSpPr>
            <a:spLocks noGrp="1"/>
          </p:cNvSpPr>
          <p:nvPr/>
        </p:nvSpPr>
        <p:spPr>
          <a:xfrm>
            <a:off x="8867775" y="476250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589497791" name="Прямоугольник 1589497790">
            <a:extLst>
              <a:ext uri="{FF2B5EF4-FFF2-40B4-BE49-F238E27FC236}">
                <a16:creationId xmlns:a16="http://schemas.microsoft.com/office/drawing/2014/main" id="{4CF4E483-053F-4458-BF74-5A0310CE3799}"/>
              </a:ext>
            </a:extLst>
          </p:cNvPr>
          <p:cNvSpPr>
            <a:spLocks noGrp="1"/>
          </p:cNvSpPr>
          <p:nvPr/>
        </p:nvSpPr>
        <p:spPr>
          <a:xfrm>
            <a:off x="9315450" y="4762500"/>
            <a:ext cx="222885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13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Привязку объектов можно изменить здесь же; по ней система определяет, какие объекты доступны сотрудникам.</a:t>
            </a:r>
          </a:p>
        </p:txBody>
      </p:sp>
    </p:spTree>
    <p:extLst>
      <p:ext uri="{BB962C8B-B14F-4D97-AF65-F5344CB8AC3E}">
        <p14:creationId xmlns:p14="http://schemas.microsoft.com/office/powerpoint/2010/main" val="1786114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РАБОТАЕТ ПРОГНОЗ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5388" y="1466850"/>
            <a:ext cx="10241223" cy="3790950"/>
          </a:xfrm>
          <a:prstGeom prst="rect">
            <a:avLst/>
          </a:prstGeom>
        </p:spPr>
      </p:pic>
      <p:sp>
        <p:nvSpPr>
          <p:cNvPr id="1490349587" name="Прямоугольник 1490349586">
            <a:extLst>
              <a:ext uri="{FF2B5EF4-FFF2-40B4-BE49-F238E27FC236}">
                <a16:creationId xmlns:a16="http://schemas.microsoft.com/office/drawing/2014/main" id="{54FFA09A-2D6A-487C-AC9D-B2C02FA54C3C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46291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88" name="Прямоугольник 1490349587">
            <a:extLst>
              <a:ext uri="{FF2B5EF4-FFF2-40B4-BE49-F238E27FC236}">
                <a16:creationId xmlns:a16="http://schemas.microsoft.com/office/drawing/2014/main" id="{367905D8-3CFF-450B-A0C3-AD8FCEB853A2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3314700" cy="3686175"/>
          </a:xfrm>
          <a:prstGeom prst="rect">
            <a:avLst/>
          </a:prstGeom>
          <a:solidFill>
            <a:srgbClr val="F8EF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89" name="Прямоугольник 1490349588">
            <a:extLst>
              <a:ext uri="{FF2B5EF4-FFF2-40B4-BE49-F238E27FC236}">
                <a16:creationId xmlns:a16="http://schemas.microsoft.com/office/drawing/2014/main" id="{CB40EDC9-84A2-440F-8EC6-636CDF9D544E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90" name="Прямоугольник 1490349589">
            <a:extLst>
              <a:ext uri="{FF2B5EF4-FFF2-40B4-BE49-F238E27FC236}">
                <a16:creationId xmlns:a16="http://schemas.microsoft.com/office/drawing/2014/main" id="{63A5F4DD-28D5-420E-9470-F382F5132E9E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490349591" name="Прямоугольник 1490349590">
            <a:extLst>
              <a:ext uri="{FF2B5EF4-FFF2-40B4-BE49-F238E27FC236}">
                <a16:creationId xmlns:a16="http://schemas.microsoft.com/office/drawing/2014/main" id="{49EF798B-DE77-48B0-BBCC-86ED0DF0EEA8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2933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Что предсказываем</a:t>
            </a:r>
          </a:p>
        </p:txBody>
      </p:sp>
      <p:sp>
        <p:nvSpPr>
          <p:cNvPr id="1490349592" name="Прямоугольник 1490349591">
            <a:extLst>
              <a:ext uri="{FF2B5EF4-FFF2-40B4-BE49-F238E27FC236}">
                <a16:creationId xmlns:a16="http://schemas.microsoft.com/office/drawing/2014/main" id="{B9BB4709-BD22-44C9-BEAF-DE89F49C0698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2895600" cy="1628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Риск повторного тревожного «Неисправен» у конкретного датчика через 1–30 дней.</a:t>
            </a:r>
          </a:p>
        </p:txBody>
      </p:sp>
      <p:sp>
        <p:nvSpPr>
          <p:cNvPr id="1490349593" name="Прямоугольник 1490349592">
            <a:extLst>
              <a:ext uri="{FF2B5EF4-FFF2-40B4-BE49-F238E27FC236}">
                <a16:creationId xmlns:a16="http://schemas.microsoft.com/office/drawing/2014/main" id="{7D9F088E-03CA-46E3-9929-7BCBACF719F0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3314700" cy="3686175"/>
          </a:xfrm>
          <a:prstGeom prst="rect">
            <a:avLst/>
          </a:prstGeom>
          <a:solidFill>
            <a:srgbClr val="EEF6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94" name="Прямоугольник 1490349593">
            <a:extLst>
              <a:ext uri="{FF2B5EF4-FFF2-40B4-BE49-F238E27FC236}">
                <a16:creationId xmlns:a16="http://schemas.microsoft.com/office/drawing/2014/main" id="{C658968E-43BC-4D6D-90FB-D4E77E714B9C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95" name="Прямоугольник 1490349594">
            <a:extLst>
              <a:ext uri="{FF2B5EF4-FFF2-40B4-BE49-F238E27FC236}">
                <a16:creationId xmlns:a16="http://schemas.microsoft.com/office/drawing/2014/main" id="{099D5063-1676-4FA8-8807-B3CCCCB4B5FE}"/>
              </a:ext>
            </a:extLst>
          </p:cNvPr>
          <p:cNvSpPr>
            <a:spLocks noGrp="1"/>
          </p:cNvSpPr>
          <p:nvPr/>
        </p:nvSpPr>
        <p:spPr>
          <a:xfrm>
            <a:off x="4648200" y="205740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90349596" name="Прямоугольник 1490349595">
            <a:extLst>
              <a:ext uri="{FF2B5EF4-FFF2-40B4-BE49-F238E27FC236}">
                <a16:creationId xmlns:a16="http://schemas.microsoft.com/office/drawing/2014/main" id="{DBED9D20-0479-4612-AA35-D08CA3CE8637}"/>
              </a:ext>
            </a:extLst>
          </p:cNvPr>
          <p:cNvSpPr>
            <a:spLocks noGrp="1"/>
          </p:cNvSpPr>
          <p:nvPr/>
        </p:nvSpPr>
        <p:spPr>
          <a:xfrm>
            <a:off x="4648200" y="2628900"/>
            <a:ext cx="2933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 делили данные</a:t>
            </a:r>
          </a:p>
        </p:txBody>
      </p:sp>
      <p:sp>
        <p:nvSpPr>
          <p:cNvPr id="1490349597" name="Прямоугольник 1490349596">
            <a:extLst>
              <a:ext uri="{FF2B5EF4-FFF2-40B4-BE49-F238E27FC236}">
                <a16:creationId xmlns:a16="http://schemas.microsoft.com/office/drawing/2014/main" id="{97D7BB57-B99F-4F0C-B2ED-EABEBE9B7390}"/>
              </a:ext>
            </a:extLst>
          </p:cNvPr>
          <p:cNvSpPr>
            <a:spLocks noGrp="1"/>
          </p:cNvSpPr>
          <p:nvPr/>
        </p:nvSpPr>
        <p:spPr>
          <a:xfrm>
            <a:off x="4648200" y="3467100"/>
            <a:ext cx="2895600" cy="1628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Обучение: 2019 – май 2025.</a:t>
            </a:r>
          </a:p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Тест: июль – ноябрь 2025.</a:t>
            </a:r>
          </a:p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Валидация: январь – май 2026.</a:t>
            </a:r>
          </a:p>
        </p:txBody>
      </p:sp>
      <p:sp>
        <p:nvSpPr>
          <p:cNvPr id="1490349598" name="Прямоугольник 1490349597">
            <a:extLst>
              <a:ext uri="{FF2B5EF4-FFF2-40B4-BE49-F238E27FC236}">
                <a16:creationId xmlns:a16="http://schemas.microsoft.com/office/drawing/2014/main" id="{58DB02A8-2F27-4CC0-9374-B79E1300350C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3314700" cy="3686175"/>
          </a:xfrm>
          <a:prstGeom prst="rect">
            <a:avLst/>
          </a:prstGeom>
          <a:solidFill>
            <a:srgbClr val="E7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99" name="Прямоугольник 1490349598">
            <a:extLst>
              <a:ext uri="{FF2B5EF4-FFF2-40B4-BE49-F238E27FC236}">
                <a16:creationId xmlns:a16="http://schemas.microsoft.com/office/drawing/2014/main" id="{D0F5CA47-A254-43AC-AAA0-272FCAC2F2DB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00" name="Прямоугольник 1490349599">
            <a:extLst>
              <a:ext uri="{FF2B5EF4-FFF2-40B4-BE49-F238E27FC236}">
                <a16:creationId xmlns:a16="http://schemas.microsoft.com/office/drawing/2014/main" id="{EE27A53E-61E4-40BA-B041-7BAEF604512D}"/>
              </a:ext>
            </a:extLst>
          </p:cNvPr>
          <p:cNvSpPr>
            <a:spLocks noGrp="1"/>
          </p:cNvSpPr>
          <p:nvPr/>
        </p:nvSpPr>
        <p:spPr>
          <a:xfrm>
            <a:off x="8343900" y="205740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90349601" name="Прямоугольник 1490349600">
            <a:extLst>
              <a:ext uri="{FF2B5EF4-FFF2-40B4-BE49-F238E27FC236}">
                <a16:creationId xmlns:a16="http://schemas.microsoft.com/office/drawing/2014/main" id="{7ED41EA0-DE4A-4220-BEC7-068FA7131565}"/>
              </a:ext>
            </a:extLst>
          </p:cNvPr>
          <p:cNvSpPr>
            <a:spLocks noGrp="1"/>
          </p:cNvSpPr>
          <p:nvPr/>
        </p:nvSpPr>
        <p:spPr>
          <a:xfrm>
            <a:off x="8343900" y="2628900"/>
            <a:ext cx="2933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Какие модели</a:t>
            </a:r>
          </a:p>
        </p:txBody>
      </p:sp>
      <p:sp>
        <p:nvSpPr>
          <p:cNvPr id="1490349602" name="Прямоугольник 1490349601">
            <a:extLst>
              <a:ext uri="{FF2B5EF4-FFF2-40B4-BE49-F238E27FC236}">
                <a16:creationId xmlns:a16="http://schemas.microsoft.com/office/drawing/2014/main" id="{4A1A8EEC-FA5F-4C92-882F-EF4879E4BFEF}"/>
              </a:ext>
            </a:extLst>
          </p:cNvPr>
          <p:cNvSpPr>
            <a:spLocks noGrp="1"/>
          </p:cNvSpPr>
          <p:nvPr/>
        </p:nvSpPr>
        <p:spPr>
          <a:xfrm>
            <a:off x="8343900" y="3467100"/>
            <a:ext cx="2895600" cy="1628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Две логистические регрессии: отдельно для насосов и вентиляции. Каждая использует 13 признаков из истории датчика.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281038" name="Скругленный прямоугольник 22">
            <a:extLst>
              <a:ext uri="{FF2B5EF4-FFF2-40B4-BE49-F238E27FC236}">
                <a16:creationId xmlns:a16="http://schemas.microsoft.com/office/drawing/2014/main" id="{E02147E9-7C74-4D6E-871F-AB61CB4F91C5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32773884" name="Номер слайда 20">
            <a:extLst>
              <a:ext uri="{FF2B5EF4-FFF2-40B4-BE49-F238E27FC236}">
                <a16:creationId xmlns:a16="http://schemas.microsoft.com/office/drawing/2014/main" id="{2CD18FCD-DC4F-4A7A-8992-AA896E0A381B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161832361" name="Текст 7">
            <a:extLst>
              <a:ext uri="{FF2B5EF4-FFF2-40B4-BE49-F238E27FC236}">
                <a16:creationId xmlns:a16="http://schemas.microsoft.com/office/drawing/2014/main" id="{E3AD5A93-717E-4FCE-903A-E2E0FD9E6827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7289068" y="1428776"/>
            <a:ext cx="3866856" cy="423628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171430459" name="Текст 8">
            <a:extLst>
              <a:ext uri="{FF2B5EF4-FFF2-40B4-BE49-F238E27FC236}">
                <a16:creationId xmlns:a16="http://schemas.microsoft.com/office/drawing/2014/main" id="{FC2CBF83-2DFA-4E11-90D9-B981D0B1AD4D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79741283" name="Заголовок 13">
            <a:extLst>
              <a:ext uri="{FF2B5EF4-FFF2-40B4-BE49-F238E27FC236}">
                <a16:creationId xmlns:a16="http://schemas.microsoft.com/office/drawing/2014/main" id="{D0D8FED5-743F-4B91-9404-77E3EC6E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Признаки модели</a:t>
            </a:r>
          </a:p>
        </p:txBody>
      </p:sp>
      <p:sp>
        <p:nvSpPr>
          <p:cNvPr id="2141281039" name="Прямоугольник 2141281038">
            <a:extLst>
              <a:ext uri="{FF2B5EF4-FFF2-40B4-BE49-F238E27FC236}">
                <a16:creationId xmlns:a16="http://schemas.microsoft.com/office/drawing/2014/main" id="{9739B31F-77D7-40E0-891D-B213CBA31BCA}"/>
              </a:ext>
            </a:extLst>
          </p:cNvPr>
          <p:cNvSpPr>
            <a:spLocks noGrp="1"/>
          </p:cNvSpPr>
          <p:nvPr/>
        </p:nvSpPr>
        <p:spPr>
          <a:xfrm>
            <a:off x="638175" y="1285875"/>
            <a:ext cx="523875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0" name="Прямоугольник 2141281039">
            <a:extLst>
              <a:ext uri="{FF2B5EF4-FFF2-40B4-BE49-F238E27FC236}">
                <a16:creationId xmlns:a16="http://schemas.microsoft.com/office/drawing/2014/main" id="{7009DC37-B904-47F2-A24A-7604720D8B9A}"/>
              </a:ext>
            </a:extLst>
          </p:cNvPr>
          <p:cNvSpPr>
            <a:spLocks noGrp="1"/>
          </p:cNvSpPr>
          <p:nvPr/>
        </p:nvSpPr>
        <p:spPr>
          <a:xfrm>
            <a:off x="514350" y="1285875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1" name="Прямоугольник 2141281040">
            <a:extLst>
              <a:ext uri="{FF2B5EF4-FFF2-40B4-BE49-F238E27FC236}">
                <a16:creationId xmlns:a16="http://schemas.microsoft.com/office/drawing/2014/main" id="{8BFAE2D2-55E5-464A-9B7B-67FBFEEB5CDF}"/>
              </a:ext>
            </a:extLst>
          </p:cNvPr>
          <p:cNvSpPr>
            <a:spLocks noGrp="1"/>
          </p:cNvSpPr>
          <p:nvPr/>
        </p:nvSpPr>
        <p:spPr>
          <a:xfrm>
            <a:off x="6219825" y="1303182"/>
            <a:ext cx="552450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2" name="Прямоугольник 2141281041">
            <a:extLst>
              <a:ext uri="{FF2B5EF4-FFF2-40B4-BE49-F238E27FC236}">
                <a16:creationId xmlns:a16="http://schemas.microsoft.com/office/drawing/2014/main" id="{0DB8CB39-64BE-4453-8167-44BDC2C88219}"/>
              </a:ext>
            </a:extLst>
          </p:cNvPr>
          <p:cNvSpPr>
            <a:spLocks noGrp="1"/>
          </p:cNvSpPr>
          <p:nvPr/>
        </p:nvSpPr>
        <p:spPr>
          <a:xfrm>
            <a:off x="6172200" y="1285875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3" name="Прямоугольник 2141281042">
            <a:extLst>
              <a:ext uri="{FF2B5EF4-FFF2-40B4-BE49-F238E27FC236}">
                <a16:creationId xmlns:a16="http://schemas.microsoft.com/office/drawing/2014/main" id="{E28BE533-F7CE-40F9-BAE5-69346B516E23}"/>
              </a:ext>
            </a:extLst>
          </p:cNvPr>
          <p:cNvSpPr>
            <a:spLocks noGrp="1"/>
          </p:cNvSpPr>
          <p:nvPr/>
        </p:nvSpPr>
        <p:spPr>
          <a:xfrm>
            <a:off x="628650" y="2860013"/>
            <a:ext cx="523875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4" name="Прямоугольник 2141281043">
            <a:extLst>
              <a:ext uri="{FF2B5EF4-FFF2-40B4-BE49-F238E27FC236}">
                <a16:creationId xmlns:a16="http://schemas.microsoft.com/office/drawing/2014/main" id="{82C52A70-8CBE-4333-8B54-34FED62EBF11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5" name="Прямоугольник 2141281044">
            <a:extLst>
              <a:ext uri="{FF2B5EF4-FFF2-40B4-BE49-F238E27FC236}">
                <a16:creationId xmlns:a16="http://schemas.microsoft.com/office/drawing/2014/main" id="{5E407651-8DE2-44F4-953D-6DAAAA7CF126}"/>
              </a:ext>
            </a:extLst>
          </p:cNvPr>
          <p:cNvSpPr>
            <a:spLocks noGrp="1"/>
          </p:cNvSpPr>
          <p:nvPr/>
        </p:nvSpPr>
        <p:spPr>
          <a:xfrm>
            <a:off x="6194020" y="2889562"/>
            <a:ext cx="5680823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6" name="Прямоугольник 2141281045">
            <a:extLst>
              <a:ext uri="{FF2B5EF4-FFF2-40B4-BE49-F238E27FC236}">
                <a16:creationId xmlns:a16="http://schemas.microsoft.com/office/drawing/2014/main" id="{9402D07B-72E3-4A06-9608-414250CE6EF2}"/>
              </a:ext>
            </a:extLst>
          </p:cNvPr>
          <p:cNvSpPr>
            <a:spLocks noGrp="1"/>
          </p:cNvSpPr>
          <p:nvPr/>
        </p:nvSpPr>
        <p:spPr>
          <a:xfrm>
            <a:off x="6172200" y="2876550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7" name="Прямоугольник 2141281046">
            <a:extLst>
              <a:ext uri="{FF2B5EF4-FFF2-40B4-BE49-F238E27FC236}">
                <a16:creationId xmlns:a16="http://schemas.microsoft.com/office/drawing/2014/main" id="{B5F5BD86-B469-459C-8342-7CEC21715478}"/>
              </a:ext>
            </a:extLst>
          </p:cNvPr>
          <p:cNvSpPr>
            <a:spLocks noGrp="1"/>
          </p:cNvSpPr>
          <p:nvPr/>
        </p:nvSpPr>
        <p:spPr>
          <a:xfrm>
            <a:off x="628650" y="4465256"/>
            <a:ext cx="523875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8" name="Прямоугольник 2141281047">
            <a:extLst>
              <a:ext uri="{FF2B5EF4-FFF2-40B4-BE49-F238E27FC236}">
                <a16:creationId xmlns:a16="http://schemas.microsoft.com/office/drawing/2014/main" id="{78B19D88-3B86-4BFC-8D95-BCF86DAAB7D4}"/>
              </a:ext>
            </a:extLst>
          </p:cNvPr>
          <p:cNvSpPr>
            <a:spLocks noGrp="1"/>
          </p:cNvSpPr>
          <p:nvPr/>
        </p:nvSpPr>
        <p:spPr>
          <a:xfrm>
            <a:off x="514350" y="4467225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50" name="Прямоугольник 2141281049">
            <a:extLst>
              <a:ext uri="{FF2B5EF4-FFF2-40B4-BE49-F238E27FC236}">
                <a16:creationId xmlns:a16="http://schemas.microsoft.com/office/drawing/2014/main" id="{0CE82DC0-77C0-456B-9D0E-68FE2EB9FB09}"/>
              </a:ext>
            </a:extLst>
          </p:cNvPr>
          <p:cNvSpPr>
            <a:spLocks noGrp="1"/>
          </p:cNvSpPr>
          <p:nvPr/>
        </p:nvSpPr>
        <p:spPr>
          <a:xfrm>
            <a:off x="6172200" y="4467225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51" name="Прямоугольник 2141281050">
            <a:extLst>
              <a:ext uri="{FF2B5EF4-FFF2-40B4-BE49-F238E27FC236}">
                <a16:creationId xmlns:a16="http://schemas.microsoft.com/office/drawing/2014/main" id="{7E369AD7-B4EB-4685-8AE9-96FD7C7A2D2A}"/>
              </a:ext>
            </a:extLst>
          </p:cNvPr>
          <p:cNvSpPr>
            <a:spLocks noGrp="1"/>
          </p:cNvSpPr>
          <p:nvPr/>
        </p:nvSpPr>
        <p:spPr>
          <a:xfrm>
            <a:off x="676825" y="1455538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age_days</a:t>
            </a:r>
          </a:p>
        </p:txBody>
      </p:sp>
      <p:sp>
        <p:nvSpPr>
          <p:cNvPr id="2141281052" name="Прямоугольник 2141281051">
            <a:extLst>
              <a:ext uri="{FF2B5EF4-FFF2-40B4-BE49-F238E27FC236}">
                <a16:creationId xmlns:a16="http://schemas.microsoft.com/office/drawing/2014/main" id="{C5CE1BE6-B57E-418D-B40C-23A650CF24D8}"/>
              </a:ext>
            </a:extLst>
          </p:cNvPr>
          <p:cNvSpPr>
            <a:spLocks noGrp="1"/>
          </p:cNvSpPr>
          <p:nvPr/>
        </p:nvSpPr>
        <p:spPr>
          <a:xfrm>
            <a:off x="698157" y="1867126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Сколько суток прошло с начала последнего эпизода этого датчика.</a:t>
            </a:r>
          </a:p>
        </p:txBody>
      </p:sp>
      <p:sp>
        <p:nvSpPr>
          <p:cNvPr id="2141281053" name="Прямоугольник 2141281052">
            <a:extLst>
              <a:ext uri="{FF2B5EF4-FFF2-40B4-BE49-F238E27FC236}">
                <a16:creationId xmlns:a16="http://schemas.microsoft.com/office/drawing/2014/main" id="{AB243F3D-DD21-49EB-8D14-AE97D7BC8CBF}"/>
              </a:ext>
            </a:extLst>
          </p:cNvPr>
          <p:cNvSpPr>
            <a:spLocks noGrp="1"/>
          </p:cNvSpPr>
          <p:nvPr/>
        </p:nvSpPr>
        <p:spPr>
          <a:xfrm>
            <a:off x="731494" y="2914650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raw_age_days</a:t>
            </a:r>
          </a:p>
        </p:txBody>
      </p:sp>
      <p:sp>
        <p:nvSpPr>
          <p:cNvPr id="2141281054" name="Прямоугольник 2141281053">
            <a:extLst>
              <a:ext uri="{FF2B5EF4-FFF2-40B4-BE49-F238E27FC236}">
                <a16:creationId xmlns:a16="http://schemas.microsoft.com/office/drawing/2014/main" id="{E520910A-816A-4140-97E7-37145799C839}"/>
              </a:ext>
            </a:extLst>
          </p:cNvPr>
          <p:cNvSpPr>
            <a:spLocks noGrp="1"/>
          </p:cNvSpPr>
          <p:nvPr/>
        </p:nvSpPr>
        <p:spPr>
          <a:xfrm>
            <a:off x="731494" y="3336705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Сколько суток прошло с последнего тревожного сообщения — даже если оно внутри того же эпизода.</a:t>
            </a:r>
          </a:p>
        </p:txBody>
      </p:sp>
      <p:sp>
        <p:nvSpPr>
          <p:cNvPr id="2141281055" name="Прямоугольник 2141281054">
            <a:extLst>
              <a:ext uri="{FF2B5EF4-FFF2-40B4-BE49-F238E27FC236}">
                <a16:creationId xmlns:a16="http://schemas.microsoft.com/office/drawing/2014/main" id="{503E5528-440C-45DD-A1B5-FEA5B3AEAD14}"/>
              </a:ext>
            </a:extLst>
          </p:cNvPr>
          <p:cNvSpPr>
            <a:spLocks noGrp="1"/>
          </p:cNvSpPr>
          <p:nvPr/>
        </p:nvSpPr>
        <p:spPr>
          <a:xfrm>
            <a:off x="698157" y="4515111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last_gap_days</a:t>
            </a:r>
          </a:p>
        </p:txBody>
      </p:sp>
      <p:sp>
        <p:nvSpPr>
          <p:cNvPr id="2141281056" name="Прямоугольник 2141281055">
            <a:extLst>
              <a:ext uri="{FF2B5EF4-FFF2-40B4-BE49-F238E27FC236}">
                <a16:creationId xmlns:a16="http://schemas.microsoft.com/office/drawing/2014/main" id="{031908DA-95AF-4D0D-BDEA-72AE332EAAB8}"/>
              </a:ext>
            </a:extLst>
          </p:cNvPr>
          <p:cNvSpPr>
            <a:spLocks noGrp="1"/>
          </p:cNvSpPr>
          <p:nvPr/>
        </p:nvSpPr>
        <p:spPr>
          <a:xfrm>
            <a:off x="679364" y="4908149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Пауза в сутках между двумя последними эпизодами.</a:t>
            </a:r>
          </a:p>
        </p:txBody>
      </p:sp>
      <p:sp>
        <p:nvSpPr>
          <p:cNvPr id="2141281057" name="Прямоугольник 2141281056">
            <a:extLst>
              <a:ext uri="{FF2B5EF4-FFF2-40B4-BE49-F238E27FC236}">
                <a16:creationId xmlns:a16="http://schemas.microsoft.com/office/drawing/2014/main" id="{34D04F5E-716E-4F79-914A-999E8BB0601D}"/>
              </a:ext>
            </a:extLst>
          </p:cNvPr>
          <p:cNvSpPr>
            <a:spLocks noGrp="1"/>
          </p:cNvSpPr>
          <p:nvPr/>
        </p:nvSpPr>
        <p:spPr>
          <a:xfrm>
            <a:off x="6286500" y="1400175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mean_last_gaps_days</a:t>
            </a:r>
          </a:p>
        </p:txBody>
      </p:sp>
      <p:sp>
        <p:nvSpPr>
          <p:cNvPr id="2141281058" name="Прямоугольник 2141281057">
            <a:extLst>
              <a:ext uri="{FF2B5EF4-FFF2-40B4-BE49-F238E27FC236}">
                <a16:creationId xmlns:a16="http://schemas.microsoft.com/office/drawing/2014/main" id="{27341656-B6D8-46DC-AC24-0A721F967D8C}"/>
              </a:ext>
            </a:extLst>
          </p:cNvPr>
          <p:cNvSpPr>
            <a:spLocks noGrp="1"/>
          </p:cNvSpPr>
          <p:nvPr/>
        </p:nvSpPr>
        <p:spPr>
          <a:xfrm>
            <a:off x="6286500" y="1876425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Средняя пауза между последними эпизодами; берём не более трёх промежутков.</a:t>
            </a:r>
          </a:p>
        </p:txBody>
      </p:sp>
      <p:sp>
        <p:nvSpPr>
          <p:cNvPr id="2141281059" name="Прямоугольник 2141281058">
            <a:extLst>
              <a:ext uri="{FF2B5EF4-FFF2-40B4-BE49-F238E27FC236}">
                <a16:creationId xmlns:a16="http://schemas.microsoft.com/office/drawing/2014/main" id="{9AEEFD91-1270-48F9-895B-F15FF0BB3FB3}"/>
              </a:ext>
            </a:extLst>
          </p:cNvPr>
          <p:cNvSpPr>
            <a:spLocks noGrp="1"/>
          </p:cNvSpPr>
          <p:nvPr/>
        </p:nvSpPr>
        <p:spPr>
          <a:xfrm>
            <a:off x="6317845" y="2998036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age_gap_ratio</a:t>
            </a:r>
          </a:p>
        </p:txBody>
      </p:sp>
      <p:sp>
        <p:nvSpPr>
          <p:cNvPr id="2141281060" name="Прямоугольник 2141281059">
            <a:extLst>
              <a:ext uri="{FF2B5EF4-FFF2-40B4-BE49-F238E27FC236}">
                <a16:creationId xmlns:a16="http://schemas.microsoft.com/office/drawing/2014/main" id="{BEEDD668-19C4-40E0-9BC2-43B24E03D15A}"/>
              </a:ext>
            </a:extLst>
          </p:cNvPr>
          <p:cNvSpPr>
            <a:spLocks noGrp="1"/>
          </p:cNvSpPr>
          <p:nvPr/>
        </p:nvSpPr>
        <p:spPr>
          <a:xfrm>
            <a:off x="6286500" y="3513495"/>
            <a:ext cx="5000625" cy="114977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Текущая давность / обычная пауза. Например, 1,5 значит, тревоги нет дольше привычного срока.</a:t>
            </a:r>
          </a:p>
        </p:txBody>
      </p:sp>
    </p:spTree>
    <p:extLst>
      <p:ext uri="{BB962C8B-B14F-4D97-AF65-F5344CB8AC3E}">
        <p14:creationId xmlns:p14="http://schemas.microsoft.com/office/powerpoint/2010/main" val="1586194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281038" name="Скругленный прямоугольник 22">
            <a:extLst>
              <a:ext uri="{FF2B5EF4-FFF2-40B4-BE49-F238E27FC236}">
                <a16:creationId xmlns:a16="http://schemas.microsoft.com/office/drawing/2014/main" id="{E02147E9-7C74-4D6E-871F-AB61CB4F91C5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122082566" name="Текст 1">
            <a:extLst>
              <a:ext uri="{FF2B5EF4-FFF2-40B4-BE49-F238E27FC236}">
                <a16:creationId xmlns:a16="http://schemas.microsoft.com/office/drawing/2014/main" id="{85724C9F-681C-48D7-B949-723938F1ADB0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1615961" y="1428776"/>
            <a:ext cx="3866856" cy="423628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62925436" name="Текст 2">
            <a:extLst>
              <a:ext uri="{FF2B5EF4-FFF2-40B4-BE49-F238E27FC236}">
                <a16:creationId xmlns:a16="http://schemas.microsoft.com/office/drawing/2014/main" id="{8A0836ED-E302-4A8E-B180-6177D329BD32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812443922" name="Текст 3">
            <a:extLst>
              <a:ext uri="{FF2B5EF4-FFF2-40B4-BE49-F238E27FC236}">
                <a16:creationId xmlns:a16="http://schemas.microsoft.com/office/drawing/2014/main" id="{F8303FDC-9A5A-4C77-BF73-E80E075607F3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1596604" y="3032761"/>
            <a:ext cx="3866856" cy="403756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2952634" name="Текст 4">
            <a:extLst>
              <a:ext uri="{FF2B5EF4-FFF2-40B4-BE49-F238E27FC236}">
                <a16:creationId xmlns:a16="http://schemas.microsoft.com/office/drawing/2014/main" id="{E8400DBF-EB1E-485C-A6C0-6493F82E5C8A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1596604" y="3580500"/>
            <a:ext cx="3866856" cy="672075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973838948" name="Текст 5">
            <a:extLst>
              <a:ext uri="{FF2B5EF4-FFF2-40B4-BE49-F238E27FC236}">
                <a16:creationId xmlns:a16="http://schemas.microsoft.com/office/drawing/2014/main" id="{1F55A8EA-D348-40E2-9B30-D67CD2393D3B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1596604" y="4616873"/>
            <a:ext cx="3866856" cy="403913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719053496" name="Текст 6">
            <a:extLst>
              <a:ext uri="{FF2B5EF4-FFF2-40B4-BE49-F238E27FC236}">
                <a16:creationId xmlns:a16="http://schemas.microsoft.com/office/drawing/2014/main" id="{4B2909FE-D207-47CB-AB94-0B2333AFE16E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1596604" y="5164612"/>
            <a:ext cx="3866856" cy="672075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161832361" name="Текст 7">
            <a:extLst>
              <a:ext uri="{FF2B5EF4-FFF2-40B4-BE49-F238E27FC236}">
                <a16:creationId xmlns:a16="http://schemas.microsoft.com/office/drawing/2014/main" id="{E3AD5A93-717E-4FCE-903A-E2E0FD9E6827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7289068" y="1428776"/>
            <a:ext cx="3866856" cy="423628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171430459" name="Текст 8">
            <a:extLst>
              <a:ext uri="{FF2B5EF4-FFF2-40B4-BE49-F238E27FC236}">
                <a16:creationId xmlns:a16="http://schemas.microsoft.com/office/drawing/2014/main" id="{FC2CBF83-2DFA-4E11-90D9-B981D0B1AD4D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21743071" name="Текст 9">
            <a:extLst>
              <a:ext uri="{FF2B5EF4-FFF2-40B4-BE49-F238E27FC236}">
                <a16:creationId xmlns:a16="http://schemas.microsoft.com/office/drawing/2014/main" id="{EF8D022D-9F6D-4823-9213-B037AE5D04C2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36434005" name="Текст 10">
            <a:extLst>
              <a:ext uri="{FF2B5EF4-FFF2-40B4-BE49-F238E27FC236}">
                <a16:creationId xmlns:a16="http://schemas.microsoft.com/office/drawing/2014/main" id="{F706295C-2967-4C21-8134-C67F91186E54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569451178" name="Текст 11">
            <a:extLst>
              <a:ext uri="{FF2B5EF4-FFF2-40B4-BE49-F238E27FC236}">
                <a16:creationId xmlns:a16="http://schemas.microsoft.com/office/drawing/2014/main" id="{78AE04A8-B7C4-4612-8A20-EDA6D9F57E7C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532078661" name="Текст 12">
            <a:extLst>
              <a:ext uri="{FF2B5EF4-FFF2-40B4-BE49-F238E27FC236}">
                <a16:creationId xmlns:a16="http://schemas.microsoft.com/office/drawing/2014/main" id="{4193EFFE-284F-4FC2-A8D4-CE786587004A}"/>
              </a:ext>
            </a:extLst>
          </p:cNvPr>
          <p:cNvSpPr>
            <a:spLocks noGrp="1"/>
          </p:cNvSpPr>
          <p:nvPr>
            <p:ph type="body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79741283" name="Заголовок 13">
            <a:extLst>
              <a:ext uri="{FF2B5EF4-FFF2-40B4-BE49-F238E27FC236}">
                <a16:creationId xmlns:a16="http://schemas.microsoft.com/office/drawing/2014/main" id="{D0D8FED5-743F-4B91-9404-77E3EC6E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Признаки модели</a:t>
            </a:r>
          </a:p>
        </p:txBody>
      </p:sp>
      <p:sp>
        <p:nvSpPr>
          <p:cNvPr id="447044830" name="Текст 14">
            <a:extLst>
              <a:ext uri="{FF2B5EF4-FFF2-40B4-BE49-F238E27FC236}">
                <a16:creationId xmlns:a16="http://schemas.microsoft.com/office/drawing/2014/main" id="{F117B0BA-046C-470F-B73A-37CDF0CA044C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05991575" name="Текст 15">
            <a:extLst>
              <a:ext uri="{FF2B5EF4-FFF2-40B4-BE49-F238E27FC236}">
                <a16:creationId xmlns:a16="http://schemas.microsoft.com/office/drawing/2014/main" id="{F60214C7-6F66-4E56-A363-F7EE7AF4FDDD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141281039" name="Прямоугольник 2141281038">
            <a:extLst>
              <a:ext uri="{FF2B5EF4-FFF2-40B4-BE49-F238E27FC236}">
                <a16:creationId xmlns:a16="http://schemas.microsoft.com/office/drawing/2014/main" id="{9739B31F-77D7-40E0-891D-B213CBA31BCA}"/>
              </a:ext>
            </a:extLst>
          </p:cNvPr>
          <p:cNvSpPr>
            <a:spLocks noGrp="1"/>
          </p:cNvSpPr>
          <p:nvPr/>
        </p:nvSpPr>
        <p:spPr>
          <a:xfrm>
            <a:off x="514350" y="1285875"/>
            <a:ext cx="523875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0" name="Прямоугольник 2141281039">
            <a:extLst>
              <a:ext uri="{FF2B5EF4-FFF2-40B4-BE49-F238E27FC236}">
                <a16:creationId xmlns:a16="http://schemas.microsoft.com/office/drawing/2014/main" id="{7009DC37-B904-47F2-A24A-7604720D8B9A}"/>
              </a:ext>
            </a:extLst>
          </p:cNvPr>
          <p:cNvSpPr>
            <a:spLocks noGrp="1"/>
          </p:cNvSpPr>
          <p:nvPr/>
        </p:nvSpPr>
        <p:spPr>
          <a:xfrm>
            <a:off x="514350" y="1285875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1" name="Прямоугольник 2141281040">
            <a:extLst>
              <a:ext uri="{FF2B5EF4-FFF2-40B4-BE49-F238E27FC236}">
                <a16:creationId xmlns:a16="http://schemas.microsoft.com/office/drawing/2014/main" id="{8BFAE2D2-55E5-464A-9B7B-67FBFEEB5CDF}"/>
              </a:ext>
            </a:extLst>
          </p:cNvPr>
          <p:cNvSpPr>
            <a:spLocks noGrp="1"/>
          </p:cNvSpPr>
          <p:nvPr/>
        </p:nvSpPr>
        <p:spPr>
          <a:xfrm>
            <a:off x="6248321" y="1285875"/>
            <a:ext cx="552450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2" name="Прямоугольник 2141281041">
            <a:extLst>
              <a:ext uri="{FF2B5EF4-FFF2-40B4-BE49-F238E27FC236}">
                <a16:creationId xmlns:a16="http://schemas.microsoft.com/office/drawing/2014/main" id="{0DB8CB39-64BE-4453-8167-44BDC2C88219}"/>
              </a:ext>
            </a:extLst>
          </p:cNvPr>
          <p:cNvSpPr>
            <a:spLocks noGrp="1"/>
          </p:cNvSpPr>
          <p:nvPr/>
        </p:nvSpPr>
        <p:spPr>
          <a:xfrm>
            <a:off x="6172200" y="1285875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3" name="Прямоугольник 2141281042">
            <a:extLst>
              <a:ext uri="{FF2B5EF4-FFF2-40B4-BE49-F238E27FC236}">
                <a16:creationId xmlns:a16="http://schemas.microsoft.com/office/drawing/2014/main" id="{E28BE533-F7CE-40F9-BAE5-69346B516E23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523875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4" name="Прямоугольник 2141281043">
            <a:extLst>
              <a:ext uri="{FF2B5EF4-FFF2-40B4-BE49-F238E27FC236}">
                <a16:creationId xmlns:a16="http://schemas.microsoft.com/office/drawing/2014/main" id="{82C52A70-8CBE-4333-8B54-34FED62EBF11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5" name="Прямоугольник 2141281044">
            <a:extLst>
              <a:ext uri="{FF2B5EF4-FFF2-40B4-BE49-F238E27FC236}">
                <a16:creationId xmlns:a16="http://schemas.microsoft.com/office/drawing/2014/main" id="{5E407651-8DE2-44F4-953D-6DAAAA7CF126}"/>
              </a:ext>
            </a:extLst>
          </p:cNvPr>
          <p:cNvSpPr>
            <a:spLocks noGrp="1"/>
          </p:cNvSpPr>
          <p:nvPr/>
        </p:nvSpPr>
        <p:spPr>
          <a:xfrm>
            <a:off x="6248321" y="2876550"/>
            <a:ext cx="552450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6" name="Прямоугольник 2141281045">
            <a:extLst>
              <a:ext uri="{FF2B5EF4-FFF2-40B4-BE49-F238E27FC236}">
                <a16:creationId xmlns:a16="http://schemas.microsoft.com/office/drawing/2014/main" id="{9402D07B-72E3-4A06-9608-414250CE6EF2}"/>
              </a:ext>
            </a:extLst>
          </p:cNvPr>
          <p:cNvSpPr>
            <a:spLocks noGrp="1"/>
          </p:cNvSpPr>
          <p:nvPr/>
        </p:nvSpPr>
        <p:spPr>
          <a:xfrm>
            <a:off x="6172200" y="2876550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7" name="Прямоугольник 2141281046">
            <a:extLst>
              <a:ext uri="{FF2B5EF4-FFF2-40B4-BE49-F238E27FC236}">
                <a16:creationId xmlns:a16="http://schemas.microsoft.com/office/drawing/2014/main" id="{B5F5BD86-B469-459C-8342-7CEC21715478}"/>
              </a:ext>
            </a:extLst>
          </p:cNvPr>
          <p:cNvSpPr>
            <a:spLocks noGrp="1"/>
          </p:cNvSpPr>
          <p:nvPr/>
        </p:nvSpPr>
        <p:spPr>
          <a:xfrm>
            <a:off x="609422" y="4455478"/>
            <a:ext cx="523875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8" name="Прямоугольник 2141281047">
            <a:extLst>
              <a:ext uri="{FF2B5EF4-FFF2-40B4-BE49-F238E27FC236}">
                <a16:creationId xmlns:a16="http://schemas.microsoft.com/office/drawing/2014/main" id="{78B19D88-3B86-4BFC-8D95-BCF86DAAB7D4}"/>
              </a:ext>
            </a:extLst>
          </p:cNvPr>
          <p:cNvSpPr>
            <a:spLocks noGrp="1"/>
          </p:cNvSpPr>
          <p:nvPr/>
        </p:nvSpPr>
        <p:spPr>
          <a:xfrm>
            <a:off x="514350" y="4467225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49" name="Прямоугольник 2141281048">
            <a:extLst>
              <a:ext uri="{FF2B5EF4-FFF2-40B4-BE49-F238E27FC236}">
                <a16:creationId xmlns:a16="http://schemas.microsoft.com/office/drawing/2014/main" id="{F2C601DA-27E7-42A9-813D-54076A01BC81}"/>
              </a:ext>
            </a:extLst>
          </p:cNvPr>
          <p:cNvSpPr>
            <a:spLocks noGrp="1"/>
          </p:cNvSpPr>
          <p:nvPr/>
        </p:nvSpPr>
        <p:spPr>
          <a:xfrm>
            <a:off x="6248321" y="4456927"/>
            <a:ext cx="5524500" cy="1543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50" name="Прямоугольник 2141281049">
            <a:extLst>
              <a:ext uri="{FF2B5EF4-FFF2-40B4-BE49-F238E27FC236}">
                <a16:creationId xmlns:a16="http://schemas.microsoft.com/office/drawing/2014/main" id="{0CE82DC0-77C0-456B-9D0E-68FE2EB9FB09}"/>
              </a:ext>
            </a:extLst>
          </p:cNvPr>
          <p:cNvSpPr>
            <a:spLocks noGrp="1"/>
          </p:cNvSpPr>
          <p:nvPr/>
        </p:nvSpPr>
        <p:spPr>
          <a:xfrm>
            <a:off x="6172200" y="4467225"/>
            <a:ext cx="47625" cy="154305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51" name="Прямоугольник 2141281050">
            <a:extLst>
              <a:ext uri="{FF2B5EF4-FFF2-40B4-BE49-F238E27FC236}">
                <a16:creationId xmlns:a16="http://schemas.microsoft.com/office/drawing/2014/main" id="{7E369AD7-B4EB-4685-8AE9-96FD7C7A2D2A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episodes_7d</a:t>
            </a:r>
          </a:p>
        </p:txBody>
      </p:sp>
      <p:sp>
        <p:nvSpPr>
          <p:cNvPr id="2141281052" name="Прямоугольник 2141281051">
            <a:extLst>
              <a:ext uri="{FF2B5EF4-FFF2-40B4-BE49-F238E27FC236}">
                <a16:creationId xmlns:a16="http://schemas.microsoft.com/office/drawing/2014/main" id="{C5CE1BE6-B57E-418D-B40C-23A650CF24D8}"/>
              </a:ext>
            </a:extLst>
          </p:cNvPr>
          <p:cNvSpPr>
            <a:spLocks noGrp="1"/>
          </p:cNvSpPr>
          <p:nvPr/>
        </p:nvSpPr>
        <p:spPr>
          <a:xfrm>
            <a:off x="628650" y="1876425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Сколько новых эпизодов было у этого датчика за прошедшие 7 дней.</a:t>
            </a:r>
          </a:p>
        </p:txBody>
      </p:sp>
      <p:sp>
        <p:nvSpPr>
          <p:cNvPr id="2141281053" name="Прямоугольник 2141281052">
            <a:extLst>
              <a:ext uri="{FF2B5EF4-FFF2-40B4-BE49-F238E27FC236}">
                <a16:creationId xmlns:a16="http://schemas.microsoft.com/office/drawing/2014/main" id="{AB243F3D-DD21-49EB-8D14-AE97D7BC8CBF}"/>
              </a:ext>
            </a:extLst>
          </p:cNvPr>
          <p:cNvSpPr>
            <a:spLocks noGrp="1"/>
          </p:cNvSpPr>
          <p:nvPr/>
        </p:nvSpPr>
        <p:spPr>
          <a:xfrm>
            <a:off x="628650" y="2990850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episodes_30d</a:t>
            </a:r>
          </a:p>
        </p:txBody>
      </p:sp>
      <p:sp>
        <p:nvSpPr>
          <p:cNvPr id="2141281054" name="Прямоугольник 2141281053">
            <a:extLst>
              <a:ext uri="{FF2B5EF4-FFF2-40B4-BE49-F238E27FC236}">
                <a16:creationId xmlns:a16="http://schemas.microsoft.com/office/drawing/2014/main" id="{E520910A-816A-4140-97E7-37145799C839}"/>
              </a:ext>
            </a:extLst>
          </p:cNvPr>
          <p:cNvSpPr>
            <a:spLocks noGrp="1"/>
          </p:cNvSpPr>
          <p:nvPr/>
        </p:nvSpPr>
        <p:spPr>
          <a:xfrm>
            <a:off x="628650" y="3467100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 же за 30 дней: показывает частые повторы за последний месяц.</a:t>
            </a:r>
          </a:p>
        </p:txBody>
      </p:sp>
      <p:sp>
        <p:nvSpPr>
          <p:cNvPr id="2141281055" name="Прямоугольник 2141281054">
            <a:extLst>
              <a:ext uri="{FF2B5EF4-FFF2-40B4-BE49-F238E27FC236}">
                <a16:creationId xmlns:a16="http://schemas.microsoft.com/office/drawing/2014/main" id="{503E5528-440C-45DD-A1B5-FEA5B3AEAD14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episodes_90d</a:t>
            </a:r>
          </a:p>
        </p:txBody>
      </p:sp>
      <p:sp>
        <p:nvSpPr>
          <p:cNvPr id="2141281056" name="Прямоугольник 2141281055">
            <a:extLst>
              <a:ext uri="{FF2B5EF4-FFF2-40B4-BE49-F238E27FC236}">
                <a16:creationId xmlns:a16="http://schemas.microsoft.com/office/drawing/2014/main" id="{031908DA-95AF-4D0D-BDEA-72AE332EAAB8}"/>
              </a:ext>
            </a:extLst>
          </p:cNvPr>
          <p:cNvSpPr>
            <a:spLocks noGrp="1"/>
          </p:cNvSpPr>
          <p:nvPr/>
        </p:nvSpPr>
        <p:spPr>
          <a:xfrm>
            <a:off x="628650" y="5057775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 же за 90 дней: показывает устойчивую проблему за квартал.</a:t>
            </a:r>
          </a:p>
        </p:txBody>
      </p:sp>
      <p:sp>
        <p:nvSpPr>
          <p:cNvPr id="2141281057" name="Прямоугольник 2141281056">
            <a:extLst>
              <a:ext uri="{FF2B5EF4-FFF2-40B4-BE49-F238E27FC236}">
                <a16:creationId xmlns:a16="http://schemas.microsoft.com/office/drawing/2014/main" id="{34D04F5E-716E-4F79-914A-999E8BB0601D}"/>
              </a:ext>
            </a:extLst>
          </p:cNvPr>
          <p:cNvSpPr>
            <a:spLocks noGrp="1"/>
          </p:cNvSpPr>
          <p:nvPr/>
        </p:nvSpPr>
        <p:spPr>
          <a:xfrm>
            <a:off x="6286500" y="1400175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episodes_365d</a:t>
            </a:r>
          </a:p>
        </p:txBody>
      </p:sp>
      <p:sp>
        <p:nvSpPr>
          <p:cNvPr id="2141281058" name="Прямоугольник 2141281057">
            <a:extLst>
              <a:ext uri="{FF2B5EF4-FFF2-40B4-BE49-F238E27FC236}">
                <a16:creationId xmlns:a16="http://schemas.microsoft.com/office/drawing/2014/main" id="{27341656-B6D8-46DC-AC24-0A721F967D8C}"/>
              </a:ext>
            </a:extLst>
          </p:cNvPr>
          <p:cNvSpPr>
            <a:spLocks noGrp="1"/>
          </p:cNvSpPr>
          <p:nvPr/>
        </p:nvSpPr>
        <p:spPr>
          <a:xfrm>
            <a:off x="6286500" y="1876425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 же за год: сколько раз канал возвращался к тревожной неисправности.</a:t>
            </a:r>
          </a:p>
        </p:txBody>
      </p:sp>
      <p:sp>
        <p:nvSpPr>
          <p:cNvPr id="2141281059" name="Прямоугольник 2141281058">
            <a:extLst>
              <a:ext uri="{FF2B5EF4-FFF2-40B4-BE49-F238E27FC236}">
                <a16:creationId xmlns:a16="http://schemas.microsoft.com/office/drawing/2014/main" id="{9AEEFD91-1270-48F9-895B-F15FF0BB3FB3}"/>
              </a:ext>
            </a:extLst>
          </p:cNvPr>
          <p:cNvSpPr>
            <a:spLocks noGrp="1"/>
          </p:cNvSpPr>
          <p:nvPr/>
        </p:nvSpPr>
        <p:spPr>
          <a:xfrm>
            <a:off x="6286500" y="2990850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weekday_sin + weekday_cos</a:t>
            </a:r>
          </a:p>
        </p:txBody>
      </p:sp>
      <p:sp>
        <p:nvSpPr>
          <p:cNvPr id="2141281060" name="Прямоугольник 2141281059">
            <a:extLst>
              <a:ext uri="{FF2B5EF4-FFF2-40B4-BE49-F238E27FC236}">
                <a16:creationId xmlns:a16="http://schemas.microsoft.com/office/drawing/2014/main" id="{BEEDD668-19C4-40E0-9BC2-43B24E03D15A}"/>
              </a:ext>
            </a:extLst>
          </p:cNvPr>
          <p:cNvSpPr>
            <a:spLocks noGrp="1"/>
          </p:cNvSpPr>
          <p:nvPr/>
        </p:nvSpPr>
        <p:spPr>
          <a:xfrm>
            <a:off x="6286500" y="3467100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Кодируем номера дней недели через окружность для понимания моделью правильности хода происходящих событий (чтобы воскресенье и понедельник были рядом по хронологии)</a:t>
            </a:r>
          </a:p>
        </p:txBody>
      </p:sp>
      <p:sp>
        <p:nvSpPr>
          <p:cNvPr id="2141281061" name="Прямоугольник 2141281060">
            <a:extLst>
              <a:ext uri="{FF2B5EF4-FFF2-40B4-BE49-F238E27FC236}">
                <a16:creationId xmlns:a16="http://schemas.microsoft.com/office/drawing/2014/main" id="{1E5CCA56-DBDC-4B81-9B77-FF6D98599D00}"/>
              </a:ext>
            </a:extLst>
          </p:cNvPr>
          <p:cNvSpPr>
            <a:spLocks noGrp="1"/>
          </p:cNvSpPr>
          <p:nvPr/>
        </p:nvSpPr>
        <p:spPr>
          <a:xfrm>
            <a:off x="6286500" y="4581525"/>
            <a:ext cx="5000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month_sin + month_cos</a:t>
            </a:r>
          </a:p>
        </p:txBody>
      </p:sp>
      <p:sp>
        <p:nvSpPr>
          <p:cNvPr id="2141281062" name="Прямоугольник 2141281061">
            <a:extLst>
              <a:ext uri="{FF2B5EF4-FFF2-40B4-BE49-F238E27FC236}">
                <a16:creationId xmlns:a16="http://schemas.microsoft.com/office/drawing/2014/main" id="{C50693AE-CEDA-415C-A74C-C53201493138}"/>
              </a:ext>
            </a:extLst>
          </p:cNvPr>
          <p:cNvSpPr>
            <a:spLocks noGrp="1"/>
          </p:cNvSpPr>
          <p:nvPr/>
        </p:nvSpPr>
        <p:spPr>
          <a:xfrm>
            <a:off x="6286500" y="4867214"/>
            <a:ext cx="500062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Кодируем номера месяца через окружность для понимания моделью правильности хода происходящих событий (чтобы декабрь и январь были рядом по хронологии)</a:t>
            </a:r>
          </a:p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2141281063" name="Прямоугольник 2141281062">
            <a:extLst>
              <a:ext uri="{FF2B5EF4-FFF2-40B4-BE49-F238E27FC236}">
                <a16:creationId xmlns:a16="http://schemas.microsoft.com/office/drawing/2014/main" id="{C3EDC85A-FC73-44CA-BADA-2CAE36F502D4}"/>
              </a:ext>
            </a:extLst>
          </p:cNvPr>
          <p:cNvSpPr>
            <a:spLocks noGrp="1"/>
          </p:cNvSpPr>
          <p:nvPr/>
        </p:nvSpPr>
        <p:spPr>
          <a:xfrm>
            <a:off x="333375" y="6134100"/>
            <a:ext cx="11239500" cy="4191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1281064" name="Прямоугольник 2141281063">
            <a:extLst>
              <a:ext uri="{FF2B5EF4-FFF2-40B4-BE49-F238E27FC236}">
                <a16:creationId xmlns:a16="http://schemas.microsoft.com/office/drawing/2014/main" id="{D5B68E15-1430-4836-B973-891D591C1B6A}"/>
              </a:ext>
            </a:extLst>
          </p:cNvPr>
          <p:cNvSpPr>
            <a:spLocks noGrp="1"/>
          </p:cNvSpPr>
          <p:nvPr/>
        </p:nvSpPr>
        <p:spPr>
          <a:xfrm>
            <a:off x="514350" y="6181725"/>
            <a:ext cx="1085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Всего 13 признаков: 5 давности + 4 частоты + 2 дня недели + 2 месяца.</a:t>
            </a:r>
          </a:p>
        </p:txBody>
      </p:sp>
    </p:spTree>
    <p:extLst>
      <p:ext uri="{BB962C8B-B14F-4D97-AF65-F5344CB8AC3E}">
        <p14:creationId xmlns:p14="http://schemas.microsoft.com/office/powerpoint/2010/main" val="1586194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26806100" name="Объект 2">
            <a:extLst>
              <a:ext uri="{FF2B5EF4-FFF2-40B4-BE49-F238E27FC236}">
                <a16:creationId xmlns:a16="http://schemas.microsoft.com/office/drawing/2014/main" id="{221FB9FD-D1FF-4019-92C4-53993DACC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7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ПОЧЕМУ 30 ДНЕЙ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" y="1561375"/>
            <a:ext cx="10572750" cy="3820974"/>
          </a:xfrm>
          <a:prstGeom prst="rect">
            <a:avLst/>
          </a:prstGeom>
        </p:spPr>
      </p:pic>
      <p:sp>
        <p:nvSpPr>
          <p:cNvPr id="1490349568" name="Прямоугольник 1490349567">
            <a:extLst>
              <a:ext uri="{FF2B5EF4-FFF2-40B4-BE49-F238E27FC236}">
                <a16:creationId xmlns:a16="http://schemas.microsoft.com/office/drawing/2014/main" id="{58FAF76F-8D96-4122-9AEA-0F5818EFBD7F}"/>
              </a:ext>
            </a:extLst>
          </p:cNvPr>
          <p:cNvSpPr>
            <a:spLocks noGrp="1"/>
          </p:cNvSpPr>
          <p:nvPr/>
        </p:nvSpPr>
        <p:spPr>
          <a:xfrm>
            <a:off x="714375" y="5534025"/>
            <a:ext cx="10668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30 дней — первый общий срок с Precision &gt; 0,7 при Recall ≥ 0,5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ПОЧЕМУ ПОРОГ 0,70</a:t>
            </a:r>
          </a:p>
        </p:txBody>
      </p:sp>
      <p:sp>
        <p:nvSpPr>
          <p:cNvPr id="2" name="Скругленный прямоугольник 3">
            <a:extLst>
              <a:ext uri="{FF2B5EF4-FFF2-40B4-BE49-F238E27FC236}">
                <a16:creationId xmlns:a16="http://schemas.microsoft.com/office/drawing/2014/main" id="{0DDC83F7-7715-3100-FAF7-CBF80676D74F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26AA66-90C2-6623-FD46-E350F702E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pPr>
              <a:buNone/>
            </a:pPr>
            <a:endParaRPr/>
          </a:p>
        </p:txBody>
      </p:sp>
      <p:pic>
        <p:nvPicPr>
          <p:cNvPr id="1490349569" name="Рисунок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1496269"/>
            <a:ext cx="10744200" cy="3332062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32EA4DE-84E5-53DE-A9A4-3F8CB98459FC}"/>
              </a:ext>
            </a:extLst>
          </p:cNvPr>
          <p:cNvSpPr>
            <a:spLocks noGrp="1"/>
          </p:cNvSpPr>
          <p:nvPr/>
        </p:nvSpPr>
        <p:spPr>
          <a:xfrm>
            <a:off x="714375" y="4924425"/>
            <a:ext cx="5143500" cy="714375"/>
          </a:xfrm>
          <a:prstGeom prst="rect">
            <a:avLst/>
          </a:prstGeom>
          <a:solidFill>
            <a:srgbClr val="F8EF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5110C42-851E-F227-406C-A87743462C9E}"/>
              </a:ext>
            </a:extLst>
          </p:cNvPr>
          <p:cNvSpPr>
            <a:spLocks noGrp="1"/>
          </p:cNvSpPr>
          <p:nvPr/>
        </p:nvSpPr>
        <p:spPr>
          <a:xfrm>
            <a:off x="847725" y="5000625"/>
            <a:ext cx="485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Вентиляторы · порог 0,70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8D1CE4-4448-18FB-CB98-92965989336D}"/>
              </a:ext>
            </a:extLst>
          </p:cNvPr>
          <p:cNvSpPr>
            <a:spLocks noGrp="1"/>
          </p:cNvSpPr>
          <p:nvPr/>
        </p:nvSpPr>
        <p:spPr>
          <a:xfrm>
            <a:off x="847725" y="5276850"/>
            <a:ext cx="485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Precision 85,4%  ·  Recall 59,1%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57F3A8-920C-BC0C-2766-A3B6C688AEFB}"/>
              </a:ext>
            </a:extLst>
          </p:cNvPr>
          <p:cNvSpPr>
            <a:spLocks noGrp="1"/>
          </p:cNvSpPr>
          <p:nvPr/>
        </p:nvSpPr>
        <p:spPr>
          <a:xfrm>
            <a:off x="6334125" y="4924425"/>
            <a:ext cx="5143500" cy="714375"/>
          </a:xfrm>
          <a:prstGeom prst="rect">
            <a:avLst/>
          </a:prstGeom>
          <a:solidFill>
            <a:srgbClr val="EEF6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CCC4CE3-516E-2569-1DE9-69A967FA3FDB}"/>
              </a:ext>
            </a:extLst>
          </p:cNvPr>
          <p:cNvSpPr>
            <a:spLocks noGrp="1"/>
          </p:cNvSpPr>
          <p:nvPr/>
        </p:nvSpPr>
        <p:spPr>
          <a:xfrm>
            <a:off x="6467475" y="5000625"/>
            <a:ext cx="485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Насосы · порог 0,70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287F3A9-56D8-4AB1-7E27-7DC2055F07D9}"/>
              </a:ext>
            </a:extLst>
          </p:cNvPr>
          <p:cNvSpPr>
            <a:spLocks noGrp="1"/>
          </p:cNvSpPr>
          <p:nvPr/>
        </p:nvSpPr>
        <p:spPr>
          <a:xfrm>
            <a:off x="6467475" y="5276850"/>
            <a:ext cx="485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Precision 85,0%  ·  Recall 65,7%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B1098BD-8579-F5AD-5735-4A5D0C68DA6C}"/>
              </a:ext>
            </a:extLst>
          </p:cNvPr>
          <p:cNvSpPr>
            <a:spLocks noGrp="1"/>
          </p:cNvSpPr>
          <p:nvPr/>
        </p:nvSpPr>
        <p:spPr>
          <a:xfrm>
            <a:off x="714375" y="5772150"/>
            <a:ext cx="1066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Пересечение P и R не задаёт порог. 0,65: предупреждения в 65–66% дней; 0,70: в 50–52%. Оба выполняют ТЗ, но 0,70 снижает нагрузку при запасе по Recall.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7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СХОДИМОСТЬ МОДЕЛЕЙ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5388" y="1466850"/>
            <a:ext cx="10241223" cy="3790950"/>
          </a:xfrm>
          <a:prstGeom prst="rect">
            <a:avLst/>
          </a:prstGeom>
        </p:spPr>
      </p:pic>
      <p:sp>
        <p:nvSpPr>
          <p:cNvPr id="1490349568" name="Прямоугольник 1490349567">
            <a:extLst>
              <a:ext uri="{FF2B5EF4-FFF2-40B4-BE49-F238E27FC236}">
                <a16:creationId xmlns:a16="http://schemas.microsoft.com/office/drawing/2014/main" id="{987CBEA8-DAC1-4DF0-A3F2-471A9312963B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7061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первые шаги ошибка быстро падает, затем обе линии почти выравниваются: оптимизация сошлась. Ошибка на валидации не растёт —переобучения нет. График продлён в диагностическом запуске; финальные модели вышли на плато на 19/22 итерациях.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006135871" name="Номер слайда 20">
            <a:extLst>
              <a:ext uri="{FF2B5EF4-FFF2-40B4-BE49-F238E27FC236}">
                <a16:creationId xmlns:a16="http://schemas.microsoft.com/office/drawing/2014/main" id="{13F4C8D9-EEE4-4427-B64D-98F28E5992EB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ROC / AUC НА БУДУЩИХ ДАТАХ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2559" y="1438275"/>
            <a:ext cx="10246881" cy="3790950"/>
          </a:xfrm>
          <a:prstGeom prst="rect">
            <a:avLst/>
          </a:prstGeom>
        </p:spPr>
      </p:pic>
      <p:sp>
        <p:nvSpPr>
          <p:cNvPr id="1490349568" name="Прямоугольник 1490349567">
            <a:extLst>
              <a:ext uri="{FF2B5EF4-FFF2-40B4-BE49-F238E27FC236}">
                <a16:creationId xmlns:a16="http://schemas.microsoft.com/office/drawing/2014/main" id="{027F006D-1128-4AD2-9A3C-F205C885B639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7061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ROC показывает, как меняются найденные неисправности и ложные тревоги при разных порогах. AUC — площадь под кривой: 0,5 означает случайный выбор, 1,0 — идеальный. Наши кривые выше диагонали (AUC 0,62–0,67), а при пороге 0,70 обе модели выполняют требования ТЗ по точности и полноте.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PRECISION И RECALL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5388" y="1466850"/>
            <a:ext cx="10241223" cy="3790950"/>
          </a:xfrm>
          <a:prstGeom prst="rect">
            <a:avLst/>
          </a:prstGeom>
        </p:spPr>
      </p:pic>
      <p:sp>
        <p:nvSpPr>
          <p:cNvPr id="1490349587" name="Прямоугольник 1490349586">
            <a:extLst>
              <a:ext uri="{FF2B5EF4-FFF2-40B4-BE49-F238E27FC236}">
                <a16:creationId xmlns:a16="http://schemas.microsoft.com/office/drawing/2014/main" id="{54FFA09A-2D6A-487C-AC9D-B2C02FA54C3C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46291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88" name="Прямоугольник 1490349587">
            <a:extLst>
              <a:ext uri="{FF2B5EF4-FFF2-40B4-BE49-F238E27FC236}">
                <a16:creationId xmlns:a16="http://schemas.microsoft.com/office/drawing/2014/main" id="{367905D8-3CFF-450B-A0C3-AD8FCEB853A2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3314700" cy="3686175"/>
          </a:xfrm>
          <a:prstGeom prst="rect">
            <a:avLst/>
          </a:prstGeom>
          <a:solidFill>
            <a:srgbClr val="F8EF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89" name="Прямоугольник 1490349588">
            <a:extLst>
              <a:ext uri="{FF2B5EF4-FFF2-40B4-BE49-F238E27FC236}">
                <a16:creationId xmlns:a16="http://schemas.microsoft.com/office/drawing/2014/main" id="{CB40EDC9-84A2-440F-8EC6-636CDF9D544E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90" name="Прямоугольник 1490349589">
            <a:extLst>
              <a:ext uri="{FF2B5EF4-FFF2-40B4-BE49-F238E27FC236}">
                <a16:creationId xmlns:a16="http://schemas.microsoft.com/office/drawing/2014/main" id="{63A5F4DD-28D5-420E-9470-F382F5132E9E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490349591" name="Прямоугольник 1490349590">
            <a:extLst>
              <a:ext uri="{FF2B5EF4-FFF2-40B4-BE49-F238E27FC236}">
                <a16:creationId xmlns:a16="http://schemas.microsoft.com/office/drawing/2014/main" id="{49EF798B-DE77-48B0-BBCC-86ED0DF0EEA8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2933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Что предсказываем</a:t>
            </a:r>
          </a:p>
        </p:txBody>
      </p:sp>
      <p:sp>
        <p:nvSpPr>
          <p:cNvPr id="1490349592" name="Прямоугольник 1490349591">
            <a:extLst>
              <a:ext uri="{FF2B5EF4-FFF2-40B4-BE49-F238E27FC236}">
                <a16:creationId xmlns:a16="http://schemas.microsoft.com/office/drawing/2014/main" id="{B9BB4709-BD22-44C9-BEAF-DE89F49C0698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2895600" cy="1628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Риск повторного тревожного «Неисправен» у конкретного датчика через 1–30 дней.</a:t>
            </a:r>
          </a:p>
        </p:txBody>
      </p:sp>
      <p:sp>
        <p:nvSpPr>
          <p:cNvPr id="1490349593" name="Прямоугольник 1490349592">
            <a:extLst>
              <a:ext uri="{FF2B5EF4-FFF2-40B4-BE49-F238E27FC236}">
                <a16:creationId xmlns:a16="http://schemas.microsoft.com/office/drawing/2014/main" id="{7D9F088E-03CA-46E3-9929-7BCBACF719F0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3314700" cy="3686175"/>
          </a:xfrm>
          <a:prstGeom prst="rect">
            <a:avLst/>
          </a:prstGeom>
          <a:solidFill>
            <a:srgbClr val="EEF6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94" name="Прямоугольник 1490349593">
            <a:extLst>
              <a:ext uri="{FF2B5EF4-FFF2-40B4-BE49-F238E27FC236}">
                <a16:creationId xmlns:a16="http://schemas.microsoft.com/office/drawing/2014/main" id="{C658968E-43BC-4D6D-90FB-D4E77E714B9C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95" name="Прямоугольник 1490349594">
            <a:extLst>
              <a:ext uri="{FF2B5EF4-FFF2-40B4-BE49-F238E27FC236}">
                <a16:creationId xmlns:a16="http://schemas.microsoft.com/office/drawing/2014/main" id="{099D5063-1676-4FA8-8807-B3CCCCB4B5FE}"/>
              </a:ext>
            </a:extLst>
          </p:cNvPr>
          <p:cNvSpPr>
            <a:spLocks noGrp="1"/>
          </p:cNvSpPr>
          <p:nvPr/>
        </p:nvSpPr>
        <p:spPr>
          <a:xfrm>
            <a:off x="4648200" y="205740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90349596" name="Прямоугольник 1490349595">
            <a:extLst>
              <a:ext uri="{FF2B5EF4-FFF2-40B4-BE49-F238E27FC236}">
                <a16:creationId xmlns:a16="http://schemas.microsoft.com/office/drawing/2014/main" id="{DBED9D20-0479-4612-AA35-D08CA3CE8637}"/>
              </a:ext>
            </a:extLst>
          </p:cNvPr>
          <p:cNvSpPr>
            <a:spLocks noGrp="1"/>
          </p:cNvSpPr>
          <p:nvPr/>
        </p:nvSpPr>
        <p:spPr>
          <a:xfrm>
            <a:off x="4648200" y="2628900"/>
            <a:ext cx="2933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 делили данные</a:t>
            </a:r>
          </a:p>
        </p:txBody>
      </p:sp>
      <p:sp>
        <p:nvSpPr>
          <p:cNvPr id="1490349597" name="Прямоугольник 1490349596">
            <a:extLst>
              <a:ext uri="{FF2B5EF4-FFF2-40B4-BE49-F238E27FC236}">
                <a16:creationId xmlns:a16="http://schemas.microsoft.com/office/drawing/2014/main" id="{97D7BB57-B99F-4F0C-B2ED-EABEBE9B7390}"/>
              </a:ext>
            </a:extLst>
          </p:cNvPr>
          <p:cNvSpPr>
            <a:spLocks noGrp="1"/>
          </p:cNvSpPr>
          <p:nvPr/>
        </p:nvSpPr>
        <p:spPr>
          <a:xfrm>
            <a:off x="4648200" y="3467100"/>
            <a:ext cx="2895600" cy="1628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Обучение: 2019 – май 2025.</a:t>
            </a:r>
          </a:p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Настройка: июль – ноябрь 2025.</a:t>
            </a:r>
          </a:p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Проверка: январь – май 2026.</a:t>
            </a:r>
          </a:p>
        </p:txBody>
      </p:sp>
      <p:sp>
        <p:nvSpPr>
          <p:cNvPr id="1490349598" name="Прямоугольник 1490349597">
            <a:extLst>
              <a:ext uri="{FF2B5EF4-FFF2-40B4-BE49-F238E27FC236}">
                <a16:creationId xmlns:a16="http://schemas.microsoft.com/office/drawing/2014/main" id="{58DB02A8-2F27-4CC0-9374-B79E1300350C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3314700" cy="3686175"/>
          </a:xfrm>
          <a:prstGeom prst="rect">
            <a:avLst/>
          </a:prstGeom>
          <a:solidFill>
            <a:srgbClr val="E7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599" name="Прямоугольник 1490349598">
            <a:extLst>
              <a:ext uri="{FF2B5EF4-FFF2-40B4-BE49-F238E27FC236}">
                <a16:creationId xmlns:a16="http://schemas.microsoft.com/office/drawing/2014/main" id="{D0F5CA47-A254-43AC-AAA0-272FCAC2F2DB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3314700" cy="762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00" name="Прямоугольник 1490349599">
            <a:extLst>
              <a:ext uri="{FF2B5EF4-FFF2-40B4-BE49-F238E27FC236}">
                <a16:creationId xmlns:a16="http://schemas.microsoft.com/office/drawing/2014/main" id="{EE27A53E-61E4-40BA-B041-7BAEF604512D}"/>
              </a:ext>
            </a:extLst>
          </p:cNvPr>
          <p:cNvSpPr>
            <a:spLocks noGrp="1"/>
          </p:cNvSpPr>
          <p:nvPr/>
        </p:nvSpPr>
        <p:spPr>
          <a:xfrm>
            <a:off x="8343900" y="205740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90349601" name="Прямоугольник 1490349600">
            <a:extLst>
              <a:ext uri="{FF2B5EF4-FFF2-40B4-BE49-F238E27FC236}">
                <a16:creationId xmlns:a16="http://schemas.microsoft.com/office/drawing/2014/main" id="{7ED41EA0-DE4A-4220-BEC7-068FA7131565}"/>
              </a:ext>
            </a:extLst>
          </p:cNvPr>
          <p:cNvSpPr>
            <a:spLocks noGrp="1"/>
          </p:cNvSpPr>
          <p:nvPr/>
        </p:nvSpPr>
        <p:spPr>
          <a:xfrm>
            <a:off x="8343900" y="2628900"/>
            <a:ext cx="2933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Какие модели</a:t>
            </a:r>
          </a:p>
        </p:txBody>
      </p:sp>
      <p:sp>
        <p:nvSpPr>
          <p:cNvPr id="1490349602" name="Прямоугольник 1490349601">
            <a:extLst>
              <a:ext uri="{FF2B5EF4-FFF2-40B4-BE49-F238E27FC236}">
                <a16:creationId xmlns:a16="http://schemas.microsoft.com/office/drawing/2014/main" id="{4A1A8EEC-FA5F-4C92-882F-EF4879E4BFEF}"/>
              </a:ext>
            </a:extLst>
          </p:cNvPr>
          <p:cNvSpPr>
            <a:spLocks noGrp="1"/>
          </p:cNvSpPr>
          <p:nvPr/>
        </p:nvSpPr>
        <p:spPr>
          <a:xfrm>
            <a:off x="8343900" y="3467100"/>
            <a:ext cx="2895600" cy="1628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Две логистические регрессии: отдельно для насосов и вентиляции. Каждая использует 13 признаков из истории датчика.</a:t>
            </a:r>
          </a:p>
        </p:txBody>
      </p:sp>
      <p:sp>
        <p:nvSpPr>
          <p:cNvPr id="1490349604" name="Прямоугольник 1490349603">
            <a:extLst>
              <a:ext uri="{FF2B5EF4-FFF2-40B4-BE49-F238E27FC236}">
                <a16:creationId xmlns:a16="http://schemas.microsoft.com/office/drawing/2014/main" id="{84493D01-72A9-4637-9BF4-40133F9078E7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46291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05" name="Прямоугольник 1490349604">
            <a:extLst>
              <a:ext uri="{FF2B5EF4-FFF2-40B4-BE49-F238E27FC236}">
                <a16:creationId xmlns:a16="http://schemas.microsoft.com/office/drawing/2014/main" id="{83D8D4F6-D78A-4139-AD4A-981B2542FF49}"/>
              </a:ext>
            </a:extLst>
          </p:cNvPr>
          <p:cNvSpPr>
            <a:spLocks noGrp="1"/>
          </p:cNvSpPr>
          <p:nvPr/>
        </p:nvSpPr>
        <p:spPr>
          <a:xfrm>
            <a:off x="742950" y="1609725"/>
            <a:ext cx="106680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Поздний временной тест: январь–май 2026 · порог риска 0,70</a:t>
            </a:r>
          </a:p>
        </p:txBody>
      </p:sp>
      <p:sp>
        <p:nvSpPr>
          <p:cNvPr id="1490349606" name="Прямоугольник 1490349605">
            <a:extLst>
              <a:ext uri="{FF2B5EF4-FFF2-40B4-BE49-F238E27FC236}">
                <a16:creationId xmlns:a16="http://schemas.microsoft.com/office/drawing/2014/main" id="{16627DC5-F552-4F5D-88C5-5E2BF78AAC72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1066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Precision — доля верных предупреждений. Recall — доля найденных будущих тревог.</a:t>
            </a:r>
          </a:p>
        </p:txBody>
      </p:sp>
      <p:sp>
        <p:nvSpPr>
          <p:cNvPr id="1490349607" name="Прямоугольник 1490349606">
            <a:extLst>
              <a:ext uri="{FF2B5EF4-FFF2-40B4-BE49-F238E27FC236}">
                <a16:creationId xmlns:a16="http://schemas.microsoft.com/office/drawing/2014/main" id="{C1771C0D-9E64-4E29-B0CF-777EDE8F8402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5143500" cy="2857500"/>
          </a:xfrm>
          <a:prstGeom prst="rect">
            <a:avLst/>
          </a:prstGeom>
          <a:solidFill>
            <a:srgbClr val="F8EF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08" name="Прямоугольник 1490349607">
            <a:extLst>
              <a:ext uri="{FF2B5EF4-FFF2-40B4-BE49-F238E27FC236}">
                <a16:creationId xmlns:a16="http://schemas.microsoft.com/office/drawing/2014/main" id="{15E3A72C-7ABD-439C-900C-004FAB6A70C9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5143500" cy="66675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09" name="Прямоугольник 1490349608">
            <a:extLst>
              <a:ext uri="{FF2B5EF4-FFF2-40B4-BE49-F238E27FC236}">
                <a16:creationId xmlns:a16="http://schemas.microsoft.com/office/drawing/2014/main" id="{EDF0A943-B6DE-44D2-B9F6-C2302E6EC442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667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Вентиляторы</a:t>
            </a:r>
          </a:p>
        </p:txBody>
      </p:sp>
      <p:sp>
        <p:nvSpPr>
          <p:cNvPr id="1490349610" name="Прямоугольник 1490349609">
            <a:extLst>
              <a:ext uri="{FF2B5EF4-FFF2-40B4-BE49-F238E27FC236}">
                <a16:creationId xmlns:a16="http://schemas.microsoft.com/office/drawing/2014/main" id="{D01ED94B-E905-41D0-B6D9-8C021099C8D1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24288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PRECISION</a:t>
            </a:r>
          </a:p>
        </p:txBody>
      </p:sp>
      <p:sp>
        <p:nvSpPr>
          <p:cNvPr id="1490349611" name="Прямоугольник 1490349610">
            <a:extLst>
              <a:ext uri="{FF2B5EF4-FFF2-40B4-BE49-F238E27FC236}">
                <a16:creationId xmlns:a16="http://schemas.microsoft.com/office/drawing/2014/main" id="{F30192DF-82C9-4418-BA91-63E1B294857D}"/>
              </a:ext>
            </a:extLst>
          </p:cNvPr>
          <p:cNvSpPr>
            <a:spLocks noGrp="1"/>
          </p:cNvSpPr>
          <p:nvPr/>
        </p:nvSpPr>
        <p:spPr>
          <a:xfrm>
            <a:off x="4257675" y="2981325"/>
            <a:ext cx="14097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85,4%</a:t>
            </a:r>
          </a:p>
        </p:txBody>
      </p:sp>
      <p:sp>
        <p:nvSpPr>
          <p:cNvPr id="1490349612" name="Прямоугольник 1490349611">
            <a:extLst>
              <a:ext uri="{FF2B5EF4-FFF2-40B4-BE49-F238E27FC236}">
                <a16:creationId xmlns:a16="http://schemas.microsoft.com/office/drawing/2014/main" id="{741170EE-2F6C-470E-8034-008F0A55C867}"/>
              </a:ext>
            </a:extLst>
          </p:cNvPr>
          <p:cNvSpPr>
            <a:spLocks noGrp="1"/>
          </p:cNvSpPr>
          <p:nvPr/>
        </p:nvSpPr>
        <p:spPr>
          <a:xfrm>
            <a:off x="952500" y="3495675"/>
            <a:ext cx="4533900" cy="152400"/>
          </a:xfrm>
          <a:prstGeom prst="rect">
            <a:avLst/>
          </a:prstGeom>
          <a:solidFill>
            <a:srgbClr val="E4E4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3" name="Прямоугольник 1490349612">
            <a:extLst>
              <a:ext uri="{FF2B5EF4-FFF2-40B4-BE49-F238E27FC236}">
                <a16:creationId xmlns:a16="http://schemas.microsoft.com/office/drawing/2014/main" id="{6841D97D-37B4-4C3E-BF13-AB503CAADE5C}"/>
              </a:ext>
            </a:extLst>
          </p:cNvPr>
          <p:cNvSpPr>
            <a:spLocks noGrp="1"/>
          </p:cNvSpPr>
          <p:nvPr/>
        </p:nvSpPr>
        <p:spPr>
          <a:xfrm>
            <a:off x="952500" y="3495675"/>
            <a:ext cx="3871099" cy="1524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4" name="Прямоугольник 1490349613">
            <a:extLst>
              <a:ext uri="{FF2B5EF4-FFF2-40B4-BE49-F238E27FC236}">
                <a16:creationId xmlns:a16="http://schemas.microsoft.com/office/drawing/2014/main" id="{1779D271-79F5-4B65-BA6B-E6887098B8F3}"/>
              </a:ext>
            </a:extLst>
          </p:cNvPr>
          <p:cNvSpPr>
            <a:spLocks noGrp="1"/>
          </p:cNvSpPr>
          <p:nvPr/>
        </p:nvSpPr>
        <p:spPr>
          <a:xfrm>
            <a:off x="4107180" y="3448050"/>
            <a:ext cx="38100" cy="247650"/>
          </a:xfrm>
          <a:prstGeom prst="rect">
            <a:avLst/>
          </a:prstGeom>
          <a:solidFill>
            <a:srgbClr val="520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5" name="Прямоугольник 1490349614">
            <a:extLst>
              <a:ext uri="{FF2B5EF4-FFF2-40B4-BE49-F238E27FC236}">
                <a16:creationId xmlns:a16="http://schemas.microsoft.com/office/drawing/2014/main" id="{DE8D9F1C-2BC6-4841-BCD3-6407C37768DE}"/>
              </a:ext>
            </a:extLst>
          </p:cNvPr>
          <p:cNvSpPr>
            <a:spLocks noGrp="1"/>
          </p:cNvSpPr>
          <p:nvPr/>
        </p:nvSpPr>
        <p:spPr>
          <a:xfrm>
            <a:off x="952500" y="3952875"/>
            <a:ext cx="24288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RECALL</a:t>
            </a:r>
          </a:p>
        </p:txBody>
      </p:sp>
      <p:sp>
        <p:nvSpPr>
          <p:cNvPr id="1490349616" name="Прямоугольник 1490349615">
            <a:extLst>
              <a:ext uri="{FF2B5EF4-FFF2-40B4-BE49-F238E27FC236}">
                <a16:creationId xmlns:a16="http://schemas.microsoft.com/office/drawing/2014/main" id="{81477CF5-BE48-4B57-8A48-71E4EC3F7FD7}"/>
              </a:ext>
            </a:extLst>
          </p:cNvPr>
          <p:cNvSpPr>
            <a:spLocks noGrp="1"/>
          </p:cNvSpPr>
          <p:nvPr/>
        </p:nvSpPr>
        <p:spPr>
          <a:xfrm>
            <a:off x="4257675" y="3867150"/>
            <a:ext cx="14097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087F70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087F70"/>
                </a:solidFill>
                <a:latin typeface="Montserrat"/>
                <a:ea typeface="Montserrat"/>
                <a:cs typeface="Montserrat"/>
              </a:rPr>
              <a:t>59,1%</a:t>
            </a:r>
          </a:p>
        </p:txBody>
      </p:sp>
      <p:sp>
        <p:nvSpPr>
          <p:cNvPr id="1490349617" name="Прямоугольник 1490349616">
            <a:extLst>
              <a:ext uri="{FF2B5EF4-FFF2-40B4-BE49-F238E27FC236}">
                <a16:creationId xmlns:a16="http://schemas.microsoft.com/office/drawing/2014/main" id="{FAA0AE8C-1C92-4FA1-B8A1-AD784EE0565F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33900" cy="152400"/>
          </a:xfrm>
          <a:prstGeom prst="rect">
            <a:avLst/>
          </a:prstGeom>
          <a:solidFill>
            <a:srgbClr val="E4E4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8" name="Прямоугольник 1490349617">
            <a:extLst>
              <a:ext uri="{FF2B5EF4-FFF2-40B4-BE49-F238E27FC236}">
                <a16:creationId xmlns:a16="http://schemas.microsoft.com/office/drawing/2014/main" id="{EF35CF47-FFBD-4FF2-B987-52C550FC587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2679009" cy="152400"/>
          </a:xfrm>
          <a:prstGeom prst="rect">
            <a:avLst/>
          </a:prstGeom>
          <a:solidFill>
            <a:srgbClr val="087F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19" name="Прямоугольник 1490349618">
            <a:extLst>
              <a:ext uri="{FF2B5EF4-FFF2-40B4-BE49-F238E27FC236}">
                <a16:creationId xmlns:a16="http://schemas.microsoft.com/office/drawing/2014/main" id="{961E93A8-AD10-4177-957D-652D50E142CD}"/>
              </a:ext>
            </a:extLst>
          </p:cNvPr>
          <p:cNvSpPr>
            <a:spLocks noGrp="1"/>
          </p:cNvSpPr>
          <p:nvPr/>
        </p:nvSpPr>
        <p:spPr>
          <a:xfrm>
            <a:off x="3200400" y="4333875"/>
            <a:ext cx="38100" cy="247650"/>
          </a:xfrm>
          <a:prstGeom prst="rect">
            <a:avLst/>
          </a:prstGeom>
          <a:solidFill>
            <a:srgbClr val="520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20" name="Прямоугольник 1490349619">
            <a:extLst>
              <a:ext uri="{FF2B5EF4-FFF2-40B4-BE49-F238E27FC236}">
                <a16:creationId xmlns:a16="http://schemas.microsoft.com/office/drawing/2014/main" id="{12E59C0F-873D-43FF-88B2-9DFEAC1A31AB}"/>
              </a:ext>
            </a:extLst>
          </p:cNvPr>
          <p:cNvSpPr>
            <a:spLocks noGrp="1"/>
          </p:cNvSpPr>
          <p:nvPr/>
        </p:nvSpPr>
        <p:spPr>
          <a:xfrm>
            <a:off x="6305550" y="2390775"/>
            <a:ext cx="5143500" cy="2857500"/>
          </a:xfrm>
          <a:prstGeom prst="rect">
            <a:avLst/>
          </a:prstGeom>
          <a:solidFill>
            <a:srgbClr val="EEF6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21" name="Прямоугольник 1490349620">
            <a:extLst>
              <a:ext uri="{FF2B5EF4-FFF2-40B4-BE49-F238E27FC236}">
                <a16:creationId xmlns:a16="http://schemas.microsoft.com/office/drawing/2014/main" id="{5E0F8292-F61D-4D65-B772-6184D24C5CAC}"/>
              </a:ext>
            </a:extLst>
          </p:cNvPr>
          <p:cNvSpPr>
            <a:spLocks noGrp="1"/>
          </p:cNvSpPr>
          <p:nvPr/>
        </p:nvSpPr>
        <p:spPr>
          <a:xfrm>
            <a:off x="6305550" y="2390775"/>
            <a:ext cx="5143500" cy="66675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22" name="Прямоугольник 1490349621">
            <a:extLst>
              <a:ext uri="{FF2B5EF4-FFF2-40B4-BE49-F238E27FC236}">
                <a16:creationId xmlns:a16="http://schemas.microsoft.com/office/drawing/2014/main" id="{F09BAE24-E4AB-44A0-AEF0-1F97A077D520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667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Насосы</a:t>
            </a:r>
          </a:p>
        </p:txBody>
      </p:sp>
      <p:sp>
        <p:nvSpPr>
          <p:cNvPr id="1490349623" name="Прямоугольник 1490349622">
            <a:extLst>
              <a:ext uri="{FF2B5EF4-FFF2-40B4-BE49-F238E27FC236}">
                <a16:creationId xmlns:a16="http://schemas.microsoft.com/office/drawing/2014/main" id="{66086E0D-6CA4-4011-80D6-32529849C691}"/>
              </a:ext>
            </a:extLst>
          </p:cNvPr>
          <p:cNvSpPr>
            <a:spLocks noGrp="1"/>
          </p:cNvSpPr>
          <p:nvPr/>
        </p:nvSpPr>
        <p:spPr>
          <a:xfrm>
            <a:off x="6515100" y="3067050"/>
            <a:ext cx="24288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PRECISION</a:t>
            </a:r>
          </a:p>
        </p:txBody>
      </p:sp>
      <p:sp>
        <p:nvSpPr>
          <p:cNvPr id="1490349624" name="Прямоугольник 1490349623">
            <a:extLst>
              <a:ext uri="{FF2B5EF4-FFF2-40B4-BE49-F238E27FC236}">
                <a16:creationId xmlns:a16="http://schemas.microsoft.com/office/drawing/2014/main" id="{D59BF2C4-90E9-45B1-8B4F-DCE4BA879055}"/>
              </a:ext>
            </a:extLst>
          </p:cNvPr>
          <p:cNvSpPr>
            <a:spLocks noGrp="1"/>
          </p:cNvSpPr>
          <p:nvPr/>
        </p:nvSpPr>
        <p:spPr>
          <a:xfrm>
            <a:off x="9820275" y="2981325"/>
            <a:ext cx="14097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85,0%</a:t>
            </a:r>
          </a:p>
        </p:txBody>
      </p:sp>
      <p:sp>
        <p:nvSpPr>
          <p:cNvPr id="1490349625" name="Прямоугольник 1490349624">
            <a:extLst>
              <a:ext uri="{FF2B5EF4-FFF2-40B4-BE49-F238E27FC236}">
                <a16:creationId xmlns:a16="http://schemas.microsoft.com/office/drawing/2014/main" id="{6142DABF-D617-4CB2-AF5B-8D3A8DD6F0DB}"/>
              </a:ext>
            </a:extLst>
          </p:cNvPr>
          <p:cNvSpPr>
            <a:spLocks noGrp="1"/>
          </p:cNvSpPr>
          <p:nvPr/>
        </p:nvSpPr>
        <p:spPr>
          <a:xfrm>
            <a:off x="6515100" y="3495675"/>
            <a:ext cx="4533900" cy="152400"/>
          </a:xfrm>
          <a:prstGeom prst="rect">
            <a:avLst/>
          </a:prstGeom>
          <a:solidFill>
            <a:srgbClr val="E4E4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26" name="Прямоугольник 1490349625">
            <a:extLst>
              <a:ext uri="{FF2B5EF4-FFF2-40B4-BE49-F238E27FC236}">
                <a16:creationId xmlns:a16="http://schemas.microsoft.com/office/drawing/2014/main" id="{911EAD14-D4A0-4A5E-A097-051957DBD8FE}"/>
              </a:ext>
            </a:extLst>
          </p:cNvPr>
          <p:cNvSpPr>
            <a:spLocks noGrp="1"/>
          </p:cNvSpPr>
          <p:nvPr/>
        </p:nvSpPr>
        <p:spPr>
          <a:xfrm>
            <a:off x="6515100" y="3495675"/>
            <a:ext cx="3854112" cy="152400"/>
          </a:xfrm>
          <a:prstGeom prst="rect">
            <a:avLst/>
          </a:prstGeom>
          <a:solidFill>
            <a:srgbClr val="FF0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27" name="Прямоугольник 1490349626">
            <a:extLst>
              <a:ext uri="{FF2B5EF4-FFF2-40B4-BE49-F238E27FC236}">
                <a16:creationId xmlns:a16="http://schemas.microsoft.com/office/drawing/2014/main" id="{C5617169-E20F-4F10-B880-9E4E0EC9383B}"/>
              </a:ext>
            </a:extLst>
          </p:cNvPr>
          <p:cNvSpPr>
            <a:spLocks noGrp="1"/>
          </p:cNvSpPr>
          <p:nvPr/>
        </p:nvSpPr>
        <p:spPr>
          <a:xfrm>
            <a:off x="9669780" y="3448050"/>
            <a:ext cx="38100" cy="247650"/>
          </a:xfrm>
          <a:prstGeom prst="rect">
            <a:avLst/>
          </a:prstGeom>
          <a:solidFill>
            <a:srgbClr val="520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28" name="Прямоугольник 1490349627">
            <a:extLst>
              <a:ext uri="{FF2B5EF4-FFF2-40B4-BE49-F238E27FC236}">
                <a16:creationId xmlns:a16="http://schemas.microsoft.com/office/drawing/2014/main" id="{F1376C95-2159-46AF-9A60-6E8A9C68D80B}"/>
              </a:ext>
            </a:extLst>
          </p:cNvPr>
          <p:cNvSpPr>
            <a:spLocks noGrp="1"/>
          </p:cNvSpPr>
          <p:nvPr/>
        </p:nvSpPr>
        <p:spPr>
          <a:xfrm>
            <a:off x="6515100" y="3952875"/>
            <a:ext cx="24288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RECALL</a:t>
            </a:r>
          </a:p>
        </p:txBody>
      </p:sp>
      <p:sp>
        <p:nvSpPr>
          <p:cNvPr id="1490349629" name="Прямоугольник 1490349628">
            <a:extLst>
              <a:ext uri="{FF2B5EF4-FFF2-40B4-BE49-F238E27FC236}">
                <a16:creationId xmlns:a16="http://schemas.microsoft.com/office/drawing/2014/main" id="{58A50045-67CA-4E46-BD01-DC668C93CA21}"/>
              </a:ext>
            </a:extLst>
          </p:cNvPr>
          <p:cNvSpPr>
            <a:spLocks noGrp="1"/>
          </p:cNvSpPr>
          <p:nvPr/>
        </p:nvSpPr>
        <p:spPr>
          <a:xfrm>
            <a:off x="9820275" y="3867150"/>
            <a:ext cx="14097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087F70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087F70"/>
                </a:solidFill>
                <a:latin typeface="Montserrat"/>
                <a:ea typeface="Montserrat"/>
                <a:cs typeface="Montserrat"/>
              </a:rPr>
              <a:t>65,7%</a:t>
            </a:r>
          </a:p>
        </p:txBody>
      </p:sp>
      <p:sp>
        <p:nvSpPr>
          <p:cNvPr id="1490349630" name="Прямоугольник 1490349629">
            <a:extLst>
              <a:ext uri="{FF2B5EF4-FFF2-40B4-BE49-F238E27FC236}">
                <a16:creationId xmlns:a16="http://schemas.microsoft.com/office/drawing/2014/main" id="{CFDB83D3-B104-4D84-AFAA-4FE0EBD1E4E2}"/>
              </a:ext>
            </a:extLst>
          </p:cNvPr>
          <p:cNvSpPr>
            <a:spLocks noGrp="1"/>
          </p:cNvSpPr>
          <p:nvPr/>
        </p:nvSpPr>
        <p:spPr>
          <a:xfrm>
            <a:off x="6515100" y="4381500"/>
            <a:ext cx="4533900" cy="152400"/>
          </a:xfrm>
          <a:prstGeom prst="rect">
            <a:avLst/>
          </a:prstGeom>
          <a:solidFill>
            <a:srgbClr val="E4E4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31" name="Прямоугольник 1490349630">
            <a:extLst>
              <a:ext uri="{FF2B5EF4-FFF2-40B4-BE49-F238E27FC236}">
                <a16:creationId xmlns:a16="http://schemas.microsoft.com/office/drawing/2014/main" id="{CCCF2B8A-036D-49BF-ACF3-B7A380B86A19}"/>
              </a:ext>
            </a:extLst>
          </p:cNvPr>
          <p:cNvSpPr>
            <a:spLocks noGrp="1"/>
          </p:cNvSpPr>
          <p:nvPr/>
        </p:nvSpPr>
        <p:spPr>
          <a:xfrm>
            <a:off x="6515100" y="4381500"/>
            <a:ext cx="2976706" cy="152400"/>
          </a:xfrm>
          <a:prstGeom prst="rect">
            <a:avLst/>
          </a:prstGeom>
          <a:solidFill>
            <a:srgbClr val="087F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32" name="Прямоугольник 1490349631">
            <a:extLst>
              <a:ext uri="{FF2B5EF4-FFF2-40B4-BE49-F238E27FC236}">
                <a16:creationId xmlns:a16="http://schemas.microsoft.com/office/drawing/2014/main" id="{FAA2EBCD-2FC9-4E35-9260-1E773869ED30}"/>
              </a:ext>
            </a:extLst>
          </p:cNvPr>
          <p:cNvSpPr>
            <a:spLocks noGrp="1"/>
          </p:cNvSpPr>
          <p:nvPr/>
        </p:nvSpPr>
        <p:spPr>
          <a:xfrm>
            <a:off x="8763000" y="4333875"/>
            <a:ext cx="38100" cy="247650"/>
          </a:xfrm>
          <a:prstGeom prst="rect">
            <a:avLst/>
          </a:prstGeom>
          <a:solidFill>
            <a:srgbClr val="520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33" name="Прямоугольник 1490349632">
            <a:extLst>
              <a:ext uri="{FF2B5EF4-FFF2-40B4-BE49-F238E27FC236}">
                <a16:creationId xmlns:a16="http://schemas.microsoft.com/office/drawing/2014/main" id="{07CFE31E-8AB9-49E2-9AE4-F6C5141B8D53}"/>
              </a:ext>
            </a:extLst>
          </p:cNvPr>
          <p:cNvSpPr>
            <a:spLocks noGrp="1"/>
          </p:cNvSpPr>
          <p:nvPr/>
        </p:nvSpPr>
        <p:spPr>
          <a:xfrm>
            <a:off x="742950" y="5486400"/>
            <a:ext cx="10706100" cy="476250"/>
          </a:xfrm>
          <a:prstGeom prst="rect">
            <a:avLst/>
          </a:prstGeom>
          <a:solidFill>
            <a:srgbClr val="E7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0349634" name="Прямоугольник 1490349633">
            <a:extLst>
              <a:ext uri="{FF2B5EF4-FFF2-40B4-BE49-F238E27FC236}">
                <a16:creationId xmlns:a16="http://schemas.microsoft.com/office/drawing/2014/main" id="{E181BCDC-3238-4AC7-8A46-60DEDC66B6D8}"/>
              </a:ext>
            </a:extLst>
          </p:cNvPr>
          <p:cNvSpPr>
            <a:spLocks noGrp="1"/>
          </p:cNvSpPr>
          <p:nvPr/>
        </p:nvSpPr>
        <p:spPr>
          <a:xfrm>
            <a:off x="923925" y="5581650"/>
            <a:ext cx="103536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Обе модели выполняют ТЗ: Precision &gt; 70% и Recall &gt; 50%.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84455" name="Скругленный прямоугольник 3">
            <a:extLst>
              <a:ext uri="{FF2B5EF4-FFF2-40B4-BE49-F238E27FC236}">
                <a16:creationId xmlns:a16="http://schemas.microsoft.com/office/drawing/2014/main" id="{C5E51E25-2C22-489B-83C5-23C0DAAEB84A}"/>
              </a:ext>
            </a:extLst>
          </p:cNvPr>
          <p:cNvSpPr>
            <a:spLocks noGrp="1"/>
          </p:cNvSpPr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  <a:prstDash val="soli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926806100" name="Объект 2">
            <a:extLst>
              <a:ext uri="{FF2B5EF4-FFF2-40B4-BE49-F238E27FC236}">
                <a16:creationId xmlns:a16="http://schemas.microsoft.com/office/drawing/2014/main" id="{221FB9FD-D1FF-4019-92C4-53993DACC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006135871" name="Номер слайда 20">
            <a:extLst>
              <a:ext uri="{FF2B5EF4-FFF2-40B4-BE49-F238E27FC236}">
                <a16:creationId xmlns:a16="http://schemas.microsoft.com/office/drawing/2014/main" id="{13F4C8D9-EEE4-4427-B64D-98F28E5992EB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490349566" name="Заголовок 1">
            <a:extLst>
              <a:ext uri="{FF2B5EF4-FFF2-40B4-BE49-F238E27FC236}">
                <a16:creationId xmlns:a16="http://schemas.microsoft.com/office/drawing/2014/main" id="{52612832-F7E5-44F4-B1DC-CBCADDA5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>
              <a:buNone/>
            </a:pPr>
            <a:r>
              <a:rPr sz="27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ВЛИЯЕТ НА РИСК</a:t>
            </a:r>
          </a:p>
        </p:txBody>
      </p:sp>
      <p:pic>
        <p:nvPicPr>
          <p:cNvPr id="1490349567" name="Рисунок 14903495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1667050"/>
            <a:ext cx="10744200" cy="3523900"/>
          </a:xfrm>
          <a:prstGeom prst="rect">
            <a:avLst/>
          </a:prstGeom>
        </p:spPr>
      </p:pic>
      <p:sp>
        <p:nvSpPr>
          <p:cNvPr id="1490349568" name="Прямоугольник 1490349567">
            <a:extLst>
              <a:ext uri="{FF2B5EF4-FFF2-40B4-BE49-F238E27FC236}">
                <a16:creationId xmlns:a16="http://schemas.microsoft.com/office/drawing/2014/main" id="{9594D0D9-8CAC-4006-9E0A-5D76C71E3202}"/>
              </a:ext>
            </a:extLst>
          </p:cNvPr>
          <p:cNvSpPr>
            <a:spLocks noGrp="1"/>
          </p:cNvSpPr>
          <p:nvPr/>
        </p:nvSpPr>
        <p:spPr>
          <a:xfrm>
            <a:off x="714375" y="5505450"/>
            <a:ext cx="1066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Сильнее всего помогает число эпизодов за год. Давность и интервалы дополняют историю.</a:t>
            </a:r>
          </a:p>
        </p:txBody>
      </p:sp>
    </p:spTree>
    <p:extLst>
      <p:ext uri="{BB962C8B-B14F-4D97-AF65-F5344CB8AC3E}">
        <p14:creationId xmlns:p14="http://schemas.microsoft.com/office/powerpoint/2010/main" val="1359163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367005" name="Заголовок 5">
            <a:extLst>
              <a:ext uri="{FF2B5EF4-FFF2-40B4-BE49-F238E27FC236}">
                <a16:creationId xmlns:a16="http://schemas.microsoft.com/office/drawing/2014/main" id="{B6DD794F-8CCA-4C7C-BC03-AEC0177D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pPr>
              <a:buNone/>
            </a:pPr>
            <a:r>
              <a:rPr sz="225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Перспективы использования нашего решения</a:t>
            </a:r>
          </a:p>
        </p:txBody>
      </p:sp>
      <p:sp>
        <p:nvSpPr>
          <p:cNvPr id="1753136601" name="Текст 7">
            <a:extLst>
              <a:ext uri="{FF2B5EF4-FFF2-40B4-BE49-F238E27FC236}">
                <a16:creationId xmlns:a16="http://schemas.microsoft.com/office/drawing/2014/main" id="{4FBACB92-928B-431A-81A7-C8C86444E86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087514293" name="Текст 8">
            <a:extLst>
              <a:ext uri="{FF2B5EF4-FFF2-40B4-BE49-F238E27FC236}">
                <a16:creationId xmlns:a16="http://schemas.microsoft.com/office/drawing/2014/main" id="{2C24180C-A087-45A8-9778-6D09D84FAC4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16983166" name="Текст 9">
            <a:extLst>
              <a:ext uri="{FF2B5EF4-FFF2-40B4-BE49-F238E27FC236}">
                <a16:creationId xmlns:a16="http://schemas.microsoft.com/office/drawing/2014/main" id="{03D6A07A-CE9D-44E5-8FA8-307751139F9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401793931" name="Текст 10">
            <a:extLst>
              <a:ext uri="{FF2B5EF4-FFF2-40B4-BE49-F238E27FC236}">
                <a16:creationId xmlns:a16="http://schemas.microsoft.com/office/drawing/2014/main" id="{A49BB38A-BD56-4514-AD4E-4D0AB602133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127304114" name="Текст 11">
            <a:extLst>
              <a:ext uri="{FF2B5EF4-FFF2-40B4-BE49-F238E27FC236}">
                <a16:creationId xmlns:a16="http://schemas.microsoft.com/office/drawing/2014/main" id="{43531E4D-9418-4D22-949D-094987562A5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891037212" name="Прямая соединительная линия 1">
            <a:extLst>
              <a:ext uri="{FF2B5EF4-FFF2-40B4-BE49-F238E27FC236}">
                <a16:creationId xmlns:a16="http://schemas.microsoft.com/office/drawing/2014/main" id="{E9BD9A34-EC18-4D7E-B927-6C34F730EBAB}"/>
              </a:ext>
            </a:extLst>
          </p:cNvPr>
          <p:cNvSpPr>
            <a:spLocks noGrp="1"/>
          </p:cNvSpPr>
          <p:nvPr/>
        </p:nv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092994633" name="Прямая соединительная линия 3">
            <a:extLst>
              <a:ext uri="{FF2B5EF4-FFF2-40B4-BE49-F238E27FC236}">
                <a16:creationId xmlns:a16="http://schemas.microsoft.com/office/drawing/2014/main" id="{F0991784-D7E4-4555-9F90-C5A6613F9120}"/>
              </a:ext>
            </a:extLst>
          </p:cNvPr>
          <p:cNvSpPr>
            <a:spLocks noGrp="1"/>
          </p:cNvSpPr>
          <p:nvPr/>
        </p:nv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304362669" name="Прямая соединительная линия 12">
            <a:extLst>
              <a:ext uri="{FF2B5EF4-FFF2-40B4-BE49-F238E27FC236}">
                <a16:creationId xmlns:a16="http://schemas.microsoft.com/office/drawing/2014/main" id="{B12B9A6B-0BD0-4293-AE59-2C1EF1344144}"/>
              </a:ext>
            </a:extLst>
          </p:cNvPr>
          <p:cNvSpPr>
            <a:spLocks noGrp="1"/>
          </p:cNvSpPr>
          <p:nvPr/>
        </p:nv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392337213" name="Прямая соединительная линия 13">
            <a:extLst>
              <a:ext uri="{FF2B5EF4-FFF2-40B4-BE49-F238E27FC236}">
                <a16:creationId xmlns:a16="http://schemas.microsoft.com/office/drawing/2014/main" id="{CEED48BF-DE57-43CA-983B-713825531E2B}"/>
              </a:ext>
            </a:extLst>
          </p:cNvPr>
          <p:cNvSpPr>
            <a:spLocks noGrp="1"/>
          </p:cNvSpPr>
          <p:nvPr/>
        </p:nv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12702" name="Прямая соединительная линия 14">
            <a:extLst>
              <a:ext uri="{FF2B5EF4-FFF2-40B4-BE49-F238E27FC236}">
                <a16:creationId xmlns:a16="http://schemas.microsoft.com/office/drawing/2014/main" id="{C5E0206B-5365-412A-AD61-EFE5ECA35A85}"/>
              </a:ext>
            </a:extLst>
          </p:cNvPr>
          <p:cNvSpPr>
            <a:spLocks noGrp="1"/>
          </p:cNvSpPr>
          <p:nvPr/>
        </p:nv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092994634" name="Прямоугольник 2092994633">
            <a:extLst>
              <a:ext uri="{FF2B5EF4-FFF2-40B4-BE49-F238E27FC236}">
                <a16:creationId xmlns:a16="http://schemas.microsoft.com/office/drawing/2014/main" id="{26B88F03-518D-4F57-B6BB-92C142EEA8D3}"/>
              </a:ext>
            </a:extLst>
          </p:cNvPr>
          <p:cNvSpPr>
            <a:spLocks noGrp="1"/>
          </p:cNvSpPr>
          <p:nvPr/>
        </p:nvSpPr>
        <p:spPr>
          <a:xfrm>
            <a:off x="552450" y="1704975"/>
            <a:ext cx="32861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Меньше ручной работы</a:t>
            </a:r>
          </a:p>
        </p:txBody>
      </p:sp>
      <p:sp>
        <p:nvSpPr>
          <p:cNvPr id="2092994635" name="Прямоугольник 2092994634">
            <a:extLst>
              <a:ext uri="{FF2B5EF4-FFF2-40B4-BE49-F238E27FC236}">
                <a16:creationId xmlns:a16="http://schemas.microsoft.com/office/drawing/2014/main" id="{E6653381-D600-4DD3-9E3A-3EBD6184C121}"/>
              </a:ext>
            </a:extLst>
          </p:cNvPr>
          <p:cNvSpPr>
            <a:spLocks noGrp="1"/>
          </p:cNvSpPr>
          <p:nvPr/>
        </p:nvSpPr>
        <p:spPr>
          <a:xfrm>
            <a:off x="3905250" y="1704975"/>
            <a:ext cx="7715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Прогноз подготовит черновик заявки с объектом, датчиком и сроком; диспетчер подтвердит её.</a:t>
            </a:r>
          </a:p>
        </p:txBody>
      </p:sp>
      <p:sp>
        <p:nvSpPr>
          <p:cNvPr id="2092994636" name="Прямоугольник 2092994635">
            <a:extLst>
              <a:ext uri="{FF2B5EF4-FFF2-40B4-BE49-F238E27FC236}">
                <a16:creationId xmlns:a16="http://schemas.microsoft.com/office/drawing/2014/main" id="{710D0372-EE88-4EAE-8B8A-376C10A0E448}"/>
              </a:ext>
            </a:extLst>
          </p:cNvPr>
          <p:cNvSpPr>
            <a:spLocks noGrp="1"/>
          </p:cNvSpPr>
          <p:nvPr/>
        </p:nvSpPr>
        <p:spPr>
          <a:xfrm>
            <a:off x="552450" y="2562225"/>
            <a:ext cx="32861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Работы до тревоги</a:t>
            </a:r>
          </a:p>
        </p:txBody>
      </p:sp>
      <p:sp>
        <p:nvSpPr>
          <p:cNvPr id="2092994637" name="Прямоугольник 2092994636">
            <a:extLst>
              <a:ext uri="{FF2B5EF4-FFF2-40B4-BE49-F238E27FC236}">
                <a16:creationId xmlns:a16="http://schemas.microsoft.com/office/drawing/2014/main" id="{31B374DE-144A-4BCF-AE0B-6FE20270012B}"/>
              </a:ext>
            </a:extLst>
          </p:cNvPr>
          <p:cNvSpPr>
            <a:spLocks noGrp="1"/>
          </p:cNvSpPr>
          <p:nvPr/>
        </p:nvSpPr>
        <p:spPr>
          <a:xfrm>
            <a:off x="3905250" y="2562225"/>
            <a:ext cx="7715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Связь с ОДС и ТО/ППР поможет назначить осмотр до повторного аварийного сигнала.</a:t>
            </a:r>
          </a:p>
        </p:txBody>
      </p:sp>
      <p:sp>
        <p:nvSpPr>
          <p:cNvPr id="2092994638" name="Прямоугольник 2092994637">
            <a:extLst>
              <a:ext uri="{FF2B5EF4-FFF2-40B4-BE49-F238E27FC236}">
                <a16:creationId xmlns:a16="http://schemas.microsoft.com/office/drawing/2014/main" id="{F8A1B04A-D4E5-4D90-AB35-2EE29CE4CEF7}"/>
              </a:ext>
            </a:extLst>
          </p:cNvPr>
          <p:cNvSpPr>
            <a:spLocks noGrp="1"/>
          </p:cNvSpPr>
          <p:nvPr/>
        </p:nvSpPr>
        <p:spPr>
          <a:xfrm>
            <a:off x="552450" y="3419475"/>
            <a:ext cx="32861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Контроль по районам</a:t>
            </a:r>
          </a:p>
        </p:txBody>
      </p:sp>
      <p:sp>
        <p:nvSpPr>
          <p:cNvPr id="2092994639" name="Прямоугольник 2092994638">
            <a:extLst>
              <a:ext uri="{FF2B5EF4-FFF2-40B4-BE49-F238E27FC236}">
                <a16:creationId xmlns:a16="http://schemas.microsoft.com/office/drawing/2014/main" id="{0DB0700D-C658-4053-8688-899FDF7A7942}"/>
              </a:ext>
            </a:extLst>
          </p:cNvPr>
          <p:cNvSpPr>
            <a:spLocks noGrp="1"/>
          </p:cNvSpPr>
          <p:nvPr/>
        </p:nvSpPr>
        <p:spPr>
          <a:xfrm>
            <a:off x="3905250" y="3419475"/>
            <a:ext cx="7715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Карта покажет приоритетные объекты и статус выездов; руководитель увидит просрочки.</a:t>
            </a:r>
          </a:p>
        </p:txBody>
      </p:sp>
      <p:sp>
        <p:nvSpPr>
          <p:cNvPr id="2092994640" name="Прямоугольник 2092994639">
            <a:extLst>
              <a:ext uri="{FF2B5EF4-FFF2-40B4-BE49-F238E27FC236}">
                <a16:creationId xmlns:a16="http://schemas.microsoft.com/office/drawing/2014/main" id="{33E7ADA5-E3F2-40BF-AE6E-A4A64FFF260A}"/>
              </a:ext>
            </a:extLst>
          </p:cNvPr>
          <p:cNvSpPr>
            <a:spLocks noGrp="1"/>
          </p:cNvSpPr>
          <p:nvPr/>
        </p:nvSpPr>
        <p:spPr>
          <a:xfrm>
            <a:off x="552450" y="4276725"/>
            <a:ext cx="32861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Точнее прогноз</a:t>
            </a:r>
          </a:p>
        </p:txBody>
      </p:sp>
      <p:sp>
        <p:nvSpPr>
          <p:cNvPr id="2092994641" name="Прямоугольник 2092994640">
            <a:extLst>
              <a:ext uri="{FF2B5EF4-FFF2-40B4-BE49-F238E27FC236}">
                <a16:creationId xmlns:a16="http://schemas.microsoft.com/office/drawing/2014/main" id="{197EA0FB-23C8-475C-AEC5-8F57CFF44DE3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715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Акты осмотров и ремонтов дадут метки реальных отказов и помогут сократить лишние выезды.</a:t>
            </a:r>
          </a:p>
        </p:txBody>
      </p:sp>
      <p:sp>
        <p:nvSpPr>
          <p:cNvPr id="2092994642" name="Прямоугольник 2092994641">
            <a:extLst>
              <a:ext uri="{FF2B5EF4-FFF2-40B4-BE49-F238E27FC236}">
                <a16:creationId xmlns:a16="http://schemas.microsoft.com/office/drawing/2014/main" id="{FD73D65B-AFC4-444C-B995-DCE61A42895A}"/>
              </a:ext>
            </a:extLst>
          </p:cNvPr>
          <p:cNvSpPr>
            <a:spLocks noGrp="1"/>
          </p:cNvSpPr>
          <p:nvPr/>
        </p:nvSpPr>
        <p:spPr>
          <a:xfrm>
            <a:off x="552450" y="5133975"/>
            <a:ext cx="32861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Новые виды риска</a:t>
            </a:r>
          </a:p>
        </p:txBody>
      </p:sp>
      <p:sp>
        <p:nvSpPr>
          <p:cNvPr id="2092994643" name="Прямоугольник 2092994642">
            <a:extLst>
              <a:ext uri="{FF2B5EF4-FFF2-40B4-BE49-F238E27FC236}">
                <a16:creationId xmlns:a16="http://schemas.microsoft.com/office/drawing/2014/main" id="{3F586ACB-2D77-4783-801F-40EEC6F718C5}"/>
              </a:ext>
            </a:extLst>
          </p:cNvPr>
          <p:cNvSpPr>
            <a:spLocks noGrp="1"/>
          </p:cNvSpPr>
          <p:nvPr/>
        </p:nvSpPr>
        <p:spPr>
          <a:xfrm>
            <a:off x="3905250" y="5133975"/>
            <a:ext cx="7715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После накопления разметки можно добавить пожар, доступ и другие виды рисков</a:t>
            </a:r>
          </a:p>
        </p:txBody>
      </p:sp>
    </p:spTree>
    <p:extLst>
      <p:ext uri="{BB962C8B-B14F-4D97-AF65-F5344CB8AC3E}">
        <p14:creationId xmlns:p14="http://schemas.microsoft.com/office/powerpoint/2010/main" val="126177400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 2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Пользовательские 2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Пользовательские 2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Пользовательские 2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1916</Words>
  <Application>Microsoft Macintosh PowerPoint</Application>
  <DocSecurity>0</DocSecurity>
  <PresentationFormat>Широкоэкранный</PresentationFormat>
  <Paragraphs>279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Calibri</vt:lpstr>
      <vt:lpstr>Calibri Light</vt:lpstr>
      <vt:lpstr>Menlo</vt:lpstr>
      <vt:lpstr>Montserrat</vt:lpstr>
      <vt:lpstr>Пользовательские 2</vt:lpstr>
      <vt:lpstr>Презентация PowerPoint</vt:lpstr>
      <vt:lpstr>Команда «Клод Кот»</vt:lpstr>
      <vt:lpstr>Состав команды</vt:lpstr>
      <vt:lpstr>О команде</vt:lpstr>
      <vt:lpstr>КОРОТКО О РЕШЕНИИ</vt:lpstr>
      <vt:lpstr>ПОЧЕМУ НАСОСЫ И ВЕНТИЛЯЦИЯ</vt:lpstr>
      <vt:lpstr>ПОЧЕМУ НАСОСЫ И ВЕНТИЛЯЦИЯ</vt:lpstr>
      <vt:lpstr>Состав MVP решения</vt:lpstr>
      <vt:lpstr>Workflow: ОТ СИГНАЛА ДО ПРОВЕРКИ</vt:lpstr>
      <vt:lpstr>Архитектура решения</vt:lpstr>
      <vt:lpstr>ВХОД И ДОСТУП</vt:lpstr>
      <vt:lpstr>РОЛИ И ОБЪЕКТЫ</vt:lpstr>
      <vt:lpstr>АДМИНИСТРИРОВАНИЕ</vt:lpstr>
      <vt:lpstr>ДАШБОРД</vt:lpstr>
      <vt:lpstr>КАРТА ОБЪЕКТОВ</vt:lpstr>
      <vt:lpstr>ОБЪЕКТЫ</vt:lpstr>
      <vt:lpstr>ПРОГНОЗЫ</vt:lpstr>
      <vt:lpstr>ТЕСТ И REST API</vt:lpstr>
      <vt:lpstr>КАК РАБОТАЕТ ПРОГНОЗ</vt:lpstr>
      <vt:lpstr>НАЗНАЧЕНИЯ</vt:lpstr>
      <vt:lpstr>ПОДРАЗДЕЛЕНИЯ</vt:lpstr>
      <vt:lpstr>КАК РАБОТАЕТ ПРОГНОЗ</vt:lpstr>
      <vt:lpstr>Признаки модели</vt:lpstr>
      <vt:lpstr>Признаки модели</vt:lpstr>
      <vt:lpstr>ПОЧЕМУ 30 ДНЕЙ</vt:lpstr>
      <vt:lpstr>ПОЧЕМУ ПОРОГ 0,70</vt:lpstr>
      <vt:lpstr>СХОДИМОСТЬ МОДЕЛЕЙ</vt:lpstr>
      <vt:lpstr>ROC / AUC НА БУДУЩИХ ДАТАХ</vt:lpstr>
      <vt:lpstr>PRECISION И RECALL</vt:lpstr>
      <vt:lpstr>ЧТО ВЛИЯЕТ НА РИСК</vt:lpstr>
      <vt:lpstr>Перспективы использования нашего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Роман Козлов</cp:lastModifiedBy>
  <cp:revision>2</cp:revision>
  <dcterms:created xsi:type="dcterms:W3CDTF">2026-09-25T15:47:30Z</dcterms:created>
  <dcterms:modified xsi:type="dcterms:W3CDTF">2026-09-25T15:58:15Z</dcterms:modified>
</cp:coreProperties>
</file>